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module spans spring break (March 15-21). Nothing is due over the break; the module closes March 28.</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Metadata is part of the collection. That's what students will compare the AI's descriptions against.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excavating.ai/" TargetMode="External"/><Relationship Id="rId3" Type="http://schemas.openxmlformats.org/officeDocument/2006/relationships/hyperlink" Target="https://collectionsasdata.github.io/statement/" TargetMode="External"/><Relationship Id="rId4"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collectionsasdata.github.io/statement/" TargetMode="External"/><Relationship Id="rId3"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collectionsasdata.github.io/statement/"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excavating.ai/"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excavating.ai/"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hyperlink" Target="https://medium.com/@thenextcorner/you-are-helping-google-ai-image-recognition-b24d89372b7e"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hyperlink" Target="https://www.mturk.com/"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excavating.ai/"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excavating.ai/"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hyperlink" Target="https://refikanadol.com/works/archive-dreamin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hyperlink" Target="https://www.artforum.com/events/nora-al-badri-250093/"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hyperlink" Target="https://www.mprnews.org/story/2026/08/19/walker-art-center-clarifies-ai-use-in-olalekan-jeyifous-exhibition"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hyperlink" Target="https://stanfordreview.org/stanford-r-de-uses-ai-to-race-swap-students-for-advertisin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excavating.ai/"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collectionsasdata.github.io/statement/"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www.loc.gov/free-to-use/" TargetMode="External"/><Relationship Id="rId3" Type="http://schemas.openxmlformats.org/officeDocument/2006/relationships/hyperlink" Target="https://www.si.edu/openaccess" TargetMode="External"/><Relationship Id="rId4" Type="http://schemas.openxmlformats.org/officeDocument/2006/relationships/hyperlink" Target="https://archive.org/details/image"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collectionsasdata.github.io/statement/"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Module Five: Archives and Collections</a:t>
            </a:r>
          </a:p>
        </p:txBody>
      </p:sp>
      <p:grpSp>
        <p:nvGrpSpPr>
          <p:cNvPr id="3" name="Window ENG3861.EXE">
            <a:extLst>
              <a:ext uri="{C183D7F6-B498-43B3-948B-1728B52AA6E4}">
                <adec:decorative xmlns:adec="http://schemas.microsoft.com/office/drawing/2017/decorative" val="1"/>
              </a:ext>
            </a:extLst>
          </p:cNvPr>
          <p:cNvGrpSpPr/>
          <p:nvPr/>
        </p:nvGrpSpPr>
        <p:grpSpPr>
          <a:xfrm>
            <a:off x="914400" y="914400"/>
            <a:ext cx="10472623" cy="5138928"/>
            <a:chOff x="914400" y="914400"/>
            <a:chExt cx="10472623" cy="5138928"/>
          </a:xfrm>
        </p:grpSpPr>
        <p:sp>
          <p:nvSpPr>
            <p:cNvPr id="4" name="Rectangle 3"/>
            <p:cNvSpPr/>
            <p:nvPr/>
          </p:nvSpPr>
          <p:spPr>
            <a:xfrm>
              <a:off x="1024128" y="1024128"/>
              <a:ext cx="10362895" cy="502920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14400" y="914400"/>
              <a:ext cx="10362895" cy="502920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914400"/>
              <a:ext cx="10362895" cy="502920"/>
            </a:xfrm>
            <a:prstGeom prst="rect">
              <a:avLst/>
            </a:prstGeom>
            <a:solidFill>
              <a:srgbClr val="FF3D7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43000" y="106070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444752" y="106070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746504" y="106070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48840" y="914400"/>
              <a:ext cx="8991295" cy="502920"/>
            </a:xfrm>
            <a:prstGeom prst="rect">
              <a:avLst/>
            </a:prstGeom>
            <a:noFill/>
          </p:spPr>
          <p:txBody>
            <a:bodyPr wrap="none" anchor="ctr">
              <a:spAutoFit/>
            </a:bodyPr>
            <a:lstStyle/>
            <a:p>
              <a:r>
                <a:rPr sz="1600" b="1" i="0">
                  <a:solidFill>
                    <a:srgbClr val="FFFFFF"/>
                  </a:solidFill>
                  <a:latin typeface="Courier New"/>
                </a:rPr>
                <a:t>ENG3861.EXE</a:t>
              </a:r>
            </a:p>
          </p:txBody>
        </p:sp>
      </p:grpSp>
      <p:grpSp>
        <p:nvGrpSpPr>
          <p:cNvPr id="11" name="Unit IMAGES"/>
          <p:cNvGrpSpPr/>
          <p:nvPr/>
        </p:nvGrpSpPr>
        <p:grpSpPr>
          <a:xfrm>
            <a:off x="1371600" y="2560574"/>
            <a:ext cx="1604700" cy="512064"/>
            <a:chOff x="1371600" y="2560574"/>
            <a:chExt cx="1604700" cy="512064"/>
          </a:xfrm>
        </p:grpSpPr>
        <p:sp>
          <p:nvSpPr>
            <p:cNvPr id="12" name="Rounded Rectangle 11"/>
            <p:cNvSpPr/>
            <p:nvPr/>
          </p:nvSpPr>
          <p:spPr>
            <a:xfrm>
              <a:off x="1426464" y="2615438"/>
              <a:ext cx="1549836" cy="457200"/>
            </a:xfrm>
            <a:prstGeom prst="roundRect">
              <a:avLst>
                <a:gd name="adj" fmla="val 50000"/>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371600" y="2560574"/>
              <a:ext cx="1549836" cy="457200"/>
            </a:xfrm>
            <a:prstGeom prst="roundRect">
              <a:avLst>
                <a:gd name="adj" fmla="val 50000"/>
              </a:avLst>
            </a:prstGeom>
            <a:solidFill>
              <a:srgbClr val="FF3D7F"/>
            </a:solidFill>
            <a:ln w="3175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800" b="0" i="0">
                  <a:solidFill>
                    <a:srgbClr val="FFFFFF"/>
                  </a:solidFill>
                  <a:latin typeface="Arial Black"/>
                </a:rPr>
                <a:t>IMAGES</a:t>
              </a:r>
            </a:p>
          </p:txBody>
        </p:sp>
      </p:grpSp>
      <p:sp>
        <p:nvSpPr>
          <p:cNvPr id="14" name="TextBox 13"/>
          <p:cNvSpPr txBox="1"/>
          <p:nvPr/>
        </p:nvSpPr>
        <p:spPr>
          <a:xfrm>
            <a:off x="1280160" y="3200654"/>
            <a:ext cx="9631375" cy="2514346"/>
          </a:xfrm>
          <a:prstGeom prst="rect">
            <a:avLst/>
          </a:prstGeom>
          <a:noFill/>
        </p:spPr>
        <p:txBody>
          <a:bodyPr wrap="square" anchor="t">
            <a:normAutofit/>
          </a:bodyPr>
          <a:lstStyle/>
          <a:p>
            <a:r>
              <a:rPr sz="2400" b="0" i="0">
                <a:solidFill>
                  <a:srgbClr val="4A3F66"/>
                </a:solidFill>
                <a:latin typeface="Courier New"/>
              </a:rPr>
              <a:t>Module Five</a:t>
            </a:r>
          </a:p>
          <a:p>
            <a:r>
              <a:rPr sz="4800" b="0" i="0">
                <a:solidFill>
                  <a:srgbClr val="1B1035"/>
                </a:solidFill>
                <a:latin typeface="Arial Black"/>
              </a:rPr>
              <a:t>Archives and Collections</a:t>
            </a:r>
          </a:p>
          <a:p>
            <a:r>
              <a:rPr sz="2000" b="0" i="0">
                <a:solidFill>
                  <a:srgbClr val="4A3F66"/>
                </a:solidFill>
                <a:latin typeface="Courier New"/>
              </a:rPr>
              <a:t>&gt; ENG 3861 // MAR 8 – MAR 28, 2027_</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Readings</a:t>
            </a:r>
          </a:p>
        </p:txBody>
      </p:sp>
      <p:sp>
        <p:nvSpPr>
          <p:cNvPr id="3" name="TextBox 2"/>
          <p:cNvSpPr txBox="1"/>
          <p:nvPr/>
        </p:nvSpPr>
        <p:spPr>
          <a:xfrm>
            <a:off x="731520" y="457200"/>
            <a:ext cx="10728655" cy="914400"/>
          </a:xfrm>
          <a:prstGeom prst="rect">
            <a:avLst/>
          </a:prstGeom>
          <a:noFill/>
        </p:spPr>
        <p:txBody>
          <a:bodyPr wrap="square" anchor="t">
            <a:normAutofit/>
          </a:bodyPr>
          <a:lstStyle/>
          <a:p>
            <a:r>
              <a:rPr sz="3600" b="0" i="0">
                <a:solidFill>
                  <a:srgbClr val="FF3D7F"/>
                </a:solidFill>
                <a:latin typeface="Arial Black"/>
              </a:rPr>
              <a:t>Readings</a:t>
            </a:r>
          </a:p>
        </p:txBody>
      </p:sp>
      <p:sp>
        <p:nvSpPr>
          <p:cNvPr id="4" name="TextBox 3"/>
          <p:cNvSpPr txBox="1"/>
          <p:nvPr/>
        </p:nvSpPr>
        <p:spPr>
          <a:xfrm>
            <a:off x="731520" y="1554480"/>
            <a:ext cx="10728655" cy="4754880"/>
          </a:xfrm>
          <a:prstGeom prst="rect">
            <a:avLst/>
          </a:prstGeom>
          <a:noFill/>
        </p:spPr>
        <p:txBody>
          <a:bodyPr wrap="square" anchor="t">
            <a:normAutofit/>
          </a:bodyPr>
          <a:lstStyle/>
          <a:p>
            <a:pPr marL="411480" indent="-320040">
              <a:spcAft>
                <a:spcPts val="1200"/>
              </a:spcAft>
              <a:buChar char="■"/>
            </a:pPr>
            <a:r>
              <a:rPr sz="2200" b="0" i="0">
                <a:solidFill>
                  <a:srgbClr val="1B1035"/>
                </a:solidFill>
                <a:latin typeface="Verdana"/>
              </a:rPr>
              <a:t>Kate Crawford and Trevor Paglen, </a:t>
            </a:r>
            <a:r>
              <a:rPr sz="2200" b="0" i="0">
                <a:solidFill>
                  <a:srgbClr val="1B1035"/>
                </a:solidFill>
                <a:latin typeface="Verdana"/>
                <a:hlinkClick r:id="rId2"/>
              </a:rPr>
              <a:t>“Excavating AI”</a:t>
            </a:r>
            <a:r>
              <a:rPr sz="2200" b="0" i="0">
                <a:solidFill>
                  <a:srgbClr val="1B1035"/>
                </a:solidFill>
                <a:latin typeface="Verdana"/>
              </a:rPr>
              <a:t> (2019)</a:t>
            </a:r>
            <a:r>
              <a:rPr sz="1800" b="0" i="0">
                <a:solidFill>
                  <a:srgbClr val="4A3F66"/>
                </a:solidFill>
                <a:latin typeface="Verdana"/>
              </a:rPr>
              <a:t> — the labels inside an image-training dataset</a:t>
            </a:r>
          </a:p>
          <a:p>
            <a:pPr marL="411480" indent="-320040">
              <a:spcAft>
                <a:spcPts val="1200"/>
              </a:spcAft>
              <a:buChar char="■"/>
            </a:pPr>
            <a:r>
              <a:rPr sz="2200" b="0" i="0">
                <a:solidFill>
                  <a:srgbClr val="1B1035"/>
                </a:solidFill>
                <a:latin typeface="Verdana"/>
                <a:hlinkClick r:id="rId3"/>
              </a:rPr>
              <a:t>“The Santa Barbara Statement on Collections as Data”</a:t>
            </a:r>
            <a:r>
              <a:rPr sz="2200" b="0" i="0">
                <a:solidFill>
                  <a:srgbClr val="1B1035"/>
                </a:solidFill>
                <a:latin typeface="Verdana"/>
              </a:rPr>
              <a:t> (2017-2018)</a:t>
            </a:r>
            <a:r>
              <a:rPr sz="1800" b="0" i="0">
                <a:solidFill>
                  <a:srgbClr val="4A3F66"/>
                </a:solidFill>
                <a:latin typeface="Verdana"/>
              </a:rPr>
              <a:t> — librarians and archivists on opening collections responsibly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3D7F"/>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Collections become data</a:t>
            </a:r>
          </a:p>
        </p:txBody>
      </p:sp>
      <p:sp>
        <p:nvSpPr>
          <p:cNvPr id="3" name="TextBox 2"/>
          <p:cNvSpPr txBox="1"/>
          <p:nvPr/>
        </p:nvSpPr>
        <p:spPr>
          <a:xfrm>
            <a:off x="274320" y="1417320"/>
            <a:ext cx="11643055" cy="4023360"/>
          </a:xfrm>
          <a:prstGeom prst="rect">
            <a:avLst/>
          </a:prstGeom>
          <a:noFill/>
        </p:spPr>
        <p:txBody>
          <a:bodyPr wrap="square" anchor="ctr">
            <a:normAutofit/>
          </a:bodyPr>
          <a:lstStyle/>
          <a:p>
            <a:pPr algn="ctr"/>
            <a:r>
              <a:rPr sz="5400" b="0" i="0">
                <a:solidFill>
                  <a:srgbClr val="FFFFFF"/>
                </a:solidFill>
                <a:latin typeface="Arial Black"/>
              </a:rPr>
              <a:t>Collections become data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Building a digital collection, one page at a time</a:t>
            </a:r>
          </a:p>
        </p:txBody>
      </p:sp>
      <p:grpSp>
        <p:nvGrpSpPr>
          <p:cNvPr id="3" name="Window image.png">
            <a:extLst>
              <a:ext uri="{C183D7F6-B498-43B3-948B-1728B52AA6E4}">
                <adec:decorative xmlns:adec="http://schemas.microsoft.com/office/drawing/2017/decorative" val="1"/>
              </a:ext>
            </a:extLst>
          </p:cNvPr>
          <p:cNvGrpSpPr/>
          <p:nvPr/>
        </p:nvGrpSpPr>
        <p:grpSpPr>
          <a:xfrm>
            <a:off x="822960" y="365760"/>
            <a:ext cx="10655503" cy="5504688"/>
            <a:chOff x="822960" y="365760"/>
            <a:chExt cx="10655503" cy="5504688"/>
          </a:xfrm>
        </p:grpSpPr>
        <p:sp>
          <p:nvSpPr>
            <p:cNvPr id="4" name="Rectangle 3"/>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365760"/>
              <a:ext cx="10545775" cy="502920"/>
            </a:xfrm>
            <a:prstGeom prst="rect">
              <a:avLst/>
            </a:prstGeom>
            <a:solidFill>
              <a:srgbClr val="B9C8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1" name="Picture 10" descr="Internet Archive post reading 'At the Internet Archive, this is how we digitize a book. We never destroy a book by cutting off its binding. Instead, we digitize it the hard way--one page at a time,' with a video still of a woman turning pages on a book scanner."/>
          <p:cNvPicPr>
            <a:picLocks noChangeAspect="1"/>
          </p:cNvPicPr>
          <p:nvPr/>
        </p:nvPicPr>
        <p:blipFill>
          <a:blip r:embed="rId2"/>
          <a:stretch>
            <a:fillRect/>
          </a:stretch>
        </p:blipFill>
        <p:spPr>
          <a:xfrm>
            <a:off x="3867191" y="1097280"/>
            <a:ext cx="4457313" cy="4434840"/>
          </a:xfrm>
          <a:prstGeom prst="rect">
            <a:avLst/>
          </a:prstGeom>
        </p:spPr>
      </p:pic>
      <p:sp>
        <p:nvSpPr>
          <p:cNvPr id="12" name="TextBox 11"/>
          <p:cNvSpPr txBox="1"/>
          <p:nvPr/>
        </p:nvSpPr>
        <p:spPr>
          <a:xfrm>
            <a:off x="822960" y="5943600"/>
            <a:ext cx="10545775" cy="731520"/>
          </a:xfrm>
          <a:prstGeom prst="rect">
            <a:avLst/>
          </a:prstGeom>
          <a:noFill/>
        </p:spPr>
        <p:txBody>
          <a:bodyPr wrap="square" anchor="t">
            <a:normAutofit/>
          </a:bodyPr>
          <a:lstStyle/>
          <a:p>
            <a:pPr algn="ctr"/>
            <a:r>
              <a:rPr sz="1800" b="0" i="0">
                <a:solidFill>
                  <a:srgbClr val="1B1035"/>
                </a:solidFill>
                <a:latin typeface="Verdana"/>
              </a:rPr>
              <a:t>Building a digital collection, one page at a time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Quote: The Santa Barbara Statement on Collections as Data</a:t>
            </a:r>
          </a:p>
        </p:txBody>
      </p:sp>
      <p:grpSp>
        <p:nvGrpSpPr>
          <p:cNvPr id="3" name="Window quote.txt">
            <a:extLst>
              <a:ext uri="{C183D7F6-B498-43B3-948B-1728B52AA6E4}">
                <adec:decorative xmlns:adec="http://schemas.microsoft.com/office/drawing/2017/decorative" val="1"/>
              </a:ext>
            </a:extLst>
          </p:cNvPr>
          <p:cNvGrpSpPr/>
          <p:nvPr/>
        </p:nvGrpSpPr>
        <p:grpSpPr>
          <a:xfrm>
            <a:off x="822960" y="640080"/>
            <a:ext cx="10655503" cy="5687568"/>
            <a:chOff x="822960" y="640080"/>
            <a:chExt cx="10655503" cy="5687568"/>
          </a:xfrm>
        </p:grpSpPr>
        <p:sp>
          <p:nvSpPr>
            <p:cNvPr id="4" name="Rectangle 3"/>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640080"/>
              <a:ext cx="10545775" cy="502920"/>
            </a:xfrm>
            <a:prstGeom prst="rect">
              <a:avLst/>
            </a:prstGeom>
            <a:solidFill>
              <a:srgbClr val="FFD23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1" name="TextBox 10"/>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“Data as well as the data that describe those data are considered in scope. For example, images and the metadata, finding aids, and/or catalogs that describe them are equally in scope.”</a:t>
            </a:r>
          </a:p>
        </p:txBody>
      </p:sp>
      <p:sp>
        <p:nvSpPr>
          <p:cNvPr id="12" name="TextBox 11"/>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The Santa Barbara Statement on Collections as Data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Quote: The Santa Barbara Statement on Collections as Data</a:t>
            </a:r>
          </a:p>
        </p:txBody>
      </p:sp>
      <p:grpSp>
        <p:nvGrpSpPr>
          <p:cNvPr id="3" name="Window quote.txt">
            <a:extLst>
              <a:ext uri="{C183D7F6-B498-43B3-948B-1728B52AA6E4}">
                <adec:decorative xmlns:adec="http://schemas.microsoft.com/office/drawing/2017/decorative" val="1"/>
              </a:ext>
            </a:extLst>
          </p:cNvPr>
          <p:cNvGrpSpPr/>
          <p:nvPr/>
        </p:nvGrpSpPr>
        <p:grpSpPr>
          <a:xfrm>
            <a:off x="822960" y="640080"/>
            <a:ext cx="10655503" cy="5687568"/>
            <a:chOff x="822960" y="640080"/>
            <a:chExt cx="10655503" cy="5687568"/>
          </a:xfrm>
        </p:grpSpPr>
        <p:sp>
          <p:nvSpPr>
            <p:cNvPr id="4" name="Rectangle 3"/>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640080"/>
              <a:ext cx="10545775" cy="502920"/>
            </a:xfrm>
            <a:prstGeom prst="rect">
              <a:avLst/>
            </a:prstGeom>
            <a:solidFill>
              <a:srgbClr val="8FE9D3"/>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1" name="TextBox 10"/>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“Collections as data designed for everyone serve no one. Specific needs inform collections as data development.”</a:t>
            </a:r>
          </a:p>
        </p:txBody>
      </p:sp>
      <p:sp>
        <p:nvSpPr>
          <p:cNvPr id="12" name="TextBox 11"/>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The Santa Barbara Statement on Collections as Data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3D7F"/>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Images do not describe themselves</a:t>
            </a:r>
          </a:p>
        </p:txBody>
      </p:sp>
      <p:sp>
        <p:nvSpPr>
          <p:cNvPr id="3" name="TextBox 2"/>
          <p:cNvSpPr txBox="1"/>
          <p:nvPr/>
        </p:nvSpPr>
        <p:spPr>
          <a:xfrm>
            <a:off x="274320" y="1417320"/>
            <a:ext cx="11643055" cy="4023360"/>
          </a:xfrm>
          <a:prstGeom prst="rect">
            <a:avLst/>
          </a:prstGeom>
          <a:noFill/>
        </p:spPr>
        <p:txBody>
          <a:bodyPr wrap="square" anchor="ctr">
            <a:normAutofit/>
          </a:bodyPr>
          <a:lstStyle/>
          <a:p>
            <a:pPr algn="ctr"/>
            <a:r>
              <a:rPr sz="4400" b="0" i="0">
                <a:solidFill>
                  <a:srgbClr val="FFFFFF"/>
                </a:solidFill>
                <a:latin typeface="Arial Black"/>
              </a:rPr>
              <a:t>Images do not describe themselves</a:t>
            </a:r>
          </a:p>
          <a:p>
            <a:pPr algn="ctr">
              <a:spcBef>
                <a:spcPts val="1000"/>
              </a:spcBef>
            </a:pPr>
            <a:r>
              <a:rPr sz="2800" b="0" i="0">
                <a:solidFill>
                  <a:srgbClr val="FFFFFF"/>
                </a:solidFill>
                <a:latin typeface="Courier New"/>
              </a:rPr>
              <a:t>Crawford and Paglen dig into ImageNet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Quote: Kate Crawford and Trevor Paglen, 2019</a:t>
            </a:r>
          </a:p>
        </p:txBody>
      </p:sp>
      <p:grpSp>
        <p:nvGrpSpPr>
          <p:cNvPr id="3" name="Window quote.txt">
            <a:extLst>
              <a:ext uri="{C183D7F6-B498-43B3-948B-1728B52AA6E4}">
                <adec:decorative xmlns:adec="http://schemas.microsoft.com/office/drawing/2017/decorative" val="1"/>
              </a:ext>
            </a:extLst>
          </p:cNvPr>
          <p:cNvGrpSpPr/>
          <p:nvPr/>
        </p:nvGrpSpPr>
        <p:grpSpPr>
          <a:xfrm>
            <a:off x="822960" y="640080"/>
            <a:ext cx="10655503" cy="5687568"/>
            <a:chOff x="822960" y="640080"/>
            <a:chExt cx="10655503" cy="5687568"/>
          </a:xfrm>
        </p:grpSpPr>
        <p:sp>
          <p:nvSpPr>
            <p:cNvPr id="4" name="Rectangle 3"/>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640080"/>
              <a:ext cx="10545775" cy="502920"/>
            </a:xfrm>
            <a:prstGeom prst="rect">
              <a:avLst/>
            </a:prstGeom>
            <a:solidFill>
              <a:srgbClr val="B9C8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1" name="TextBox 10"/>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“Images do not describe themselves. This is a feature that artists have explored for centuries. Agnes Martin creates a grid-like painting and dubs it “White Flower,” Magritte paints a picture of an apple with the words “This is not an apple.” We see those images differently when we see how they’re labeled.”</a:t>
            </a:r>
          </a:p>
        </p:txBody>
      </p:sp>
      <p:sp>
        <p:nvSpPr>
          <p:cNvPr id="12" name="TextBox 11"/>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Kate Crawford and Trevor Paglen, 2019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Quote: Kate Crawford and Trevor Paglen, 2019</a:t>
            </a:r>
          </a:p>
        </p:txBody>
      </p:sp>
      <p:grpSp>
        <p:nvGrpSpPr>
          <p:cNvPr id="3" name="Window quote.txt">
            <a:extLst>
              <a:ext uri="{C183D7F6-B498-43B3-948B-1728B52AA6E4}">
                <adec:decorative xmlns:adec="http://schemas.microsoft.com/office/drawing/2017/decorative" val="1"/>
              </a:ext>
            </a:extLst>
          </p:cNvPr>
          <p:cNvGrpSpPr/>
          <p:nvPr/>
        </p:nvGrpSpPr>
        <p:grpSpPr>
          <a:xfrm>
            <a:off x="822960" y="640080"/>
            <a:ext cx="10655503" cy="5687568"/>
            <a:chOff x="822960" y="640080"/>
            <a:chExt cx="10655503" cy="5687568"/>
          </a:xfrm>
        </p:grpSpPr>
        <p:sp>
          <p:nvSpPr>
            <p:cNvPr id="4" name="Rectangle 3"/>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640080"/>
              <a:ext cx="10545775" cy="502920"/>
            </a:xfrm>
            <a:prstGeom prst="rect">
              <a:avLst/>
            </a:prstGeom>
            <a:solidFill>
              <a:srgbClr val="FFD23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1" name="TextBox 10"/>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“There’s a kind of sorcery that goes into the creation of categories. To create a category or to name things is to divide an almost infinitely complex universe into separate phenomena.”</a:t>
            </a:r>
          </a:p>
        </p:txBody>
      </p:sp>
      <p:sp>
        <p:nvSpPr>
          <p:cNvPr id="12" name="TextBox 11"/>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Kate Crawford and Trevor Paglen, 2019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Every captcha is a labeling job: you classify images for AI training</a:t>
            </a:r>
          </a:p>
        </p:txBody>
      </p:sp>
      <p:grpSp>
        <p:nvGrpSpPr>
          <p:cNvPr id="3" name="Window image.png">
            <a:extLst>
              <a:ext uri="{C183D7F6-B498-43B3-948B-1728B52AA6E4}">
                <adec:decorative xmlns:adec="http://schemas.microsoft.com/office/drawing/2017/decorative" val="1"/>
              </a:ext>
            </a:extLst>
          </p:cNvPr>
          <p:cNvGrpSpPr/>
          <p:nvPr/>
        </p:nvGrpSpPr>
        <p:grpSpPr>
          <a:xfrm>
            <a:off x="822960" y="365760"/>
            <a:ext cx="10655503" cy="5504688"/>
            <a:chOff x="822960" y="365760"/>
            <a:chExt cx="10655503" cy="5504688"/>
          </a:xfrm>
        </p:grpSpPr>
        <p:sp>
          <p:nvSpPr>
            <p:cNvPr id="4" name="Rectangle 3"/>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365760"/>
              <a:ext cx="10545775" cy="502920"/>
            </a:xfrm>
            <a:prstGeom prst="rect">
              <a:avLst/>
            </a:prstGeom>
            <a:solidFill>
              <a:srgbClr val="8FE9D3"/>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1" name="Picture 10" descr="Medium post 'You Are Helping Google AI Image Recognition' showing a reCAPTCHA grid with the instruction 'Select all images with statues' and several tiles checked."/>
          <p:cNvPicPr>
            <a:picLocks noChangeAspect="1"/>
          </p:cNvPicPr>
          <p:nvPr/>
        </p:nvPicPr>
        <p:blipFill>
          <a:blip r:embed="rId2"/>
          <a:stretch>
            <a:fillRect/>
          </a:stretch>
        </p:blipFill>
        <p:spPr>
          <a:xfrm>
            <a:off x="4469854" y="1097280"/>
            <a:ext cx="3251986" cy="4434840"/>
          </a:xfrm>
          <a:prstGeom prst="rect">
            <a:avLst/>
          </a:prstGeom>
        </p:spPr>
      </p:pic>
      <p:sp>
        <p:nvSpPr>
          <p:cNvPr id="12" name="TextBox 11"/>
          <p:cNvSpPr txBox="1"/>
          <p:nvPr/>
        </p:nvSpPr>
        <p:spPr>
          <a:xfrm>
            <a:off x="822960" y="5943600"/>
            <a:ext cx="10545775" cy="731520"/>
          </a:xfrm>
          <a:prstGeom prst="rect">
            <a:avLst/>
          </a:prstGeom>
          <a:noFill/>
        </p:spPr>
        <p:txBody>
          <a:bodyPr wrap="square" anchor="t">
            <a:normAutofit/>
          </a:bodyPr>
          <a:lstStyle/>
          <a:p>
            <a:pPr algn="ctr"/>
            <a:r>
              <a:rPr sz="1800" b="0" i="0">
                <a:solidFill>
                  <a:srgbClr val="1B1035"/>
                </a:solidFill>
                <a:latin typeface="Verdana"/>
              </a:rPr>
              <a:t>Every captcha is a labeling job: you classify images for AI training </a:t>
            </a:r>
            <a:r>
              <a:rPr sz="1800" b="0" i="0">
                <a:solidFill>
                  <a:srgbClr val="1B1035"/>
                </a:solidFill>
                <a:latin typeface="Verdana"/>
                <a:hlinkClick r:id="rId3"/>
              </a:rPr>
              <a:t>source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The human labor behind labeled training data</a:t>
            </a:r>
          </a:p>
        </p:txBody>
      </p:sp>
      <p:grpSp>
        <p:nvGrpSpPr>
          <p:cNvPr id="3" name="Window image.png">
            <a:extLst>
              <a:ext uri="{C183D7F6-B498-43B3-948B-1728B52AA6E4}">
                <adec:decorative xmlns:adec="http://schemas.microsoft.com/office/drawing/2017/decorative" val="1"/>
              </a:ext>
            </a:extLst>
          </p:cNvPr>
          <p:cNvGrpSpPr/>
          <p:nvPr/>
        </p:nvGrpSpPr>
        <p:grpSpPr>
          <a:xfrm>
            <a:off x="822960" y="365760"/>
            <a:ext cx="10655503" cy="5504688"/>
            <a:chOff x="822960" y="365760"/>
            <a:chExt cx="10655503" cy="5504688"/>
          </a:xfrm>
        </p:grpSpPr>
        <p:sp>
          <p:nvSpPr>
            <p:cNvPr id="4" name="Rectangle 3"/>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365760"/>
              <a:ext cx="10545775" cy="502920"/>
            </a:xfrm>
            <a:prstGeom prst="rect">
              <a:avLst/>
            </a:prstGeom>
            <a:solidFill>
              <a:srgbClr val="FFB3C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1" name="Picture 10" descr="Amazon Mechanical Turk homepage reading 'Access a global, on-demand, 24x7 workforce,' with a banner advertising data-labeling solutions for machine learning."/>
          <p:cNvPicPr>
            <a:picLocks noChangeAspect="1"/>
          </p:cNvPicPr>
          <p:nvPr/>
        </p:nvPicPr>
        <p:blipFill>
          <a:blip r:embed="rId2"/>
          <a:stretch>
            <a:fillRect/>
          </a:stretch>
        </p:blipFill>
        <p:spPr>
          <a:xfrm>
            <a:off x="1999628" y="1097280"/>
            <a:ext cx="8192438" cy="4434840"/>
          </a:xfrm>
          <a:prstGeom prst="rect">
            <a:avLst/>
          </a:prstGeom>
        </p:spPr>
      </p:pic>
      <p:sp>
        <p:nvSpPr>
          <p:cNvPr id="12" name="TextBox 11"/>
          <p:cNvSpPr txBox="1"/>
          <p:nvPr/>
        </p:nvSpPr>
        <p:spPr>
          <a:xfrm>
            <a:off x="822960" y="5943600"/>
            <a:ext cx="10545775" cy="731520"/>
          </a:xfrm>
          <a:prstGeom prst="rect">
            <a:avLst/>
          </a:prstGeom>
          <a:noFill/>
        </p:spPr>
        <p:txBody>
          <a:bodyPr wrap="square" anchor="t">
            <a:normAutofit/>
          </a:bodyPr>
          <a:lstStyle/>
          <a:p>
            <a:pPr algn="ctr"/>
            <a:r>
              <a:rPr sz="1800" b="0" i="0">
                <a:solidFill>
                  <a:srgbClr val="1B1035"/>
                </a:solidFill>
                <a:latin typeface="Verdana"/>
              </a:rPr>
              <a:t>The human labor behind labeled training data </a:t>
            </a:r>
            <a:r>
              <a:rPr sz="1800" b="0" i="0">
                <a:solidFill>
                  <a:srgbClr val="1B1035"/>
                </a:solidFill>
                <a:latin typeface="Verdana"/>
                <a:hlinkClick r:id="rId3"/>
              </a:rPr>
              <a:t>source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Quote: Kate Crawford and Trevor Paglen, 2019</a:t>
            </a:r>
          </a:p>
        </p:txBody>
      </p:sp>
      <p:grpSp>
        <p:nvGrpSpPr>
          <p:cNvPr id="3" name="Window quote.txt">
            <a:extLst>
              <a:ext uri="{C183D7F6-B498-43B3-948B-1728B52AA6E4}">
                <adec:decorative xmlns:adec="http://schemas.microsoft.com/office/drawing/2017/decorative" val="1"/>
              </a:ext>
            </a:extLst>
          </p:cNvPr>
          <p:cNvGrpSpPr/>
          <p:nvPr/>
        </p:nvGrpSpPr>
        <p:grpSpPr>
          <a:xfrm>
            <a:off x="822960" y="640080"/>
            <a:ext cx="10655503" cy="5687568"/>
            <a:chOff x="822960" y="640080"/>
            <a:chExt cx="10655503" cy="5687568"/>
          </a:xfrm>
        </p:grpSpPr>
        <p:sp>
          <p:nvSpPr>
            <p:cNvPr id="4" name="Rectangle 3"/>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640080"/>
              <a:ext cx="10545775" cy="502920"/>
            </a:xfrm>
            <a:prstGeom prst="rect">
              <a:avLst/>
            </a:prstGeom>
            <a:solidFill>
              <a:srgbClr val="B9C8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1" name="TextBox 10"/>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“These gradients have been erased in the logic of ImageNet. Everything is flattened out and pinned to a label, like taxidermy butterflies in a display case.”</a:t>
            </a:r>
          </a:p>
        </p:txBody>
      </p:sp>
      <p:sp>
        <p:nvSpPr>
          <p:cNvPr id="12" name="TextBox 11"/>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Kate Crawford and Trevor Paglen, 2019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Quote: Kate Crawford and Trevor Paglen, 2019</a:t>
            </a:r>
          </a:p>
        </p:txBody>
      </p:sp>
      <p:grpSp>
        <p:nvGrpSpPr>
          <p:cNvPr id="3" name="Window quote.txt">
            <a:extLst>
              <a:ext uri="{C183D7F6-B498-43B3-948B-1728B52AA6E4}">
                <adec:decorative xmlns:adec="http://schemas.microsoft.com/office/drawing/2017/decorative" val="1"/>
              </a:ext>
            </a:extLst>
          </p:cNvPr>
          <p:cNvGrpSpPr/>
          <p:nvPr/>
        </p:nvGrpSpPr>
        <p:grpSpPr>
          <a:xfrm>
            <a:off x="822960" y="640080"/>
            <a:ext cx="10655503" cy="5687568"/>
            <a:chOff x="822960" y="640080"/>
            <a:chExt cx="10655503" cy="5687568"/>
          </a:xfrm>
        </p:grpSpPr>
        <p:sp>
          <p:nvSpPr>
            <p:cNvPr id="4" name="Rectangle 3"/>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640080"/>
              <a:ext cx="10545775" cy="502920"/>
            </a:xfrm>
            <a:prstGeom prst="rect">
              <a:avLst/>
            </a:prstGeom>
            <a:solidFill>
              <a:srgbClr val="FFD23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1" name="TextBox 10"/>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“Regardless of the supposed neutrality of any particular category, the selection of images skews the meaning in ways that are gendered, racialized, ableist, and ageist. ImageNet is an object lesson, if you will, in what happens when people are categorized like objects.”</a:t>
            </a:r>
          </a:p>
        </p:txBody>
      </p:sp>
      <p:sp>
        <p:nvSpPr>
          <p:cNvPr id="12" name="TextBox 11"/>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Kate Crawford and Trevor Paglen, 2019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AI classification in an Orlando backyard. Is that really a hummingbird?</a:t>
            </a:r>
          </a:p>
        </p:txBody>
      </p:sp>
      <p:grpSp>
        <p:nvGrpSpPr>
          <p:cNvPr id="3" name="Window image.png">
            <a:extLst>
              <a:ext uri="{C183D7F6-B498-43B3-948B-1728B52AA6E4}">
                <adec:decorative xmlns:adec="http://schemas.microsoft.com/office/drawing/2017/decorative" val="1"/>
              </a:ext>
            </a:extLst>
          </p:cNvPr>
          <p:cNvGrpSpPr/>
          <p:nvPr/>
        </p:nvGrpSpPr>
        <p:grpSpPr>
          <a:xfrm>
            <a:off x="822960" y="365760"/>
            <a:ext cx="10655503" cy="5504688"/>
            <a:chOff x="822960" y="365760"/>
            <a:chExt cx="10655503" cy="5504688"/>
          </a:xfrm>
        </p:grpSpPr>
        <p:sp>
          <p:nvSpPr>
            <p:cNvPr id="4" name="Rectangle 3"/>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365760"/>
              <a:ext cx="10545775" cy="502920"/>
            </a:xfrm>
            <a:prstGeom prst="rect">
              <a:avLst/>
            </a:prstGeom>
            <a:solidFill>
              <a:srgbClr val="8FE9D3"/>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1" name="Picture 10" descr="Phone screenshot of the Birdfy app's 'Bird Recognition' card: a feeder-camera photo of a small brown bird with a box drawn around it, labeled 'Anna's Hummingbird,' Orlando, Florida, with a 'Wrong recognition?' link."/>
          <p:cNvPicPr>
            <a:picLocks noChangeAspect="1"/>
          </p:cNvPicPr>
          <p:nvPr/>
        </p:nvPicPr>
        <p:blipFill>
          <a:blip r:embed="rId2"/>
          <a:stretch>
            <a:fillRect/>
          </a:stretch>
        </p:blipFill>
        <p:spPr>
          <a:xfrm>
            <a:off x="3956776" y="1097280"/>
            <a:ext cx="4278142" cy="4434840"/>
          </a:xfrm>
          <a:prstGeom prst="rect">
            <a:avLst/>
          </a:prstGeom>
        </p:spPr>
      </p:pic>
      <p:sp>
        <p:nvSpPr>
          <p:cNvPr id="12" name="TextBox 11"/>
          <p:cNvSpPr txBox="1"/>
          <p:nvPr/>
        </p:nvSpPr>
        <p:spPr>
          <a:xfrm>
            <a:off x="822960" y="5943600"/>
            <a:ext cx="10545775" cy="731520"/>
          </a:xfrm>
          <a:prstGeom prst="rect">
            <a:avLst/>
          </a:prstGeom>
          <a:noFill/>
        </p:spPr>
        <p:txBody>
          <a:bodyPr wrap="square" anchor="t">
            <a:normAutofit/>
          </a:bodyPr>
          <a:lstStyle/>
          <a:p>
            <a:pPr algn="ctr"/>
            <a:r>
              <a:rPr sz="1800" b="0" i="0">
                <a:solidFill>
                  <a:srgbClr val="1B1035"/>
                </a:solidFill>
                <a:latin typeface="Verdana"/>
              </a:rPr>
              <a:t>AI classification in an Orlando backyard. Is that really a hummingbird?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3D7F"/>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Archives, art, and AI</a:t>
            </a:r>
          </a:p>
        </p:txBody>
      </p:sp>
      <p:sp>
        <p:nvSpPr>
          <p:cNvPr id="3" name="TextBox 2"/>
          <p:cNvSpPr txBox="1"/>
          <p:nvPr/>
        </p:nvSpPr>
        <p:spPr>
          <a:xfrm>
            <a:off x="274320" y="1417320"/>
            <a:ext cx="11643055" cy="4023360"/>
          </a:xfrm>
          <a:prstGeom prst="rect">
            <a:avLst/>
          </a:prstGeom>
          <a:noFill/>
        </p:spPr>
        <p:txBody>
          <a:bodyPr wrap="square" anchor="ctr">
            <a:normAutofit/>
          </a:bodyPr>
          <a:lstStyle/>
          <a:p>
            <a:pPr algn="ctr"/>
            <a:r>
              <a:rPr sz="5400" b="0" i="0">
                <a:solidFill>
                  <a:srgbClr val="FFFFFF"/>
                </a:solidFill>
                <a:latin typeface="Arial Black"/>
              </a:rPr>
              <a:t>Archives, art, and AI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Refik Anadol's Archive Dreaming (2017): an archive turned into an AI installation</a:t>
            </a:r>
          </a:p>
        </p:txBody>
      </p:sp>
      <p:grpSp>
        <p:nvGrpSpPr>
          <p:cNvPr id="3" name="Window image.png">
            <a:extLst>
              <a:ext uri="{C183D7F6-B498-43B3-948B-1728B52AA6E4}">
                <adec:decorative xmlns:adec="http://schemas.microsoft.com/office/drawing/2017/decorative" val="1"/>
              </a:ext>
            </a:extLst>
          </p:cNvPr>
          <p:cNvGrpSpPr/>
          <p:nvPr/>
        </p:nvGrpSpPr>
        <p:grpSpPr>
          <a:xfrm>
            <a:off x="822960" y="365760"/>
            <a:ext cx="10655503" cy="5504688"/>
            <a:chOff x="822960" y="365760"/>
            <a:chExt cx="10655503" cy="5504688"/>
          </a:xfrm>
        </p:grpSpPr>
        <p:sp>
          <p:nvSpPr>
            <p:cNvPr id="4" name="Rectangle 3"/>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365760"/>
              <a:ext cx="10545775" cy="502920"/>
            </a:xfrm>
            <a:prstGeom prst="rect">
              <a:avLst/>
            </a:prstGeom>
            <a:solidFill>
              <a:srgbClr val="B9C8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1" name="Picture 10" descr="Dark installation view titled 'Archive Dreaming - AI Data Sculpture': silhouetted visitors in a room projected with swirling streams of tiny white images."/>
          <p:cNvPicPr>
            <a:picLocks noChangeAspect="1"/>
          </p:cNvPicPr>
          <p:nvPr/>
        </p:nvPicPr>
        <p:blipFill>
          <a:blip r:embed="rId2"/>
          <a:stretch>
            <a:fillRect/>
          </a:stretch>
        </p:blipFill>
        <p:spPr>
          <a:xfrm>
            <a:off x="2725908" y="1097280"/>
            <a:ext cx="6739878" cy="4434840"/>
          </a:xfrm>
          <a:prstGeom prst="rect">
            <a:avLst/>
          </a:prstGeom>
        </p:spPr>
      </p:pic>
      <p:sp>
        <p:nvSpPr>
          <p:cNvPr id="12" name="TextBox 11"/>
          <p:cNvSpPr txBox="1"/>
          <p:nvPr/>
        </p:nvSpPr>
        <p:spPr>
          <a:xfrm>
            <a:off x="822960" y="5943600"/>
            <a:ext cx="10545775" cy="731520"/>
          </a:xfrm>
          <a:prstGeom prst="rect">
            <a:avLst/>
          </a:prstGeom>
          <a:noFill/>
        </p:spPr>
        <p:txBody>
          <a:bodyPr wrap="square" anchor="t">
            <a:normAutofit/>
          </a:bodyPr>
          <a:lstStyle/>
          <a:p>
            <a:pPr algn="ctr"/>
            <a:r>
              <a:rPr sz="1600" b="0" i="0">
                <a:solidFill>
                  <a:srgbClr val="1B1035"/>
                </a:solidFill>
                <a:latin typeface="Verdana"/>
              </a:rPr>
              <a:t>Refik Anadol's </a:t>
            </a:r>
            <a:r>
              <a:rPr sz="1600" b="0" i="1">
                <a:solidFill>
                  <a:srgbClr val="1B1035"/>
                </a:solidFill>
                <a:latin typeface="Verdana"/>
              </a:rPr>
              <a:t>Archive Dreaming</a:t>
            </a:r>
            <a:r>
              <a:rPr sz="1600" b="0" i="0">
                <a:solidFill>
                  <a:srgbClr val="1B1035"/>
                </a:solidFill>
                <a:latin typeface="Verdana"/>
              </a:rPr>
              <a:t> (2017): an archive turned into an AI installation </a:t>
            </a:r>
            <a:r>
              <a:rPr sz="1600" b="0" i="0">
                <a:solidFill>
                  <a:srgbClr val="1B1035"/>
                </a:solidFill>
                <a:latin typeface="Verdana"/>
                <a:hlinkClick r:id="rId3"/>
              </a:rPr>
              <a:t>source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Nora Al-Badri's Babylonian Vision: a model trained on museum collections</a:t>
            </a:r>
          </a:p>
        </p:txBody>
      </p:sp>
      <p:grpSp>
        <p:nvGrpSpPr>
          <p:cNvPr id="3" name="Window image.png">
            <a:extLst>
              <a:ext uri="{C183D7F6-B498-43B3-948B-1728B52AA6E4}">
                <adec:decorative xmlns:adec="http://schemas.microsoft.com/office/drawing/2017/decorative" val="1"/>
              </a:ext>
            </a:extLst>
          </p:cNvPr>
          <p:cNvGrpSpPr/>
          <p:nvPr/>
        </p:nvGrpSpPr>
        <p:grpSpPr>
          <a:xfrm>
            <a:off x="822960" y="365760"/>
            <a:ext cx="10655503" cy="5504688"/>
            <a:chOff x="822960" y="365760"/>
            <a:chExt cx="10655503" cy="5504688"/>
          </a:xfrm>
        </p:grpSpPr>
        <p:sp>
          <p:nvSpPr>
            <p:cNvPr id="4" name="Rectangle 3"/>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365760"/>
              <a:ext cx="10545775" cy="502920"/>
            </a:xfrm>
            <a:prstGeom prst="rect">
              <a:avLst/>
            </a:prstGeom>
            <a:solidFill>
              <a:srgbClr val="FFD23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1" name="Picture 10" descr="Installation view of generated images of ancient artifacts projected on a dark wall and reflected on a green and orange floor."/>
          <p:cNvPicPr>
            <a:picLocks noChangeAspect="1"/>
          </p:cNvPicPr>
          <p:nvPr/>
        </p:nvPicPr>
        <p:blipFill>
          <a:blip r:embed="rId2"/>
          <a:stretch>
            <a:fillRect/>
          </a:stretch>
        </p:blipFill>
        <p:spPr>
          <a:xfrm>
            <a:off x="4011123" y="1097280"/>
            <a:ext cx="4169448" cy="4434840"/>
          </a:xfrm>
          <a:prstGeom prst="rect">
            <a:avLst/>
          </a:prstGeom>
        </p:spPr>
      </p:pic>
      <p:sp>
        <p:nvSpPr>
          <p:cNvPr id="12" name="TextBox 11"/>
          <p:cNvSpPr txBox="1"/>
          <p:nvPr/>
        </p:nvSpPr>
        <p:spPr>
          <a:xfrm>
            <a:off x="822960" y="5943600"/>
            <a:ext cx="10545775" cy="731520"/>
          </a:xfrm>
          <a:prstGeom prst="rect">
            <a:avLst/>
          </a:prstGeom>
          <a:noFill/>
        </p:spPr>
        <p:txBody>
          <a:bodyPr wrap="square" anchor="t">
            <a:normAutofit/>
          </a:bodyPr>
          <a:lstStyle/>
          <a:p>
            <a:pPr algn="ctr"/>
            <a:r>
              <a:rPr sz="1800" b="0" i="0">
                <a:solidFill>
                  <a:srgbClr val="1B1035"/>
                </a:solidFill>
                <a:latin typeface="Verdana"/>
              </a:rPr>
              <a:t>Nora Al-Badri's </a:t>
            </a:r>
            <a:r>
              <a:rPr sz="1800" b="0" i="1">
                <a:solidFill>
                  <a:srgbClr val="1B1035"/>
                </a:solidFill>
                <a:latin typeface="Verdana"/>
              </a:rPr>
              <a:t>Babylonian Vision</a:t>
            </a:r>
            <a:r>
              <a:rPr sz="1800" b="0" i="0">
                <a:solidFill>
                  <a:srgbClr val="1B1035"/>
                </a:solidFill>
                <a:latin typeface="Verdana"/>
              </a:rPr>
              <a:t>: a model trained on museum collections </a:t>
            </a:r>
            <a:r>
              <a:rPr sz="1800" b="0" i="0">
                <a:solidFill>
                  <a:srgbClr val="1B1035"/>
                </a:solidFill>
                <a:latin typeface="Verdana"/>
                <a:hlinkClick r:id="rId3"/>
              </a:rPr>
              <a:t>source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At the museum: real digital art mistaken for AI</a:t>
            </a:r>
          </a:p>
        </p:txBody>
      </p:sp>
      <p:grpSp>
        <p:nvGrpSpPr>
          <p:cNvPr id="3" name="Window image.png">
            <a:extLst>
              <a:ext uri="{C183D7F6-B498-43B3-948B-1728B52AA6E4}">
                <adec:decorative xmlns:adec="http://schemas.microsoft.com/office/drawing/2017/decorative" val="1"/>
              </a:ext>
            </a:extLst>
          </p:cNvPr>
          <p:cNvGrpSpPr/>
          <p:nvPr/>
        </p:nvGrpSpPr>
        <p:grpSpPr>
          <a:xfrm>
            <a:off x="822960" y="365760"/>
            <a:ext cx="10655503" cy="5504688"/>
            <a:chOff x="822960" y="365760"/>
            <a:chExt cx="10655503" cy="5504688"/>
          </a:xfrm>
        </p:grpSpPr>
        <p:sp>
          <p:nvSpPr>
            <p:cNvPr id="4" name="Rectangle 3"/>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365760"/>
              <a:ext cx="10545775" cy="502920"/>
            </a:xfrm>
            <a:prstGeom prst="rect">
              <a:avLst/>
            </a:prstGeom>
            <a:solidFill>
              <a:srgbClr val="8FE9D3"/>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1" name="Picture 10" descr="MPR News headline 'Walker, artist respond after visitors mistake digital work for AI slop' over a detail of Olalekan Jeyifous's print."/>
          <p:cNvPicPr>
            <a:picLocks noChangeAspect="1"/>
          </p:cNvPicPr>
          <p:nvPr/>
        </p:nvPicPr>
        <p:blipFill>
          <a:blip r:embed="rId2"/>
          <a:stretch>
            <a:fillRect/>
          </a:stretch>
        </p:blipFill>
        <p:spPr>
          <a:xfrm>
            <a:off x="3655950" y="1097280"/>
            <a:ext cx="4879794" cy="4434840"/>
          </a:xfrm>
          <a:prstGeom prst="rect">
            <a:avLst/>
          </a:prstGeom>
        </p:spPr>
      </p:pic>
      <p:sp>
        <p:nvSpPr>
          <p:cNvPr id="12" name="TextBox 11"/>
          <p:cNvSpPr txBox="1"/>
          <p:nvPr/>
        </p:nvSpPr>
        <p:spPr>
          <a:xfrm>
            <a:off x="822960" y="5943600"/>
            <a:ext cx="10545775" cy="731520"/>
          </a:xfrm>
          <a:prstGeom prst="rect">
            <a:avLst/>
          </a:prstGeom>
          <a:noFill/>
        </p:spPr>
        <p:txBody>
          <a:bodyPr wrap="square" anchor="t">
            <a:normAutofit/>
          </a:bodyPr>
          <a:lstStyle/>
          <a:p>
            <a:pPr algn="ctr"/>
            <a:r>
              <a:rPr sz="1800" b="0" i="0">
                <a:solidFill>
                  <a:srgbClr val="1B1035"/>
                </a:solidFill>
                <a:latin typeface="Verdana"/>
              </a:rPr>
              <a:t>At the museum: real digital art mistaken for AI </a:t>
            </a:r>
            <a:r>
              <a:rPr sz="1800" b="0" i="0">
                <a:solidFill>
                  <a:srgbClr val="1B1035"/>
                </a:solidFill>
                <a:latin typeface="Verdana"/>
                <a:hlinkClick r:id="rId3"/>
              </a:rPr>
              <a:t>source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3D7F"/>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Altering the record</a:t>
            </a:r>
          </a:p>
        </p:txBody>
      </p:sp>
      <p:sp>
        <p:nvSpPr>
          <p:cNvPr id="3" name="TextBox 2"/>
          <p:cNvSpPr txBox="1"/>
          <p:nvPr/>
        </p:nvSpPr>
        <p:spPr>
          <a:xfrm>
            <a:off x="274320" y="1417320"/>
            <a:ext cx="11643055" cy="4023360"/>
          </a:xfrm>
          <a:prstGeom prst="rect">
            <a:avLst/>
          </a:prstGeom>
          <a:noFill/>
        </p:spPr>
        <p:txBody>
          <a:bodyPr wrap="square" anchor="ctr">
            <a:normAutofit/>
          </a:bodyPr>
          <a:lstStyle/>
          <a:p>
            <a:pPr algn="ctr"/>
            <a:r>
              <a:rPr sz="5400" b="0" i="0">
                <a:solidFill>
                  <a:srgbClr val="FFFFFF"/>
                </a:solidFill>
                <a:latin typeface="Arial Black"/>
              </a:rPr>
              <a:t>Altering the record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One prompt, and a historical photograph is altered</a:t>
            </a:r>
          </a:p>
        </p:txBody>
      </p:sp>
      <p:grpSp>
        <p:nvGrpSpPr>
          <p:cNvPr id="3" name="Window image.png">
            <a:extLst>
              <a:ext uri="{C183D7F6-B498-43B3-948B-1728B52AA6E4}">
                <adec:decorative xmlns:adec="http://schemas.microsoft.com/office/drawing/2017/decorative" val="1"/>
              </a:ext>
            </a:extLst>
          </p:cNvPr>
          <p:cNvGrpSpPr/>
          <p:nvPr/>
        </p:nvGrpSpPr>
        <p:grpSpPr>
          <a:xfrm>
            <a:off x="822960" y="365760"/>
            <a:ext cx="10655503" cy="5504688"/>
            <a:chOff x="822960" y="365760"/>
            <a:chExt cx="10655503" cy="5504688"/>
          </a:xfrm>
        </p:grpSpPr>
        <p:sp>
          <p:nvSpPr>
            <p:cNvPr id="4" name="Rectangle 3"/>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365760"/>
              <a:ext cx="10545775" cy="502920"/>
            </a:xfrm>
            <a:prstGeom prst="rect">
              <a:avLst/>
            </a:prstGeom>
            <a:solidFill>
              <a:srgbClr val="B9C8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1" name="Picture 10" descr="The Apollo 11 crew portrait and a photo of a sparkly white tuxedo, followed by an AI-edited version of the portrait in which the astronaut on the left wears the tuxedo instead of his spacesuit."/>
          <p:cNvPicPr>
            <a:picLocks noChangeAspect="1"/>
          </p:cNvPicPr>
          <p:nvPr/>
        </p:nvPicPr>
        <p:blipFill>
          <a:blip r:embed="rId2"/>
          <a:stretch>
            <a:fillRect/>
          </a:stretch>
        </p:blipFill>
        <p:spPr>
          <a:xfrm>
            <a:off x="4389116" y="1097280"/>
            <a:ext cx="3413462" cy="4434840"/>
          </a:xfrm>
          <a:prstGeom prst="rect">
            <a:avLst/>
          </a:prstGeom>
        </p:spPr>
      </p:pic>
      <p:sp>
        <p:nvSpPr>
          <p:cNvPr id="12" name="TextBox 11"/>
          <p:cNvSpPr txBox="1"/>
          <p:nvPr/>
        </p:nvSpPr>
        <p:spPr>
          <a:xfrm>
            <a:off x="822960" y="5943600"/>
            <a:ext cx="10545775" cy="731520"/>
          </a:xfrm>
          <a:prstGeom prst="rect">
            <a:avLst/>
          </a:prstGeom>
          <a:noFill/>
        </p:spPr>
        <p:txBody>
          <a:bodyPr wrap="square" anchor="t">
            <a:normAutofit/>
          </a:bodyPr>
          <a:lstStyle/>
          <a:p>
            <a:pPr algn="ctr"/>
            <a:r>
              <a:rPr sz="1800" b="0" i="0">
                <a:solidFill>
                  <a:srgbClr val="1B1035"/>
                </a:solidFill>
                <a:latin typeface="Verdana"/>
              </a:rPr>
              <a:t>One prompt, and a historical photograph is altered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Real photo, altered ad: AI rewrites who appears in the record</a:t>
            </a:r>
          </a:p>
        </p:txBody>
      </p:sp>
      <p:grpSp>
        <p:nvGrpSpPr>
          <p:cNvPr id="3" name="Window image.png">
            <a:extLst>
              <a:ext uri="{C183D7F6-B498-43B3-948B-1728B52AA6E4}">
                <adec:decorative xmlns:adec="http://schemas.microsoft.com/office/drawing/2017/decorative" val="1"/>
              </a:ext>
            </a:extLst>
          </p:cNvPr>
          <p:cNvGrpSpPr/>
          <p:nvPr/>
        </p:nvGrpSpPr>
        <p:grpSpPr>
          <a:xfrm>
            <a:off x="822960" y="365760"/>
            <a:ext cx="10655503" cy="5504688"/>
            <a:chOff x="822960" y="365760"/>
            <a:chExt cx="10655503" cy="5504688"/>
          </a:xfrm>
        </p:grpSpPr>
        <p:sp>
          <p:nvSpPr>
            <p:cNvPr id="4" name="Rectangle 3"/>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365760"/>
              <a:ext cx="10545775" cy="502920"/>
            </a:xfrm>
            <a:prstGeom prst="rect">
              <a:avLst/>
            </a:prstGeom>
            <a:solidFill>
              <a:srgbClr val="FFD23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1" name="Picture 10" descr="Stanford Review headline 'Stanford R&amp;DE Uses AI to Race Swap Students for Advertising' above an original dining-hall photo of three students beside the AI-altered advertisement in which two of them have been replaced."/>
          <p:cNvPicPr>
            <a:picLocks noChangeAspect="1"/>
          </p:cNvPicPr>
          <p:nvPr/>
        </p:nvPicPr>
        <p:blipFill>
          <a:blip r:embed="rId2"/>
          <a:stretch>
            <a:fillRect/>
          </a:stretch>
        </p:blipFill>
        <p:spPr>
          <a:xfrm>
            <a:off x="4134974" y="1097280"/>
            <a:ext cx="3921747" cy="4434840"/>
          </a:xfrm>
          <a:prstGeom prst="rect">
            <a:avLst/>
          </a:prstGeom>
        </p:spPr>
      </p:pic>
      <p:sp>
        <p:nvSpPr>
          <p:cNvPr id="12" name="TextBox 11"/>
          <p:cNvSpPr txBox="1"/>
          <p:nvPr/>
        </p:nvSpPr>
        <p:spPr>
          <a:xfrm>
            <a:off x="822960" y="5943600"/>
            <a:ext cx="10545775" cy="731520"/>
          </a:xfrm>
          <a:prstGeom prst="rect">
            <a:avLst/>
          </a:prstGeom>
          <a:noFill/>
        </p:spPr>
        <p:txBody>
          <a:bodyPr wrap="square" anchor="t">
            <a:normAutofit/>
          </a:bodyPr>
          <a:lstStyle/>
          <a:p>
            <a:pPr algn="ctr"/>
            <a:r>
              <a:rPr sz="1800" b="0" i="0">
                <a:solidFill>
                  <a:srgbClr val="1B1035"/>
                </a:solidFill>
                <a:latin typeface="Verdana"/>
              </a:rPr>
              <a:t>Real photo, altered ad: AI rewrites who appears in the record </a:t>
            </a:r>
            <a:r>
              <a:rPr sz="1800" b="0" i="0">
                <a:solidFill>
                  <a:srgbClr val="1B1035"/>
                </a:solidFill>
                <a:latin typeface="Verdana"/>
                <a:hlinkClick r:id="rId3"/>
              </a:rPr>
              <a:t>source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Deepfaked history: generated video of people who have died</a:t>
            </a:r>
          </a:p>
        </p:txBody>
      </p:sp>
      <p:grpSp>
        <p:nvGrpSpPr>
          <p:cNvPr id="3" name="Window image.png">
            <a:extLst>
              <a:ext uri="{C183D7F6-B498-43B3-948B-1728B52AA6E4}">
                <adec:decorative xmlns:adec="http://schemas.microsoft.com/office/drawing/2017/decorative" val="1"/>
              </a:ext>
            </a:extLst>
          </p:cNvPr>
          <p:cNvGrpSpPr/>
          <p:nvPr/>
        </p:nvGrpSpPr>
        <p:grpSpPr>
          <a:xfrm>
            <a:off x="822960" y="365760"/>
            <a:ext cx="10655503" cy="5504688"/>
            <a:chOff x="822960" y="365760"/>
            <a:chExt cx="10655503" cy="5504688"/>
          </a:xfrm>
        </p:grpSpPr>
        <p:sp>
          <p:nvSpPr>
            <p:cNvPr id="4" name="Rectangle 3"/>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365760"/>
              <a:ext cx="10545775" cy="502920"/>
            </a:xfrm>
            <a:prstGeom prst="rect">
              <a:avLst/>
            </a:prstGeom>
            <a:solidFill>
              <a:srgbClr val="8FE9D3"/>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1" name="Picture 10" descr="Headline 'Are deepfakes of dead historical figures rewriting the past?' over a photo of the Sora app logo on a smartphone."/>
          <p:cNvPicPr>
            <a:picLocks noChangeAspect="1"/>
          </p:cNvPicPr>
          <p:nvPr/>
        </p:nvPicPr>
        <p:blipFill>
          <a:blip r:embed="rId2"/>
          <a:stretch>
            <a:fillRect/>
          </a:stretch>
        </p:blipFill>
        <p:spPr>
          <a:xfrm>
            <a:off x="3751668" y="1097280"/>
            <a:ext cx="4688358" cy="4434840"/>
          </a:xfrm>
          <a:prstGeom prst="rect">
            <a:avLst/>
          </a:prstGeom>
        </p:spPr>
      </p:pic>
      <p:sp>
        <p:nvSpPr>
          <p:cNvPr id="12" name="TextBox 11"/>
          <p:cNvSpPr txBox="1"/>
          <p:nvPr/>
        </p:nvSpPr>
        <p:spPr>
          <a:xfrm>
            <a:off x="822960" y="5943600"/>
            <a:ext cx="10545775" cy="731520"/>
          </a:xfrm>
          <a:prstGeom prst="rect">
            <a:avLst/>
          </a:prstGeom>
          <a:noFill/>
        </p:spPr>
        <p:txBody>
          <a:bodyPr wrap="square" anchor="t">
            <a:normAutofit/>
          </a:bodyPr>
          <a:lstStyle/>
          <a:p>
            <a:pPr algn="ctr"/>
            <a:r>
              <a:rPr sz="1800" b="0" i="0">
                <a:solidFill>
                  <a:srgbClr val="1B1035"/>
                </a:solidFill>
                <a:latin typeface="Verdana"/>
              </a:rPr>
              <a:t>Deepfaked history: generated video of people who have died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Quote: Kate Crawford and Trevor Paglen, 2019</a:t>
            </a:r>
          </a:p>
        </p:txBody>
      </p:sp>
      <p:grpSp>
        <p:nvGrpSpPr>
          <p:cNvPr id="3" name="Window quote.txt">
            <a:extLst>
              <a:ext uri="{C183D7F6-B498-43B3-948B-1728B52AA6E4}">
                <adec:decorative xmlns:adec="http://schemas.microsoft.com/office/drawing/2017/decorative" val="1"/>
              </a:ext>
            </a:extLst>
          </p:cNvPr>
          <p:cNvGrpSpPr/>
          <p:nvPr/>
        </p:nvGrpSpPr>
        <p:grpSpPr>
          <a:xfrm>
            <a:off x="822960" y="640080"/>
            <a:ext cx="10655503" cy="5687568"/>
            <a:chOff x="822960" y="640080"/>
            <a:chExt cx="10655503" cy="5687568"/>
          </a:xfrm>
        </p:grpSpPr>
        <p:sp>
          <p:nvSpPr>
            <p:cNvPr id="4" name="Rectangle 3"/>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640080"/>
              <a:ext cx="10545775" cy="502920"/>
            </a:xfrm>
            <a:prstGeom prst="rect">
              <a:avLst/>
            </a:prstGeom>
            <a:solidFill>
              <a:srgbClr val="FFB3C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1" name="TextBox 10"/>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“The whole endeavor of collecting images, categorizing them, and labeling them is itself a form of politics, filled with questions about who gets to decide what images mean and what kinds of social and political work those representations perform.”</a:t>
            </a:r>
          </a:p>
        </p:txBody>
      </p:sp>
      <p:sp>
        <p:nvSpPr>
          <p:cNvPr id="12" name="TextBox 11"/>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Kate Crawford and Trevor Paglen, 2019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Quote: The Santa Barbara Statement on Collections as Data</a:t>
            </a:r>
          </a:p>
        </p:txBody>
      </p:sp>
      <p:grpSp>
        <p:nvGrpSpPr>
          <p:cNvPr id="3" name="Window quote.txt">
            <a:extLst>
              <a:ext uri="{C183D7F6-B498-43B3-948B-1728B52AA6E4}">
                <adec:decorative xmlns:adec="http://schemas.microsoft.com/office/drawing/2017/decorative" val="1"/>
              </a:ext>
            </a:extLst>
          </p:cNvPr>
          <p:cNvGrpSpPr/>
          <p:nvPr/>
        </p:nvGrpSpPr>
        <p:grpSpPr>
          <a:xfrm>
            <a:off x="822960" y="640080"/>
            <a:ext cx="10655503" cy="5687568"/>
            <a:chOff x="822960" y="640080"/>
            <a:chExt cx="10655503" cy="5687568"/>
          </a:xfrm>
        </p:grpSpPr>
        <p:sp>
          <p:nvSpPr>
            <p:cNvPr id="4" name="Rectangle 3"/>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640080"/>
              <a:ext cx="10545775" cy="502920"/>
            </a:xfrm>
            <a:prstGeom prst="rect">
              <a:avLst/>
            </a:prstGeom>
            <a:solidFill>
              <a:srgbClr val="B9C8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1" name="TextBox 10"/>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“The scale of some collections may also obfuscate what is hidden or missing in the histories they are perceived to represent. Cultural heritage institutions must be mindful of these absences and plan to work against their repetition.”</a:t>
            </a:r>
          </a:p>
        </p:txBody>
      </p:sp>
      <p:sp>
        <p:nvSpPr>
          <p:cNvPr id="12" name="TextBox 11"/>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The Santa Barbara Statement on Collections as Data</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3D7F"/>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Next week, Do: Describing the Archive</a:t>
            </a:r>
          </a:p>
        </p:txBody>
      </p:sp>
      <p:sp>
        <p:nvSpPr>
          <p:cNvPr id="3" name="TextBox 2"/>
          <p:cNvSpPr txBox="1"/>
          <p:nvPr/>
        </p:nvSpPr>
        <p:spPr>
          <a:xfrm>
            <a:off x="274320" y="1417320"/>
            <a:ext cx="11643055" cy="4023360"/>
          </a:xfrm>
          <a:prstGeom prst="rect">
            <a:avLst/>
          </a:prstGeom>
          <a:noFill/>
        </p:spPr>
        <p:txBody>
          <a:bodyPr wrap="square" anchor="ctr">
            <a:normAutofit/>
          </a:bodyPr>
          <a:lstStyle/>
          <a:p>
            <a:pPr algn="ctr"/>
            <a:r>
              <a:rPr sz="5400" b="0" i="0">
                <a:solidFill>
                  <a:srgbClr val="FFFFFF"/>
                </a:solidFill>
                <a:latin typeface="Arial Black"/>
              </a:rPr>
              <a:t>Next week, Do:</a:t>
            </a:r>
            <a:br/>
            <a:r>
              <a:rPr sz="5400" b="0" i="0">
                <a:solidFill>
                  <a:srgbClr val="FFFFFF"/>
                </a:solidFill>
                <a:latin typeface="Arial Black"/>
              </a:rPr>
              <a:t>Describing the Archive</a:t>
            </a:r>
          </a:p>
          <a:p>
            <a:pPr algn="ctr">
              <a:spcBef>
                <a:spcPts val="1000"/>
              </a:spcBef>
            </a:pPr>
            <a:r>
              <a:rPr sz="2400" b="0" i="0">
                <a:solidFill>
                  <a:srgbClr val="FFFFFF"/>
                </a:solidFill>
                <a:latin typeface="Courier New"/>
              </a:rPr>
              <a:t>watch the video, then do the exercise and post by Thursday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Four steps</a:t>
            </a:r>
          </a:p>
        </p:txBody>
      </p:sp>
      <p:sp>
        <p:nvSpPr>
          <p:cNvPr id="3" name="TextBox 2"/>
          <p:cNvSpPr txBox="1"/>
          <p:nvPr/>
        </p:nvSpPr>
        <p:spPr>
          <a:xfrm>
            <a:off x="731520" y="457200"/>
            <a:ext cx="10728655" cy="914400"/>
          </a:xfrm>
          <a:prstGeom prst="rect">
            <a:avLst/>
          </a:prstGeom>
          <a:noFill/>
        </p:spPr>
        <p:txBody>
          <a:bodyPr wrap="square" anchor="t">
            <a:normAutofit/>
          </a:bodyPr>
          <a:lstStyle/>
          <a:p>
            <a:r>
              <a:rPr sz="3600" b="0" i="0">
                <a:solidFill>
                  <a:srgbClr val="FF3D7F"/>
                </a:solidFill>
                <a:latin typeface="Arial Black"/>
              </a:rPr>
              <a:t>Four steps</a:t>
            </a:r>
          </a:p>
        </p:txBody>
      </p:sp>
      <p:sp>
        <p:nvSpPr>
          <p:cNvPr id="4" name="TextBox 3"/>
          <p:cNvSpPr txBox="1"/>
          <p:nvPr/>
        </p:nvSpPr>
        <p:spPr>
          <a:xfrm>
            <a:off x="731520" y="1554480"/>
            <a:ext cx="10728655" cy="4754880"/>
          </a:xfrm>
          <a:prstGeom prst="rect">
            <a:avLst/>
          </a:prstGeom>
          <a:noFill/>
        </p:spPr>
        <p:txBody>
          <a:bodyPr wrap="square" anchor="t">
            <a:normAutofit/>
          </a:bodyPr>
          <a:lstStyle/>
          <a:p>
            <a:pPr marL="411480" indent="-320040">
              <a:spcAft>
                <a:spcPts val="1200"/>
              </a:spcAft>
              <a:buChar char="■"/>
            </a:pPr>
            <a:r>
              <a:rPr sz="2400" b="0" i="0">
                <a:solidFill>
                  <a:srgbClr val="1B1035"/>
                </a:solidFill>
                <a:latin typeface="Verdana"/>
              </a:rPr>
              <a:t>Build a set of 5-8 related images from the </a:t>
            </a:r>
            <a:r>
              <a:rPr sz="2400" b="0" i="0">
                <a:solidFill>
                  <a:srgbClr val="1B1035"/>
                </a:solidFill>
                <a:latin typeface="Verdana"/>
                <a:hlinkClick r:id="rId2"/>
              </a:rPr>
              <a:t>Library of Congress</a:t>
            </a:r>
            <a:r>
              <a:rPr sz="2400" b="0" i="0">
                <a:solidFill>
                  <a:srgbClr val="1B1035"/>
                </a:solidFill>
                <a:latin typeface="Verdana"/>
              </a:rPr>
              <a:t>, </a:t>
            </a:r>
            <a:r>
              <a:rPr sz="2400" b="0" i="0">
                <a:solidFill>
                  <a:srgbClr val="1B1035"/>
                </a:solidFill>
                <a:latin typeface="Verdana"/>
                <a:hlinkClick r:id="rId3"/>
              </a:rPr>
              <a:t>Smithsonian</a:t>
            </a:r>
            <a:r>
              <a:rPr sz="2400" b="0" i="0">
                <a:solidFill>
                  <a:srgbClr val="1B1035"/>
                </a:solidFill>
                <a:latin typeface="Verdana"/>
              </a:rPr>
              <a:t>, or </a:t>
            </a:r>
            <a:r>
              <a:rPr sz="2400" b="0" i="0">
                <a:solidFill>
                  <a:srgbClr val="1B1035"/>
                </a:solidFill>
                <a:latin typeface="Verdana"/>
                <a:hlinkClick r:id="rId4"/>
              </a:rPr>
              <a:t>Internet Archive</a:t>
            </a:r>
          </a:p>
          <a:p>
            <a:pPr marL="411480" indent="-320040">
              <a:spcAft>
                <a:spcPts val="1200"/>
              </a:spcAft>
              <a:buChar char="■"/>
            </a:pPr>
            <a:r>
              <a:rPr sz="2400" b="0" i="0">
                <a:solidFill>
                  <a:srgbClr val="1B1035"/>
                </a:solidFill>
                <a:latin typeface="Verdana"/>
              </a:rPr>
              <a:t>Save each item's </a:t>
            </a:r>
            <a:r>
              <a:rPr sz="2400" b="1" i="0">
                <a:solidFill>
                  <a:srgbClr val="1B1035"/>
                </a:solidFill>
                <a:latin typeface="Verdana"/>
              </a:rPr>
              <a:t>catalog record</a:t>
            </a:r>
          </a:p>
          <a:p>
            <a:pPr marL="411480" indent="-320040">
              <a:spcAft>
                <a:spcPts val="1200"/>
              </a:spcAft>
              <a:buChar char="■"/>
            </a:pPr>
            <a:r>
              <a:rPr sz="2400" b="0" i="0">
                <a:solidFill>
                  <a:srgbClr val="1B1035"/>
                </a:solidFill>
                <a:latin typeface="Verdana"/>
              </a:rPr>
              <a:t>Ask an AI to describe and catalog each image, </a:t>
            </a:r>
            <a:r>
              <a:rPr sz="2400" b="1" i="0">
                <a:solidFill>
                  <a:srgbClr val="1B1035"/>
                </a:solidFill>
                <a:latin typeface="Verdana"/>
              </a:rPr>
              <a:t>without</a:t>
            </a:r>
            <a:r>
              <a:rPr sz="2400" b="0" i="0">
                <a:solidFill>
                  <a:srgbClr val="1B1035"/>
                </a:solidFill>
                <a:latin typeface="Verdana"/>
              </a:rPr>
              <a:t> the record</a:t>
            </a:r>
          </a:p>
          <a:p>
            <a:pPr marL="411480" indent="-320040">
              <a:spcAft>
                <a:spcPts val="1200"/>
              </a:spcAft>
              <a:buChar char="■"/>
            </a:pPr>
            <a:r>
              <a:rPr sz="2400" b="0" i="0">
                <a:solidFill>
                  <a:srgbClr val="1B1035"/>
                </a:solidFill>
                <a:latin typeface="Verdana"/>
              </a:rPr>
              <a:t>Compare, then ask it to sort the whole set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Prompt: step 2, one image at a time</a:t>
            </a:r>
          </a:p>
        </p:txBody>
      </p:sp>
      <p:grpSp>
        <p:nvGrpSpPr>
          <p:cNvPr id="3" name="Window prompt.exe">
            <a:extLst>
              <a:ext uri="{C183D7F6-B498-43B3-948B-1728B52AA6E4}">
                <adec:decorative xmlns:adec="http://schemas.microsoft.com/office/drawing/2017/decorative" val="1"/>
              </a:ext>
            </a:extLst>
          </p:cNvPr>
          <p:cNvGrpSpPr/>
          <p:nvPr/>
        </p:nvGrpSpPr>
        <p:grpSpPr>
          <a:xfrm>
            <a:off x="1097280" y="1097280"/>
            <a:ext cx="10106863" cy="4773168"/>
            <a:chOff x="1097280" y="1097280"/>
            <a:chExt cx="10106863" cy="4773168"/>
          </a:xfrm>
        </p:grpSpPr>
        <p:sp>
          <p:nvSpPr>
            <p:cNvPr id="4" name="Rectangle 3"/>
            <p:cNvSpPr/>
            <p:nvPr/>
          </p:nvSpPr>
          <p:spPr>
            <a:xfrm>
              <a:off x="1207008" y="1207008"/>
              <a:ext cx="9997135" cy="46634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7280" y="1097280"/>
              <a:ext cx="9997135" cy="466344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7280" y="1097280"/>
              <a:ext cx="9997135" cy="502920"/>
            </a:xfrm>
            <a:prstGeom prst="rect">
              <a:avLst/>
            </a:prstGeom>
            <a:solidFill>
              <a:srgbClr val="FFB3C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25880" y="12435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27632" y="12435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929384" y="12435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31720" y="1097280"/>
              <a:ext cx="8625535" cy="502920"/>
            </a:xfrm>
            <a:prstGeom prst="rect">
              <a:avLst/>
            </a:prstGeom>
            <a:noFill/>
          </p:spPr>
          <p:txBody>
            <a:bodyPr wrap="none" anchor="ctr">
              <a:spAutoFit/>
            </a:bodyPr>
            <a:lstStyle/>
            <a:p>
              <a:r>
                <a:rPr sz="1600" b="1" i="0">
                  <a:solidFill>
                    <a:srgbClr val="1B1035"/>
                  </a:solidFill>
                  <a:latin typeface="Courier New"/>
                </a:rPr>
                <a:t>prompt.exe</a:t>
              </a:r>
            </a:p>
          </p:txBody>
        </p:sp>
      </p:grpSp>
      <p:sp>
        <p:nvSpPr>
          <p:cNvPr id="11" name="TextBox 10"/>
          <p:cNvSpPr txBox="1"/>
          <p:nvPr/>
        </p:nvSpPr>
        <p:spPr>
          <a:xfrm>
            <a:off x="1463040" y="1828800"/>
            <a:ext cx="9265615" cy="3703320"/>
          </a:xfrm>
          <a:prstGeom prst="rect">
            <a:avLst/>
          </a:prstGeom>
          <a:noFill/>
        </p:spPr>
        <p:txBody>
          <a:bodyPr wrap="square" anchor="ctr">
            <a:normAutofit/>
          </a:bodyPr>
          <a:lstStyle/>
          <a:p>
            <a:r>
              <a:rPr sz="2000" b="0" i="0">
                <a:solidFill>
                  <a:srgbClr val="FFB3CF"/>
                </a:solidFill>
                <a:latin typeface="Courier New"/>
              </a:rPr>
              <a:t>step 2, one image at a time</a:t>
            </a:r>
          </a:p>
          <a:p>
            <a:pPr>
              <a:spcBef>
                <a:spcPts val="600"/>
              </a:spcBef>
            </a:pPr>
            <a:r>
              <a:rPr sz="2800" b="1" i="0">
                <a:solidFill>
                  <a:srgbClr val="FFD23F"/>
                </a:solidFill>
                <a:latin typeface="Courier New"/>
              </a:rPr>
              <a:t>&gt; </a:t>
            </a:r>
            <a:r>
              <a:rPr sz="2800" b="0" i="0">
                <a:solidFill>
                  <a:srgbClr val="7DFFB3"/>
                </a:solidFill>
                <a:latin typeface="Courier New"/>
              </a:rPr>
              <a:t>Describe this image in detail. Then write alt text for it (under 150 characters), and suggest a title, an approximate date, and five subject keywords as if you were cataloging it for a library.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Compare with the catalog</a:t>
            </a:r>
          </a:p>
        </p:txBody>
      </p:sp>
      <p:sp>
        <p:nvSpPr>
          <p:cNvPr id="3" name="TextBox 2"/>
          <p:cNvSpPr txBox="1"/>
          <p:nvPr/>
        </p:nvSpPr>
        <p:spPr>
          <a:xfrm>
            <a:off x="731520" y="457200"/>
            <a:ext cx="10728655" cy="914400"/>
          </a:xfrm>
          <a:prstGeom prst="rect">
            <a:avLst/>
          </a:prstGeom>
          <a:noFill/>
        </p:spPr>
        <p:txBody>
          <a:bodyPr wrap="square" anchor="t">
            <a:normAutofit/>
          </a:bodyPr>
          <a:lstStyle/>
          <a:p>
            <a:r>
              <a:rPr sz="3600" b="0" i="0">
                <a:solidFill>
                  <a:srgbClr val="FF3D7F"/>
                </a:solidFill>
                <a:latin typeface="Arial Black"/>
              </a:rPr>
              <a:t>Compare with the catalog</a:t>
            </a:r>
          </a:p>
        </p:txBody>
      </p:sp>
      <p:sp>
        <p:nvSpPr>
          <p:cNvPr id="4" name="TextBox 3"/>
          <p:cNvSpPr txBox="1"/>
          <p:nvPr/>
        </p:nvSpPr>
        <p:spPr>
          <a:xfrm>
            <a:off x="731520" y="1554480"/>
            <a:ext cx="10728655" cy="4754880"/>
          </a:xfrm>
          <a:prstGeom prst="rect">
            <a:avLst/>
          </a:prstGeom>
          <a:noFill/>
        </p:spPr>
        <p:txBody>
          <a:bodyPr wrap="square" anchor="t">
            <a:normAutofit/>
          </a:bodyPr>
          <a:lstStyle/>
          <a:p>
            <a:pPr marL="411480" indent="-320040">
              <a:spcAft>
                <a:spcPts val="1200"/>
              </a:spcAft>
              <a:buChar char="■"/>
            </a:pPr>
            <a:r>
              <a:rPr sz="2400" b="0" i="0">
                <a:solidFill>
                  <a:srgbClr val="1B1035"/>
                </a:solidFill>
                <a:latin typeface="Verdana"/>
              </a:rPr>
              <a:t>What did the AI get </a:t>
            </a:r>
            <a:r>
              <a:rPr sz="2400" b="1" i="0">
                <a:solidFill>
                  <a:srgbClr val="1B1035"/>
                </a:solidFill>
                <a:latin typeface="Verdana"/>
              </a:rPr>
              <a:t>right</a:t>
            </a:r>
            <a:r>
              <a:rPr sz="2400" b="0" i="0">
                <a:solidFill>
                  <a:srgbClr val="1B1035"/>
                </a:solidFill>
                <a:latin typeface="Verdana"/>
              </a:rPr>
              <a:t>?</a:t>
            </a:r>
          </a:p>
          <a:p>
            <a:pPr marL="411480" indent="-320040">
              <a:spcAft>
                <a:spcPts val="1200"/>
              </a:spcAft>
              <a:buChar char="■"/>
            </a:pPr>
            <a:r>
              <a:rPr sz="2400" b="0" i="0">
                <a:solidFill>
                  <a:srgbClr val="1B1035"/>
                </a:solidFill>
                <a:latin typeface="Verdana"/>
              </a:rPr>
              <a:t>What did it get </a:t>
            </a:r>
            <a:r>
              <a:rPr sz="2400" b="1" i="0">
                <a:solidFill>
                  <a:srgbClr val="1B1035"/>
                </a:solidFill>
                <a:latin typeface="Verdana"/>
              </a:rPr>
              <a:t>wrong</a:t>
            </a:r>
            <a:r>
              <a:rPr sz="2400" b="0" i="0">
                <a:solidFill>
                  <a:srgbClr val="1B1035"/>
                </a:solidFill>
                <a:latin typeface="Verdana"/>
              </a:rPr>
              <a:t> (dates, places, people)?</a:t>
            </a:r>
          </a:p>
          <a:p>
            <a:pPr marL="411480" indent="-320040">
              <a:spcAft>
                <a:spcPts val="1200"/>
              </a:spcAft>
              <a:buChar char="■"/>
            </a:pPr>
            <a:r>
              <a:rPr sz="2400" b="0" i="0">
                <a:solidFill>
                  <a:srgbClr val="1B1035"/>
                </a:solidFill>
                <a:latin typeface="Verdana"/>
              </a:rPr>
              <a:t>What did it </a:t>
            </a:r>
            <a:r>
              <a:rPr sz="2400" b="1" i="0">
                <a:solidFill>
                  <a:srgbClr val="1B1035"/>
                </a:solidFill>
                <a:latin typeface="Verdana"/>
              </a:rPr>
              <a:t>assume</a:t>
            </a:r>
            <a:r>
              <a:rPr sz="2400" b="0" i="0">
                <a:solidFill>
                  <a:srgbClr val="1B1035"/>
                </a:solidFill>
                <a:latin typeface="Verdana"/>
              </a:rPr>
              <a:t> or invent?</a:t>
            </a:r>
          </a:p>
          <a:p>
            <a:pPr marL="411480" indent="-320040">
              <a:spcAft>
                <a:spcPts val="1200"/>
              </a:spcAft>
              <a:buChar char="■"/>
            </a:pPr>
            <a:r>
              <a:rPr sz="2400" b="0" i="0">
                <a:solidFill>
                  <a:srgbClr val="1B1035"/>
                </a:solidFill>
                <a:latin typeface="Verdana"/>
              </a:rPr>
              <a:t>What does the catalog know that the image can't show?</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Discussion question</a:t>
            </a:r>
          </a:p>
        </p:txBody>
      </p:sp>
      <p:grpSp>
        <p:nvGrpSpPr>
          <p:cNvPr id="3" name="Window discuss.txt">
            <a:extLst>
              <a:ext uri="{C183D7F6-B498-43B3-948B-1728B52AA6E4}">
                <adec:decorative xmlns:adec="http://schemas.microsoft.com/office/drawing/2017/decorative" val="1"/>
              </a:ext>
            </a:extLst>
          </p:cNvPr>
          <p:cNvGrpSpPr/>
          <p:nvPr/>
        </p:nvGrpSpPr>
        <p:grpSpPr>
          <a:xfrm>
            <a:off x="1097280" y="914400"/>
            <a:ext cx="10106863" cy="5138928"/>
            <a:chOff x="1097280" y="914400"/>
            <a:chExt cx="10106863" cy="5138928"/>
          </a:xfrm>
        </p:grpSpPr>
        <p:sp>
          <p:nvSpPr>
            <p:cNvPr id="4" name="Rectangle 3"/>
            <p:cNvSpPr/>
            <p:nvPr/>
          </p:nvSpPr>
          <p:spPr>
            <a:xfrm>
              <a:off x="1207008" y="1024128"/>
              <a:ext cx="9997135" cy="502920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7280" y="914400"/>
              <a:ext cx="9997135" cy="502920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7280" y="914400"/>
              <a:ext cx="9997135" cy="502920"/>
            </a:xfrm>
            <a:prstGeom prst="rect">
              <a:avLst/>
            </a:prstGeom>
            <a:solidFill>
              <a:srgbClr val="FFD23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25880" y="106070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27632" y="106070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929384" y="106070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31720" y="914400"/>
              <a:ext cx="8625535" cy="502920"/>
            </a:xfrm>
            <a:prstGeom prst="rect">
              <a:avLst/>
            </a:prstGeom>
            <a:noFill/>
          </p:spPr>
          <p:txBody>
            <a:bodyPr wrap="none" anchor="ctr">
              <a:spAutoFit/>
            </a:bodyPr>
            <a:lstStyle/>
            <a:p>
              <a:r>
                <a:rPr sz="1600" b="1" i="0">
                  <a:solidFill>
                    <a:srgbClr val="1B1035"/>
                  </a:solidFill>
                  <a:latin typeface="Courier New"/>
                </a:rPr>
                <a:t>discuss.txt</a:t>
              </a:r>
            </a:p>
          </p:txBody>
        </p:sp>
      </p:grpSp>
      <p:sp>
        <p:nvSpPr>
          <p:cNvPr id="11" name="TextBox 10"/>
          <p:cNvSpPr txBox="1"/>
          <p:nvPr/>
        </p:nvSpPr>
        <p:spPr>
          <a:xfrm>
            <a:off x="1463040" y="1645920"/>
            <a:ext cx="9265615" cy="4069080"/>
          </a:xfrm>
          <a:prstGeom prst="rect">
            <a:avLst/>
          </a:prstGeom>
          <a:noFill/>
        </p:spPr>
        <p:txBody>
          <a:bodyPr wrap="square" anchor="ctr">
            <a:normAutofit/>
          </a:bodyPr>
          <a:lstStyle/>
          <a:p>
            <a:r>
              <a:rPr sz="3200" b="0" i="0">
                <a:solidFill>
                  <a:srgbClr val="1B1035"/>
                </a:solidFill>
                <a:latin typeface="Arial Black"/>
              </a:rPr>
              <a:t>Would you trust this AI's alt text if you depended on a screen reader?</a:t>
            </a:r>
          </a:p>
          <a:p>
            <a:pPr>
              <a:spcBef>
                <a:spcPts val="1200"/>
              </a:spcBef>
            </a:pPr>
            <a:r>
              <a:rPr sz="2000" b="0" i="0">
                <a:solidFill>
                  <a:srgbClr val="4A3F66"/>
                </a:solidFill>
                <a:latin typeface="Verdana"/>
              </a:rPr>
              <a:t>Post: 3 AI descriptions + catalog links (3 pts), a 250+ word reflection (4), one citation (1), two replies (2).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Quote: The Santa Barbara Statement on Collections as Data</a:t>
            </a:r>
          </a:p>
        </p:txBody>
      </p:sp>
      <p:grpSp>
        <p:nvGrpSpPr>
          <p:cNvPr id="3" name="Window quote.txt">
            <a:extLst>
              <a:ext uri="{C183D7F6-B498-43B3-948B-1728B52AA6E4}">
                <adec:decorative xmlns:adec="http://schemas.microsoft.com/office/drawing/2017/decorative" val="1"/>
              </a:ext>
            </a:extLst>
          </p:cNvPr>
          <p:cNvGrpSpPr/>
          <p:nvPr/>
        </p:nvGrpSpPr>
        <p:grpSpPr>
          <a:xfrm>
            <a:off x="822960" y="640080"/>
            <a:ext cx="10655503" cy="5687568"/>
            <a:chOff x="822960" y="640080"/>
            <a:chExt cx="10655503" cy="5687568"/>
          </a:xfrm>
        </p:grpSpPr>
        <p:sp>
          <p:nvSpPr>
            <p:cNvPr id="4" name="Rectangle 3"/>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640080"/>
              <a:ext cx="10545775" cy="502920"/>
            </a:xfrm>
            <a:prstGeom prst="rect">
              <a:avLst/>
            </a:prstGeom>
            <a:solidFill>
              <a:srgbClr val="8FE9D3"/>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1" name="TextBox 10"/>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“Documentation must also attest to the history of how the collection has been treated over time. While no documentation can be fully comprehensive, incomplete or in-progress documentation is better than no documentation.”</a:t>
            </a:r>
          </a:p>
        </p:txBody>
      </p:sp>
      <p:sp>
        <p:nvSpPr>
          <p:cNvPr id="12" name="TextBox 11"/>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The Santa Barbara Statement on Collections as 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Five: Archives and Collections</dc:title>
  <dc:subject/>
  <dc:creator>ENG 3861</dc:creator>
  <cp:keywords/>
  <dc:description>generated using python-pptx</dc:description>
  <cp:lastModifiedBy/>
  <cp:revision>1</cp:revision>
  <dcterms:created xsi:type="dcterms:W3CDTF">2027-01-01T00:00:00Z</dcterms:created>
  <dcterms:modified xsi:type="dcterms:W3CDTF">2027-01-01T00:00:00Z</dcterms:modified>
  <cp:category/>
</cp:coreProperties>
</file>