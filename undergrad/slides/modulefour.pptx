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notesMaster" Target="notesMasters/notesMaster1.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Gemini (free), UCF Copilot, or ChatGPT's free tier. Remind students to start a new chat for each prompt.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closer: it's OK to find these images both troubling and cool. Ask students to hold both in their posts.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data-feminism.mitpress.mit.edu/pub/vi8obxh7" TargetMode="External"/><Relationship Id="rId3" Type="http://schemas.openxmlformats.org/officeDocument/2006/relationships/hyperlink" Target="https://restofworld.org/2023/ai-image-stereotypes/" TargetMode="External"/><Relationship Id="rId4" Type="http://schemas.openxmlformats.org/officeDocument/2006/relationships/hyperlink" Target="https://electronicbookreview.com/publications/my-month-with-midjourne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hyperlink" Target="https://jonathan-hui.medium.com/gan-some-cool-applications-of-gans-4c9ecca35900"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electronicbookreview.com/publications/my-month-with-midjourne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electronicbookreview.com/publications/my-month-with-midjourney/"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hyperlink" Target="https://variety.com/2025/film/news/warner-bros-midjourney-lawsuit-ai-copyright-1236508618/"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data-feminism.mitpress.mit.edu/pub/vi8obxh7"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data-feminism.mitpress.mit.edu/pub/vi8obxh7"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data-feminism.mitpress.mit.edu/pub/vi8obxh7"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restofworld.org/2023/ai-image-stereotype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restofworld.org/2023/ai-image-stereotype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restofworld.org/2023/ai-image-stereotype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restofworld.org/2023/ai-image-stereotype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hyperlink" Target="https://www.washingtonpost.com/technology/interactive/2023/ai-generated-images-bias-racism-sexism-stereotype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electronicbookreview.com/publications/my-month-with-midjourney/"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electronicbookreview.com/publications/my-month-with-midjourney/" TargetMode="External"/><Relationship Id="rId3"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Module Four: Generating Images</a:t>
            </a:r>
          </a:p>
        </p:txBody>
      </p:sp>
      <p:grpSp>
        <p:nvGrpSpPr>
          <p:cNvPr id="3" name="Window ENG3861.EXE">
            <a:extLst>
              <a:ext uri="{C183D7F6-B498-43B3-948B-1728B52AA6E4}">
                <adec:decorative xmlns:adec="http://schemas.microsoft.com/office/drawing/2017/decorative" val="1"/>
              </a:ext>
            </a:extLst>
          </p:cNvPr>
          <p:cNvGrpSpPr/>
          <p:nvPr/>
        </p:nvGrpSpPr>
        <p:grpSpPr>
          <a:xfrm>
            <a:off x="914400" y="914400"/>
            <a:ext cx="10472623" cy="5138928"/>
            <a:chOff x="914400" y="914400"/>
            <a:chExt cx="10472623" cy="5138928"/>
          </a:xfrm>
        </p:grpSpPr>
        <p:sp>
          <p:nvSpPr>
            <p:cNvPr id="4" name="Rectangle 3"/>
            <p:cNvSpPr/>
            <p:nvPr/>
          </p:nvSpPr>
          <p:spPr>
            <a:xfrm>
              <a:off x="1024128" y="1024128"/>
              <a:ext cx="10362895" cy="502920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914400"/>
              <a:ext cx="10362895" cy="502920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914400"/>
              <a:ext cx="10362895" cy="502920"/>
            </a:xfrm>
            <a:prstGeom prst="rect">
              <a:avLst/>
            </a:prstGeom>
            <a:solidFill>
              <a:srgbClr val="FF3D7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43000" y="106070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44752" y="106070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46504" y="106070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914400"/>
              <a:ext cx="8991295" cy="502920"/>
            </a:xfrm>
            <a:prstGeom prst="rect">
              <a:avLst/>
            </a:prstGeom>
            <a:noFill/>
          </p:spPr>
          <p:txBody>
            <a:bodyPr wrap="none" anchor="ctr">
              <a:spAutoFit/>
            </a:bodyPr>
            <a:lstStyle/>
            <a:p>
              <a:r>
                <a:rPr sz="1600" b="1" i="0">
                  <a:solidFill>
                    <a:srgbClr val="FFFFFF"/>
                  </a:solidFill>
                  <a:latin typeface="Courier New"/>
                </a:rPr>
                <a:t>ENG3861.EXE</a:t>
              </a:r>
            </a:p>
          </p:txBody>
        </p:sp>
      </p:grpSp>
      <p:grpSp>
        <p:nvGrpSpPr>
          <p:cNvPr id="11" name="Unit IMAGES"/>
          <p:cNvGrpSpPr/>
          <p:nvPr/>
        </p:nvGrpSpPr>
        <p:grpSpPr>
          <a:xfrm>
            <a:off x="1371600" y="2560574"/>
            <a:ext cx="1604700" cy="512064"/>
            <a:chOff x="1371600" y="2560574"/>
            <a:chExt cx="1604700" cy="512064"/>
          </a:xfrm>
        </p:grpSpPr>
        <p:sp>
          <p:nvSpPr>
            <p:cNvPr id="12" name="Rounded Rectangle 11"/>
            <p:cNvSpPr/>
            <p:nvPr/>
          </p:nvSpPr>
          <p:spPr>
            <a:xfrm>
              <a:off x="1426464" y="2615438"/>
              <a:ext cx="1549836" cy="457200"/>
            </a:xfrm>
            <a:prstGeom prst="roundRect">
              <a:avLst>
                <a:gd name="adj" fmla="val 50000"/>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371600" y="2560574"/>
              <a:ext cx="1549836" cy="457200"/>
            </a:xfrm>
            <a:prstGeom prst="roundRect">
              <a:avLst>
                <a:gd name="adj" fmla="val 50000"/>
              </a:avLst>
            </a:prstGeom>
            <a:solidFill>
              <a:srgbClr val="FF3D7F"/>
            </a:solidFill>
            <a:ln w="3175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800" b="0" i="0">
                  <a:solidFill>
                    <a:srgbClr val="FFFFFF"/>
                  </a:solidFill>
                  <a:latin typeface="Arial Black"/>
                </a:rPr>
                <a:t>IMAGES</a:t>
              </a:r>
            </a:p>
          </p:txBody>
        </p:sp>
      </p:grpSp>
      <p:sp>
        <p:nvSpPr>
          <p:cNvPr id="14" name="TextBox 13"/>
          <p:cNvSpPr txBox="1"/>
          <p:nvPr/>
        </p:nvSpPr>
        <p:spPr>
          <a:xfrm>
            <a:off x="1280160" y="3200654"/>
            <a:ext cx="9631375" cy="2514346"/>
          </a:xfrm>
          <a:prstGeom prst="rect">
            <a:avLst/>
          </a:prstGeom>
          <a:noFill/>
        </p:spPr>
        <p:txBody>
          <a:bodyPr wrap="square" anchor="t">
            <a:normAutofit/>
          </a:bodyPr>
          <a:lstStyle/>
          <a:p>
            <a:r>
              <a:rPr sz="2400" b="0" i="0">
                <a:solidFill>
                  <a:srgbClr val="4A3F66"/>
                </a:solidFill>
                <a:latin typeface="Courier New"/>
              </a:rPr>
              <a:t>Module Four</a:t>
            </a:r>
          </a:p>
          <a:p>
            <a:r>
              <a:rPr sz="4800" b="0" i="0">
                <a:solidFill>
                  <a:srgbClr val="1B1035"/>
                </a:solidFill>
                <a:latin typeface="Arial Black"/>
              </a:rPr>
              <a:t>Generating Images</a:t>
            </a:r>
          </a:p>
          <a:p>
            <a:r>
              <a:rPr sz="2000" b="0" i="0">
                <a:solidFill>
                  <a:srgbClr val="4A3F66"/>
                </a:solidFill>
                <a:latin typeface="Courier New"/>
              </a:rPr>
              <a:t>&gt; ENG 3861 // FEB 22 – MAR 7, 2027_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Readings</a:t>
            </a:r>
          </a:p>
        </p:txBody>
      </p:sp>
      <p:sp>
        <p:nvSpPr>
          <p:cNvPr id="3" name="TextBox 2"/>
          <p:cNvSpPr txBox="1"/>
          <p:nvPr/>
        </p:nvSpPr>
        <p:spPr>
          <a:xfrm>
            <a:off x="731520" y="457200"/>
            <a:ext cx="10728655" cy="914400"/>
          </a:xfrm>
          <a:prstGeom prst="rect">
            <a:avLst/>
          </a:prstGeom>
          <a:noFill/>
        </p:spPr>
        <p:txBody>
          <a:bodyPr wrap="square" anchor="t">
            <a:normAutofit/>
          </a:bodyPr>
          <a:lstStyle/>
          <a:p>
            <a:r>
              <a:rPr sz="3600" b="0" i="0">
                <a:solidFill>
                  <a:srgbClr val="FF3D7F"/>
                </a:solidFill>
                <a:latin typeface="Arial Black"/>
              </a:rPr>
              <a:t>Readings</a:t>
            </a:r>
          </a:p>
        </p:txBody>
      </p:sp>
      <p:sp>
        <p:nvSpPr>
          <p:cNvPr id="4" name="TextBox 3"/>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200" b="0" i="0">
                <a:solidFill>
                  <a:srgbClr val="1B1035"/>
                </a:solidFill>
                <a:latin typeface="Verdana"/>
              </a:rPr>
              <a:t>Catherine D'Ignazio and Lauren F. Klein, </a:t>
            </a:r>
            <a:r>
              <a:rPr sz="2200" b="0" i="0">
                <a:solidFill>
                  <a:srgbClr val="1B1035"/>
                </a:solidFill>
                <a:latin typeface="Verdana"/>
                <a:hlinkClick r:id="rId2"/>
              </a:rPr>
              <a:t>“The Power Chapter”</a:t>
            </a:r>
            <a:r>
              <a:rPr sz="2200" b="0" i="0">
                <a:solidFill>
                  <a:srgbClr val="1B1035"/>
                </a:solidFill>
                <a:latin typeface="Verdana"/>
              </a:rPr>
              <a:t>, </a:t>
            </a:r>
            <a:r>
              <a:rPr sz="2200" b="0" i="1">
                <a:solidFill>
                  <a:srgbClr val="1B1035"/>
                </a:solidFill>
                <a:latin typeface="Verdana"/>
              </a:rPr>
              <a:t>Data Feminism</a:t>
            </a:r>
            <a:r>
              <a:rPr sz="2200" b="0" i="0">
                <a:solidFill>
                  <a:srgbClr val="1B1035"/>
                </a:solidFill>
                <a:latin typeface="Verdana"/>
              </a:rPr>
              <a:t> (2020)</a:t>
            </a:r>
            <a:r>
              <a:rPr sz="1800" b="0" i="0">
                <a:solidFill>
                  <a:srgbClr val="4A3F66"/>
                </a:solidFill>
                <a:latin typeface="Verdana"/>
              </a:rPr>
              <a:t> — who makes data systems, and who they serve</a:t>
            </a:r>
          </a:p>
          <a:p>
            <a:pPr marL="411480" indent="-320040">
              <a:spcAft>
                <a:spcPts val="1200"/>
              </a:spcAft>
              <a:buChar char="■"/>
            </a:pPr>
            <a:r>
              <a:rPr sz="2200" b="0" i="0">
                <a:solidFill>
                  <a:srgbClr val="1B1035"/>
                </a:solidFill>
                <a:latin typeface="Verdana"/>
              </a:rPr>
              <a:t>Victoria Turk, </a:t>
            </a:r>
            <a:r>
              <a:rPr sz="2200" b="0" i="0">
                <a:solidFill>
                  <a:srgbClr val="1B1035"/>
                </a:solidFill>
                <a:latin typeface="Verdana"/>
                <a:hlinkClick r:id="rId3"/>
              </a:rPr>
              <a:t>“How AI reduces the world to stereotypes”</a:t>
            </a:r>
            <a:r>
              <a:rPr sz="2200" b="0" i="0">
                <a:solidFill>
                  <a:srgbClr val="1B1035"/>
                </a:solidFill>
                <a:latin typeface="Verdana"/>
              </a:rPr>
              <a:t>, </a:t>
            </a:r>
            <a:r>
              <a:rPr sz="2200" b="0" i="1">
                <a:solidFill>
                  <a:srgbClr val="1B1035"/>
                </a:solidFill>
                <a:latin typeface="Verdana"/>
              </a:rPr>
              <a:t>Rest of World</a:t>
            </a:r>
            <a:r>
              <a:rPr sz="2200" b="0" i="0">
                <a:solidFill>
                  <a:srgbClr val="1B1035"/>
                </a:solidFill>
                <a:latin typeface="Verdana"/>
              </a:rPr>
              <a:t> (2023)</a:t>
            </a:r>
            <a:r>
              <a:rPr sz="1800" b="0" i="0">
                <a:solidFill>
                  <a:srgbClr val="4A3F66"/>
                </a:solidFill>
                <a:latin typeface="Verdana"/>
              </a:rPr>
              <a:t> — 3,000 Midjourney images of people and places</a:t>
            </a:r>
          </a:p>
          <a:p>
            <a:pPr marL="411480" indent="-320040">
              <a:spcAft>
                <a:spcPts val="1200"/>
              </a:spcAft>
              <a:buChar char="■"/>
            </a:pPr>
            <a:r>
              <a:rPr sz="2200" b="0" i="0">
                <a:solidFill>
                  <a:srgbClr val="1B1035"/>
                </a:solidFill>
                <a:latin typeface="Verdana"/>
              </a:rPr>
              <a:t>Ian Demsky, </a:t>
            </a:r>
            <a:r>
              <a:rPr sz="2200" b="0" i="0">
                <a:solidFill>
                  <a:srgbClr val="1B1035"/>
                </a:solidFill>
                <a:latin typeface="Verdana"/>
                <a:hlinkClick r:id="rId4"/>
              </a:rPr>
              <a:t>“My Month with Midjourney”</a:t>
            </a:r>
            <a:r>
              <a:rPr sz="2200" b="0" i="0">
                <a:solidFill>
                  <a:srgbClr val="1B1035"/>
                </a:solidFill>
                <a:latin typeface="Verdana"/>
              </a:rPr>
              <a:t>, </a:t>
            </a:r>
            <a:r>
              <a:rPr sz="2200" b="0" i="1">
                <a:solidFill>
                  <a:srgbClr val="1B1035"/>
                </a:solidFill>
                <a:latin typeface="Verdana"/>
              </a:rPr>
              <a:t>Electronic Book Review</a:t>
            </a:r>
            <a:r>
              <a:rPr sz="2200" b="0" i="0">
                <a:solidFill>
                  <a:srgbClr val="1B1035"/>
                </a:solidFill>
                <a:latin typeface="Verdana"/>
              </a:rPr>
              <a:t> (2023)</a:t>
            </a:r>
            <a:r>
              <a:rPr sz="1800" b="0" i="0">
                <a:solidFill>
                  <a:srgbClr val="4A3F66"/>
                </a:solidFill>
                <a:latin typeface="Verdana"/>
              </a:rPr>
              <a:t> — a writer's month-long experiment with an image generator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3D7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From words to images</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FFFFFF"/>
                </a:solidFill>
                <a:latin typeface="Arial Black"/>
              </a:rPr>
              <a:t>From words to images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Before the prompt box: 2018-era GANs turning horses into zebras</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CycleGAN example grid: a photo of two zebras converted into two brown horses, and a photo of a running brown horse converted into a zebra."/>
          <p:cNvPicPr>
            <a:picLocks noChangeAspect="1"/>
          </p:cNvPicPr>
          <p:nvPr/>
        </p:nvPicPr>
        <p:blipFill>
          <a:blip r:embed="rId2"/>
          <a:stretch>
            <a:fillRect/>
          </a:stretch>
        </p:blipFill>
        <p:spPr>
          <a:xfrm>
            <a:off x="3611556" y="1097280"/>
            <a:ext cx="4968582"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Before the prompt box: 2018-era GANs turning horses into zebras </a:t>
            </a:r>
            <a:r>
              <a:rPr sz="1800" b="0" i="0">
                <a:solidFill>
                  <a:srgbClr val="1B1035"/>
                </a:solidFill>
                <a:latin typeface="Verdana"/>
                <a:hlinkClick r:id="rId3"/>
              </a:rPr>
              <a:t>source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Now: type a description, get an image</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Stable Diffusion Online web page with a 'What do you want to draw?' prompt box and a gallery of example images."/>
          <p:cNvPicPr>
            <a:picLocks noChangeAspect="1"/>
          </p:cNvPicPr>
          <p:nvPr/>
        </p:nvPicPr>
        <p:blipFill>
          <a:blip r:embed="rId2"/>
          <a:stretch>
            <a:fillRect/>
          </a:stretch>
        </p:blipFill>
        <p:spPr>
          <a:xfrm>
            <a:off x="3293716" y="1097280"/>
            <a:ext cx="5604262"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Now: type a description, get an image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Ian Demsky, 2023</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“Midjourney is a dazzling, dizzying, exciting tool to play with. I described it to one friend (who later bought their own unlimited subscription) as a “slot machine for poets.””</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Ian Demsky, 2023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“The avengers by Jan van Eyck,” from Demsky's experiment, December 2022</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Midjourney image in the style of a Flemish oil portrait: four figures in Renaissance dress, one wearing an Iron Man helmet, captioned 'Midjourney prompt the avengers by Jan van Eyck (December 14, 2022).'"/>
          <p:cNvPicPr>
            <a:picLocks noChangeAspect="1"/>
          </p:cNvPicPr>
          <p:nvPr/>
        </p:nvPicPr>
        <p:blipFill>
          <a:blip r:embed="rId2"/>
          <a:stretch>
            <a:fillRect/>
          </a:stretch>
        </p:blipFill>
        <p:spPr>
          <a:xfrm>
            <a:off x="3937705" y="1097280"/>
            <a:ext cx="4316284"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“The avengers by Jan van Eyck,” from Demsky's experiment, December 2022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The same prompt in 2026: sharper detail, the same borrowed characters</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Highly detailed generated image of five costumed figures in a Flemish interior: Spider-Man seated in the center, flanked by figures in red cloaks and armor."/>
          <p:cNvPicPr>
            <a:picLocks noChangeAspect="1"/>
          </p:cNvPicPr>
          <p:nvPr/>
        </p:nvPicPr>
        <p:blipFill>
          <a:blip r:embed="rId2"/>
          <a:stretch>
            <a:fillRect/>
          </a:stretch>
        </p:blipFill>
        <p:spPr>
          <a:xfrm>
            <a:off x="3878427" y="1097280"/>
            <a:ext cx="4434840"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The same prompt in 2026: sharper detail, the same borrowed characters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Ian Demsky, 2023</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“But one thing quickly became obvious: The technology is at its best when it’s directly exploiting the labors of human artists and the likenesses of real people.”</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Ian Demsky, 2023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Style as a menu: pick an artist to imitate</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Dark interface titled 'Select one or several artists' showing a grid of style thumbnails labeled with artist names including Basquiat, Warhol, Rothko, Picasso, Kusama, and Van Gogh."/>
          <p:cNvPicPr>
            <a:picLocks noChangeAspect="1"/>
          </p:cNvPicPr>
          <p:nvPr/>
        </p:nvPicPr>
        <p:blipFill>
          <a:blip r:embed="rId2"/>
          <a:stretch>
            <a:fillRect/>
          </a:stretch>
        </p:blipFill>
        <p:spPr>
          <a:xfrm>
            <a:off x="1999628" y="1097280"/>
            <a:ext cx="8192438"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Style as a menu: pick an artist to imitate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Generated characters and copyright: Warner Bros. sues Midjourney (2025)</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Variety article 'Warner Bros. Joins Studios' AI Copyright Battle Against Midjourney' with two Midjourney-generated images of Superman flying over a city."/>
          <p:cNvPicPr>
            <a:picLocks noChangeAspect="1"/>
          </p:cNvPicPr>
          <p:nvPr/>
        </p:nvPicPr>
        <p:blipFill>
          <a:blip r:embed="rId2"/>
          <a:stretch>
            <a:fillRect/>
          </a:stretch>
        </p:blipFill>
        <p:spPr>
          <a:xfrm>
            <a:off x="4609059" y="1097280"/>
            <a:ext cx="2973576"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Generated characters and copyright: Warner Bros. sues Midjourney (2025) </a:t>
            </a:r>
            <a:r>
              <a:rPr sz="1800" b="0" i="0">
                <a:solidFill>
                  <a:srgbClr val="1B1035"/>
                </a:solidFill>
                <a:latin typeface="Verdana"/>
                <a:hlinkClick r:id="rId3"/>
              </a:rPr>
              <a:t>source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3D7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Examine power</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FFFFFF"/>
                </a:solidFill>
                <a:latin typeface="Arial Black"/>
              </a:rPr>
              <a:t>Examine power</a:t>
            </a:r>
          </a:p>
          <a:p>
            <a:pPr algn="ctr">
              <a:spcBef>
                <a:spcPts val="1000"/>
              </a:spcBef>
            </a:pPr>
            <a:r>
              <a:rPr sz="2800" b="0" i="0">
                <a:solidFill>
                  <a:srgbClr val="FFFFFF"/>
                </a:solidFill>
                <a:latin typeface="Courier New"/>
              </a:rPr>
              <a:t>D'Ignazio and Klein's first principle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Catherine D'Ignazio and Lauren F. Klein, 2020</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“This consists of asking who questions about data science: Who does the work (and who is pushed out)? Who benefits (and who is neglected or harmed)? Whose priorities get turned into products (and whose are overlooked)?”</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Catherine D'Ignazio and Lauren F. Klein, 2020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Catherine D'Ignazio and Lauren F. Klein, 2020</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“When data teams are primarily composed of people from dominant groups, those perspectives come to exert outsized influence on the decisions being made—to the exclusion of other identities and perspectives. This is not usually intentional; it comes from the ignorance of being on top. We describe this deficiency as a privilege hazard.”</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Catherine D'Ignazio and Lauren F. Klein, 2020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Catherine D'Ignazio and Lauren F. Klein, 2020</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“And data are never neutral; they are always the biased output of unequal social, historical, and economic conditions: this is the matrix of domination once again.”</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Catherine D'Ignazio and Lauren F. Klein, 2020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3D7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Stereotypes at scale</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FFFFFF"/>
                </a:solidFill>
                <a:latin typeface="Arial Black"/>
              </a:rPr>
              <a:t>Stereotypes at scale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Victoria Turk, Rest of World, 2023</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“Out of 100 images for “an Indian person,” 99 seemed to depict a man, and almost all appeared to be over 60 years old, with visible wrinkles and gray or white hair.”</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Victoria Turk, </a:t>
            </a:r>
            <a:r>
              <a:rPr sz="1600" b="0" i="1">
                <a:solidFill>
                  <a:srgbClr val="4A3F66"/>
                </a:solidFill>
                <a:latin typeface="Courier New"/>
                <a:hlinkClick r:id="rId2"/>
              </a:rPr>
              <a:t>Rest of World</a:t>
            </a:r>
            <a:r>
              <a:rPr sz="1600" b="0" i="0">
                <a:solidFill>
                  <a:srgbClr val="4A3F66"/>
                </a:solidFill>
                <a:latin typeface="Courier New"/>
                <a:hlinkClick r:id="rId2"/>
              </a:rPr>
              <a:t>, 2023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Victoria Turk, Rest of World, 2023</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“For the “American person” prompt, national identity appeared to be overwhelmingly portrayed by the presence of U.S. flags. All 100 images created for the prompt featured a flag, whereas none of the queries for the other nationalities came up with any flags at all.”</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Victoria Turk, </a:t>
            </a:r>
            <a:r>
              <a:rPr sz="1600" b="0" i="1">
                <a:solidFill>
                  <a:srgbClr val="4A3F66"/>
                </a:solidFill>
                <a:latin typeface="Courier New"/>
                <a:hlinkClick r:id="rId2"/>
              </a:rPr>
              <a:t>Rest of World</a:t>
            </a:r>
            <a:r>
              <a:rPr sz="1600" b="0" i="0">
                <a:solidFill>
                  <a:srgbClr val="4A3F66"/>
                </a:solidFill>
                <a:latin typeface="Courier New"/>
                <a:hlinkClick r:id="rId2"/>
              </a:rPr>
              <a:t>, 2023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Amba Kak (AI Now Institute), quoted by Victoria Turk</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“Essentially what this is doing is flattening descriptions of, say, ‘an Indian person’ or ‘a Nigerian house’ into particular stereotypes which could be viewed in a negative light”</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Amba Kak (AI Now Institute), quoted by Victoria Turk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Victoria Turk, Rest of World, 2023</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“The AI systems look for patterns in the data on which they’re trained, often discarding outliers in favor of producing a result that stays closer to dominant trends. They’re designed to mimic what has come before, not create diversity.”</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Victoria Turk, </a:t>
            </a:r>
            <a:r>
              <a:rPr sz="1600" b="0" i="1">
                <a:solidFill>
                  <a:srgbClr val="4A3F66"/>
                </a:solidFill>
                <a:latin typeface="Courier New"/>
                <a:hlinkClick r:id="rId2"/>
              </a:rPr>
              <a:t>Rest of World</a:t>
            </a:r>
            <a:r>
              <a:rPr sz="1600" b="0" i="0">
                <a:solidFill>
                  <a:srgbClr val="4A3F66"/>
                </a:solidFill>
                <a:latin typeface="Courier New"/>
                <a:hlinkClick r:id="rId2"/>
              </a:rPr>
              <a:t>, 2023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Prompt: “Toys in Iraq.” Every toy is a soldier with a gun.</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Grid of AI-generated images for the prompt 'Toys in Iraq': every image shows a toy soldier figure in desert camouflage holding a rifle."/>
          <p:cNvPicPr>
            <a:picLocks noChangeAspect="1"/>
          </p:cNvPicPr>
          <p:nvPr/>
        </p:nvPicPr>
        <p:blipFill>
          <a:blip r:embed="rId2"/>
          <a:stretch>
            <a:fillRect/>
          </a:stretch>
        </p:blipFill>
        <p:spPr>
          <a:xfrm>
            <a:off x="1397924" y="1097280"/>
            <a:ext cx="9395847" cy="4434840"/>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Prompt: “Toys in Iraq.” Every toy is a soldier with a gun. </a:t>
            </a:r>
            <a:r>
              <a:rPr sz="1800" b="0" i="0">
                <a:solidFill>
                  <a:srgbClr val="1B1035"/>
                </a:solidFill>
                <a:latin typeface="Verdana"/>
                <a:hlinkClick r:id="rId3"/>
              </a:rPr>
              <a:t>source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Prompt: “beautiful woman.” Whose beauty is the default?</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Four Midjourney portraits for the prompt 'beautiful woman': all young, light-skinned women with dark tousled hair and light eyes."/>
          <p:cNvPicPr>
            <a:picLocks noChangeAspect="1"/>
          </p:cNvPicPr>
          <p:nvPr/>
        </p:nvPicPr>
        <p:blipFill>
          <a:blip r:embed="rId2"/>
          <a:stretch>
            <a:fillRect/>
          </a:stretch>
        </p:blipFill>
        <p:spPr>
          <a:xfrm>
            <a:off x="1188720" y="2066446"/>
            <a:ext cx="9814255" cy="2496508"/>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Prompt: “beautiful woman.” Whose beauty is the default?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Ian Demsky, 2023</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“With nothing but this single word to go on, Midjourney coughed up generic, white, commercially pretty and vaguely science-fiction-inspired female faces. It’s clear that the program, and the technologies it relies on, have inherent biases.”</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Ian Demsky, 2023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3D7F"/>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Next week, Do: Prompting Images</a:t>
            </a:r>
          </a:p>
        </p:txBody>
      </p:sp>
      <p:sp>
        <p:nvSpPr>
          <p:cNvPr id="3" name="TextBox 2"/>
          <p:cNvSpPr txBox="1"/>
          <p:nvPr/>
        </p:nvSpPr>
        <p:spPr>
          <a:xfrm>
            <a:off x="274320" y="1417320"/>
            <a:ext cx="11643055" cy="4023360"/>
          </a:xfrm>
          <a:prstGeom prst="rect">
            <a:avLst/>
          </a:prstGeom>
          <a:noFill/>
        </p:spPr>
        <p:txBody>
          <a:bodyPr wrap="square" anchor="ctr">
            <a:normAutofit/>
          </a:bodyPr>
          <a:lstStyle/>
          <a:p>
            <a:pPr algn="ctr"/>
            <a:r>
              <a:rPr sz="5400" b="0" i="0">
                <a:solidFill>
                  <a:srgbClr val="FFFFFF"/>
                </a:solidFill>
                <a:latin typeface="Arial Black"/>
              </a:rPr>
              <a:t>Next week, Do:</a:t>
            </a:r>
            <a:br/>
            <a:r>
              <a:rPr sz="5400" b="0" i="0">
                <a:solidFill>
                  <a:srgbClr val="FFFFFF"/>
                </a:solidFill>
                <a:latin typeface="Arial Black"/>
              </a:rPr>
              <a:t>Prompting Images</a:t>
            </a:r>
          </a:p>
          <a:p>
            <a:pPr algn="ctr">
              <a:spcBef>
                <a:spcPts val="1000"/>
              </a:spcBef>
            </a:pPr>
            <a:r>
              <a:rPr sz="2400" b="0" i="0">
                <a:solidFill>
                  <a:srgbClr val="FFFFFF"/>
                </a:solidFill>
                <a:latin typeface="Courier New"/>
              </a:rPr>
              <a:t>watch the video, then do the exercise and post by Thursday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Four prompts</a:t>
            </a:r>
          </a:p>
        </p:txBody>
      </p:sp>
      <p:sp>
        <p:nvSpPr>
          <p:cNvPr id="3" name="TextBox 2"/>
          <p:cNvSpPr txBox="1"/>
          <p:nvPr/>
        </p:nvSpPr>
        <p:spPr>
          <a:xfrm>
            <a:off x="731520" y="457200"/>
            <a:ext cx="10728655" cy="914400"/>
          </a:xfrm>
          <a:prstGeom prst="rect">
            <a:avLst/>
          </a:prstGeom>
          <a:noFill/>
        </p:spPr>
        <p:txBody>
          <a:bodyPr wrap="square" anchor="t">
            <a:normAutofit/>
          </a:bodyPr>
          <a:lstStyle/>
          <a:p>
            <a:r>
              <a:rPr sz="3600" b="0" i="0">
                <a:solidFill>
                  <a:srgbClr val="FF3D7F"/>
                </a:solidFill>
                <a:latin typeface="Arial Black"/>
              </a:rPr>
              <a:t>Four prompts</a:t>
            </a:r>
          </a:p>
        </p:txBody>
      </p:sp>
      <p:sp>
        <p:nvSpPr>
          <p:cNvPr id="4" name="TextBox 3"/>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400" b="1" i="0">
                <a:solidFill>
                  <a:srgbClr val="1B1035"/>
                </a:solidFill>
                <a:latin typeface="Verdana"/>
              </a:rPr>
              <a:t>A general identity:</a:t>
            </a:r>
            <a:r>
              <a:rPr sz="2400" b="0" i="0">
                <a:solidFill>
                  <a:srgbClr val="1B1035"/>
                </a:solidFill>
                <a:latin typeface="Verdana"/>
              </a:rPr>
              <a:t> “a college student,” then “make it more”</a:t>
            </a:r>
          </a:p>
          <a:p>
            <a:pPr marL="411480" indent="-320040">
              <a:spcAft>
                <a:spcPts val="1200"/>
              </a:spcAft>
              <a:buChar char="■"/>
            </a:pPr>
            <a:r>
              <a:rPr sz="2400" b="1" i="0">
                <a:solidFill>
                  <a:srgbClr val="1B1035"/>
                </a:solidFill>
                <a:latin typeface="Verdana"/>
              </a:rPr>
              <a:t>Adding identity markers:</a:t>
            </a:r>
            <a:r>
              <a:rPr sz="2400" b="0" i="0">
                <a:solidFill>
                  <a:srgbClr val="1B1035"/>
                </a:solidFill>
                <a:latin typeface="Verdana"/>
              </a:rPr>
              <a:t> what changes, and what doesn't?</a:t>
            </a:r>
          </a:p>
          <a:p>
            <a:pPr marL="411480" indent="-320040">
              <a:spcAft>
                <a:spcPts val="1200"/>
              </a:spcAft>
              <a:buChar char="■"/>
            </a:pPr>
            <a:r>
              <a:rPr sz="2400" b="1" i="0">
                <a:solidFill>
                  <a:srgbClr val="1B1035"/>
                </a:solidFill>
                <a:latin typeface="Verdana"/>
              </a:rPr>
              <a:t>A place:</a:t>
            </a:r>
            <a:r>
              <a:rPr sz="2400" b="0" i="0">
                <a:solidFill>
                  <a:srgbClr val="1B1035"/>
                </a:solidFill>
                <a:latin typeface="Verdana"/>
              </a:rPr>
              <a:t> “a house in [a country],” following Turk</a:t>
            </a:r>
          </a:p>
          <a:p>
            <a:pPr marL="411480" indent="-320040">
              <a:spcAft>
                <a:spcPts val="1200"/>
              </a:spcAft>
              <a:buChar char="■"/>
            </a:pPr>
            <a:r>
              <a:rPr sz="2400" b="1" i="0">
                <a:solidFill>
                  <a:srgbClr val="1B1035"/>
                </a:solidFill>
                <a:latin typeface="Verdana"/>
              </a:rPr>
              <a:t>Copyright boundaries:</a:t>
            </a:r>
            <a:r>
              <a:rPr sz="2400" b="0" i="0">
                <a:solidFill>
                  <a:srgbClr val="1B1035"/>
                </a:solidFill>
                <a:latin typeface="Verdana"/>
              </a:rPr>
              <a:t> a famous character, then a generic version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Example: “professor of digital culture.” Spot the pattern.</a:t>
            </a:r>
          </a:p>
        </p:txBody>
      </p:sp>
      <p:grpSp>
        <p:nvGrpSpPr>
          <p:cNvPr id="3" name="Window image.png">
            <a:extLst>
              <a:ext uri="{C183D7F6-B498-43B3-948B-1728B52AA6E4}">
                <adec:decorative xmlns:adec="http://schemas.microsoft.com/office/drawing/2017/decorative" val="1"/>
              </a:ext>
            </a:extLst>
          </p:cNvPr>
          <p:cNvGrpSpPr/>
          <p:nvPr/>
        </p:nvGrpSpPr>
        <p:grpSpPr>
          <a:xfrm>
            <a:off x="822960" y="365760"/>
            <a:ext cx="10655503" cy="5504688"/>
            <a:chOff x="822960" y="365760"/>
            <a:chExt cx="10655503" cy="5504688"/>
          </a:xfrm>
        </p:grpSpPr>
        <p:sp>
          <p:nvSpPr>
            <p:cNvPr id="4" name="Rectangle 3"/>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6576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1" name="Picture 10" descr="Two rows of four photorealistic Midjourney portraits for 'woman professor of digital culture' and 'professor of digital culture': nearly all white, middle-aged, and wearing dark-framed glasses."/>
          <p:cNvPicPr>
            <a:picLocks noChangeAspect="1"/>
          </p:cNvPicPr>
          <p:nvPr/>
        </p:nvPicPr>
        <p:blipFill>
          <a:blip r:embed="rId2"/>
          <a:stretch>
            <a:fillRect/>
          </a:stretch>
        </p:blipFill>
        <p:spPr>
          <a:xfrm>
            <a:off x="1188720" y="1349753"/>
            <a:ext cx="9814255" cy="3929893"/>
          </a:xfrm>
          <a:prstGeom prst="rect">
            <a:avLst/>
          </a:prstGeom>
        </p:spPr>
      </p:pic>
      <p:sp>
        <p:nvSpPr>
          <p:cNvPr id="12" name="TextBox 11"/>
          <p:cNvSpPr txBox="1"/>
          <p:nvPr/>
        </p:nvSpPr>
        <p:spPr>
          <a:xfrm>
            <a:off x="822960" y="5943600"/>
            <a:ext cx="10545775" cy="731520"/>
          </a:xfrm>
          <a:prstGeom prst="rect">
            <a:avLst/>
          </a:prstGeom>
          <a:noFill/>
        </p:spPr>
        <p:txBody>
          <a:bodyPr wrap="square" anchor="t">
            <a:normAutofit/>
          </a:bodyPr>
          <a:lstStyle/>
          <a:p>
            <a:pPr algn="ctr"/>
            <a:r>
              <a:rPr sz="1800" b="0" i="0">
                <a:solidFill>
                  <a:srgbClr val="1B1035"/>
                </a:solidFill>
                <a:latin typeface="Verdana"/>
              </a:rPr>
              <a:t>Example: “professor of digital culture.” Spot the pattern.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Discussion question</a:t>
            </a:r>
          </a:p>
        </p:txBody>
      </p:sp>
      <p:grpSp>
        <p:nvGrpSpPr>
          <p:cNvPr id="3" name="Window discuss.txt">
            <a:extLst>
              <a:ext uri="{C183D7F6-B498-43B3-948B-1728B52AA6E4}">
                <adec:decorative xmlns:adec="http://schemas.microsoft.com/office/drawing/2017/decorative" val="1"/>
              </a:ext>
            </a:extLst>
          </p:cNvPr>
          <p:cNvGrpSpPr/>
          <p:nvPr/>
        </p:nvGrpSpPr>
        <p:grpSpPr>
          <a:xfrm>
            <a:off x="1097280" y="914400"/>
            <a:ext cx="10106863" cy="5138928"/>
            <a:chOff x="1097280" y="914400"/>
            <a:chExt cx="10106863" cy="5138928"/>
          </a:xfrm>
        </p:grpSpPr>
        <p:sp>
          <p:nvSpPr>
            <p:cNvPr id="4" name="Rectangle 3"/>
            <p:cNvSpPr/>
            <p:nvPr/>
          </p:nvSpPr>
          <p:spPr>
            <a:xfrm>
              <a:off x="1207008" y="1024128"/>
              <a:ext cx="9997135" cy="502920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914400"/>
              <a:ext cx="9997135" cy="502920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914400"/>
              <a:ext cx="999713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25880" y="106070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27632" y="106070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29384" y="106070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1720" y="914400"/>
              <a:ext cx="8625535" cy="502920"/>
            </a:xfrm>
            <a:prstGeom prst="rect">
              <a:avLst/>
            </a:prstGeom>
            <a:noFill/>
          </p:spPr>
          <p:txBody>
            <a:bodyPr wrap="none" anchor="ctr">
              <a:spAutoFit/>
            </a:bodyPr>
            <a:lstStyle/>
            <a:p>
              <a:r>
                <a:rPr sz="1600" b="1" i="0">
                  <a:solidFill>
                    <a:srgbClr val="1B1035"/>
                  </a:solidFill>
                  <a:latin typeface="Courier New"/>
                </a:rPr>
                <a:t>discuss.txt</a:t>
              </a:r>
            </a:p>
          </p:txBody>
        </p:sp>
      </p:grpSp>
      <p:sp>
        <p:nvSpPr>
          <p:cNvPr id="11" name="TextBox 10"/>
          <p:cNvSpPr txBox="1"/>
          <p:nvPr/>
        </p:nvSpPr>
        <p:spPr>
          <a:xfrm>
            <a:off x="1463040" y="1645920"/>
            <a:ext cx="9265615" cy="4069080"/>
          </a:xfrm>
          <a:prstGeom prst="rect">
            <a:avLst/>
          </a:prstGeom>
          <a:noFill/>
        </p:spPr>
        <p:txBody>
          <a:bodyPr wrap="square" anchor="ctr">
            <a:normAutofit/>
          </a:bodyPr>
          <a:lstStyle/>
          <a:p>
            <a:r>
              <a:rPr sz="3200" b="0" i="0">
                <a:solidFill>
                  <a:srgbClr val="1B1035"/>
                </a:solidFill>
                <a:latin typeface="Arial Black"/>
              </a:rPr>
              <a:t>Using D'Ignazio and Klein's who questions: whose view of the world do your images reflect?</a:t>
            </a:r>
          </a:p>
          <a:p>
            <a:pPr>
              <a:spcBef>
                <a:spcPts val="1200"/>
              </a:spcBef>
            </a:pPr>
            <a:r>
              <a:rPr sz="2000" b="0" i="0">
                <a:solidFill>
                  <a:srgbClr val="4A3F66"/>
                </a:solidFill>
                <a:latin typeface="Verdana"/>
              </a:rPr>
              <a:t>Post: 4 images with prompts (4 pts), a 250+ word reflection (3), one citation (1), two replies (2).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itle 1"/>
          <p:cNvSpPr>
            <a:spLocks noGrp="1"/>
          </p:cNvSpPr>
          <p:nvPr>
            <p:ph type="title"/>
          </p:nvPr>
        </p:nvSpPr>
        <p:spPr>
          <a:xfrm>
            <a:off x="-12191695" y="0"/>
            <a:ext cx="12191695" cy="914400"/>
          </a:xfrm>
        </p:spPr>
        <p:txBody>
          <a:bodyPr/>
          <a:lstStyle/>
          <a:p>
            <a:r>
              <a:t>Quote: Ian Demsky, 2023</a:t>
            </a:r>
          </a:p>
        </p:txBody>
      </p:sp>
      <p:grpSp>
        <p:nvGrpSpPr>
          <p:cNvPr id="3" name="Window quote.txt">
            <a:extLst>
              <a:ext uri="{C183D7F6-B498-43B3-948B-1728B52AA6E4}">
                <adec:decorative xmlns:adec="http://schemas.microsoft.com/office/drawing/2017/decorative" val="1"/>
              </a:ext>
            </a:extLst>
          </p:cNvPr>
          <p:cNvGrpSpPr/>
          <p:nvPr/>
        </p:nvGrpSpPr>
        <p:grpSpPr>
          <a:xfrm>
            <a:off x="822960" y="640080"/>
            <a:ext cx="10655503" cy="5687568"/>
            <a:chOff x="822960" y="640080"/>
            <a:chExt cx="10655503" cy="5687568"/>
          </a:xfrm>
        </p:grpSpPr>
        <p:sp>
          <p:nvSpPr>
            <p:cNvPr id="4" name="Rectangle 3"/>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64008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1" name="TextBox 10"/>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“In the end, I feel like I’m asking you to hate these images I made, because hating them is the right thing to do — as is hating the exploitative, amoral, dehumanizing technology that makes them possible. And yet part of me still wants you to look at them and like them and think they’re cool.”</a:t>
            </a:r>
          </a:p>
        </p:txBody>
      </p:sp>
      <p:sp>
        <p:nvSpPr>
          <p:cNvPr id="12" name="TextBox 11"/>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Ian Demsky, 2023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Four: Generating Images</dc:title>
  <dc:subject/>
  <dc:creator>ENG 3861</dc:creator>
  <cp:keywords/>
  <dc:description>generated using python-pptx</dc:description>
  <cp:lastModifiedBy/>
  <cp:revision>1</cp:revision>
  <dcterms:created xsi:type="dcterms:W3CDTF">2027-01-01T00:00:00Z</dcterms:created>
  <dcterms:modified xsi:type="dcterms:W3CDTF">2027-01-01T00:00:00Z</dcterms:modified>
  <cp:category/>
</cp:coreProperties>
</file>