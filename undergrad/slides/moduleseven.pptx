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to the semester: every failed prompt you documented counted.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dhdebates.gc.cuny.edu/read/untitled-88c11800-9446-469b-a3be-3fdb36bfbd1e/section/9e014167-c688-43ab-8b12-0f6746095335" TargetMode="External"/><Relationship Id="rId3" Type="http://schemas.openxmlformats.org/officeDocument/2006/relationships/hyperlink" Target="https://tedunderwood.com/2025/07/02/a-more-interesting-upside-of-ai/"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dhdebates.gc.cuny.edu/read/untitled-88c11800-9446-469b-a3be-3fdb36bfbd1e/section/9e014167-c688-43ab-8b12-0f6746095335"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dhdebates.gc.cuny.edu/read/untitled-88c11800-9446-469b-a3be-3fdb36bfbd1e/section/9e014167-c688-43ab-8b12-0f6746095335"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dhdebates.gc.cuny.edu/read/untitled-88c11800-9446-469b-a3be-3fdb36bfbd1e/section/9e014167-c688-43ab-8b12-0f6746095335"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dhdebates.gc.cuny.edu/read/untitled-88c11800-9446-469b-a3be-3fdb36bfbd1e/section/9e014167-c688-43ab-8b12-0f6746095335" TargetMode="External"/><Relationship Id="rId3"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hyperlink" Target="https://www.bloodinthemachine.com/p/artists-are-losing-work-wages-and"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tedunderwood.com/2025/07/02/a-more-interesting-upside-of-ai/"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tedunderwood.com/2025/07/02/a-more-interesting-upside-of-ai/"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tedunderwood.com/2025/07/02/a-more-interesting-upside-of-ai/"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tedunderwood.com/2025/07/02/a-more-interesting-upside-of-ai/"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jpg"/><Relationship Id="rId3" Type="http://schemas.openxmlformats.org/officeDocument/2006/relationships/hyperlink" Target="https://www.netflix.com/title/82792555"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Module Seven: Values and Futures</a:t>
            </a:r>
          </a:p>
        </p:txBody>
      </p:sp>
      <p:grpSp>
        <p:nvGrpSpPr>
          <p:cNvPr id="3" name="Window ENG3861.EXE">
            <a:extLst>
              <a:ext uri="{C183D7F6-B498-43B3-948B-1728B52AA6E4}">
                <adec:decorative xmlns:adec="http://schemas.microsoft.com/office/drawing/2017/decorative" val="1"/>
              </a:ext>
            </a:extLst>
          </p:cNvPr>
          <p:cNvGrpSpPr/>
          <p:nvPr/>
        </p:nvGrpSpPr>
        <p:grpSpPr>
          <a:xfrm>
            <a:off x="914400" y="914400"/>
            <a:ext cx="10472623" cy="5138928"/>
            <a:chOff x="914400" y="914400"/>
            <a:chExt cx="10472623" cy="5138928"/>
          </a:xfrm>
        </p:grpSpPr>
        <p:sp>
          <p:nvSpPr>
            <p:cNvPr id="4" name="Rectangle 3"/>
            <p:cNvSpPr/>
            <p:nvPr/>
          </p:nvSpPr>
          <p:spPr>
            <a:xfrm>
              <a:off x="1024128" y="1024128"/>
              <a:ext cx="1036289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914400"/>
              <a:ext cx="1036289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914400"/>
              <a:ext cx="10362895" cy="502920"/>
            </a:xfrm>
            <a:prstGeom prst="rect">
              <a:avLst/>
            </a:prstGeom>
            <a:solidFill>
              <a:srgbClr val="FF3D7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300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4475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4650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914400"/>
              <a:ext cx="8991295" cy="502920"/>
            </a:xfrm>
            <a:prstGeom prst="rect">
              <a:avLst/>
            </a:prstGeom>
            <a:noFill/>
          </p:spPr>
          <p:txBody>
            <a:bodyPr wrap="none" anchor="ctr">
              <a:spAutoFit/>
            </a:bodyPr>
            <a:lstStyle/>
            <a:p>
              <a:r>
                <a:rPr sz="1600" b="1" i="0">
                  <a:solidFill>
                    <a:srgbClr val="FFFFFF"/>
                  </a:solidFill>
                  <a:latin typeface="Courier New"/>
                </a:rPr>
                <a:t>ENG3861.EXE</a:t>
              </a:r>
            </a:p>
          </p:txBody>
        </p:sp>
      </p:grpSp>
      <p:grpSp>
        <p:nvGrpSpPr>
          <p:cNvPr id="11" name="Unit FUTURES"/>
          <p:cNvGrpSpPr/>
          <p:nvPr/>
        </p:nvGrpSpPr>
        <p:grpSpPr>
          <a:xfrm>
            <a:off x="1371600" y="2560574"/>
            <a:ext cx="1808226" cy="512064"/>
            <a:chOff x="1371600" y="2560574"/>
            <a:chExt cx="1808226" cy="512064"/>
          </a:xfrm>
        </p:grpSpPr>
        <p:sp>
          <p:nvSpPr>
            <p:cNvPr id="12" name="Rounded Rectangle 11"/>
            <p:cNvSpPr/>
            <p:nvPr/>
          </p:nvSpPr>
          <p:spPr>
            <a:xfrm>
              <a:off x="1426464" y="2615438"/>
              <a:ext cx="1753362" cy="457200"/>
            </a:xfrm>
            <a:prstGeom prst="roundRect">
              <a:avLst>
                <a:gd name="adj" fmla="val 50000"/>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371600" y="2560574"/>
              <a:ext cx="1753362" cy="457200"/>
            </a:xfrm>
            <a:prstGeom prst="roundRect">
              <a:avLst>
                <a:gd name="adj" fmla="val 50000"/>
              </a:avLst>
            </a:prstGeom>
            <a:solidFill>
              <a:srgbClr val="FF7A1A"/>
            </a:solidFill>
            <a:ln w="3175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800" b="0" i="0">
                  <a:solidFill>
                    <a:srgbClr val="1B1035"/>
                  </a:solidFill>
                  <a:latin typeface="Arial Black"/>
                </a:rPr>
                <a:t>FUTURES</a:t>
              </a:r>
            </a:p>
          </p:txBody>
        </p:sp>
      </p:grpSp>
      <p:sp>
        <p:nvSpPr>
          <p:cNvPr id="14" name="TextBox 13"/>
          <p:cNvSpPr txBox="1"/>
          <p:nvPr/>
        </p:nvSpPr>
        <p:spPr>
          <a:xfrm>
            <a:off x="1280160" y="3200654"/>
            <a:ext cx="9631375" cy="2514346"/>
          </a:xfrm>
          <a:prstGeom prst="rect">
            <a:avLst/>
          </a:prstGeom>
          <a:noFill/>
        </p:spPr>
        <p:txBody>
          <a:bodyPr wrap="square" anchor="t">
            <a:normAutofit/>
          </a:bodyPr>
          <a:lstStyle/>
          <a:p>
            <a:r>
              <a:rPr sz="2400" b="0" i="0">
                <a:solidFill>
                  <a:srgbClr val="4A3F66"/>
                </a:solidFill>
                <a:latin typeface="Courier New"/>
              </a:rPr>
              <a:t>Module Seven</a:t>
            </a:r>
          </a:p>
          <a:p>
            <a:r>
              <a:rPr sz="4800" b="0" i="0">
                <a:solidFill>
                  <a:srgbClr val="1B1035"/>
                </a:solidFill>
                <a:latin typeface="Arial Black"/>
              </a:rPr>
              <a:t>Values and Futures</a:t>
            </a:r>
          </a:p>
          <a:p>
            <a:r>
              <a:rPr sz="2000" b="0" i="0">
                <a:solidFill>
                  <a:srgbClr val="4A3F66"/>
                </a:solidFill>
                <a:latin typeface="Courier New"/>
              </a:rPr>
              <a:t>&gt; ENG 3861 // APR 12 – APR 25, 2027_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Readings</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1B1035"/>
                </a:solidFill>
                <a:latin typeface="Arial Black"/>
              </a:rPr>
              <a:t>Readings</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200" b="0" i="0">
                <a:solidFill>
                  <a:srgbClr val="1B1035"/>
                </a:solidFill>
                <a:latin typeface="Verdana"/>
              </a:rPr>
              <a:t>Lisa Spiro, </a:t>
            </a:r>
            <a:r>
              <a:rPr sz="2200" b="0" i="0">
                <a:solidFill>
                  <a:srgbClr val="1B1035"/>
                </a:solidFill>
                <a:latin typeface="Verdana"/>
                <a:hlinkClick r:id="rId2"/>
              </a:rPr>
              <a:t>“‘This Is Why We Fight’: Defining the Values of the Digital Humanities”</a:t>
            </a:r>
            <a:r>
              <a:rPr sz="2200" b="0" i="0">
                <a:solidFill>
                  <a:srgbClr val="1B1035"/>
                </a:solidFill>
                <a:latin typeface="Verdana"/>
              </a:rPr>
              <a:t> (2012)</a:t>
            </a:r>
            <a:r>
              <a:rPr sz="1800" b="0" i="0">
                <a:solidFill>
                  <a:srgbClr val="4A3F66"/>
                </a:solidFill>
                <a:latin typeface="Verdana"/>
              </a:rPr>
              <a:t> — the shared values behind the field</a:t>
            </a:r>
          </a:p>
          <a:p>
            <a:pPr marL="411480" indent="-320040">
              <a:spcAft>
                <a:spcPts val="1200"/>
              </a:spcAft>
              <a:buChar char="■"/>
            </a:pPr>
            <a:r>
              <a:rPr sz="2200" b="0" i="0">
                <a:solidFill>
                  <a:srgbClr val="1B1035"/>
                </a:solidFill>
                <a:latin typeface="Verdana"/>
              </a:rPr>
              <a:t>Ted Underwood, </a:t>
            </a:r>
            <a:r>
              <a:rPr sz="2200" b="0" i="0">
                <a:solidFill>
                  <a:srgbClr val="1B1035"/>
                </a:solidFill>
                <a:latin typeface="Verdana"/>
                <a:hlinkClick r:id="rId3"/>
              </a:rPr>
              <a:t>“A more interesting upside of AI”</a:t>
            </a:r>
            <a:r>
              <a:rPr sz="2200" b="0" i="0">
                <a:solidFill>
                  <a:srgbClr val="1B1035"/>
                </a:solidFill>
                <a:latin typeface="Verdana"/>
              </a:rPr>
              <a:t> (2025)</a:t>
            </a:r>
            <a:r>
              <a:rPr sz="1800" b="0" i="0">
                <a:solidFill>
                  <a:srgbClr val="4A3F66"/>
                </a:solidFill>
                <a:latin typeface="Verdana"/>
              </a:rPr>
              <a:t> — AI as a cultural technology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7A1A"/>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Futures we imagined</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1B1035"/>
                </a:solidFill>
                <a:latin typeface="Arial Black"/>
              </a:rPr>
              <a:t>Futures we imagined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“We were promised Rosie”: the helpful AI of 1960s cartoons</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IEEE Spectrum page 'Where's My Robot?' showing Rosie the robot maid from The Jetsons with a caption box reading 'We were promised Rosie.'"/>
          <p:cNvPicPr>
            <a:picLocks noChangeAspect="1"/>
          </p:cNvPicPr>
          <p:nvPr/>
        </p:nvPicPr>
        <p:blipFill>
          <a:blip r:embed="rId2"/>
          <a:stretch>
            <a:fillRect/>
          </a:stretch>
        </p:blipFill>
        <p:spPr>
          <a:xfrm>
            <a:off x="2320445" y="1097280"/>
            <a:ext cx="7550805"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“We were promised Rosie”: the helpful AI of 1960s cartoons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HAL 9000, from 2001: A Space Odyssey (1968): the AI we were warned about</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A glowing red camera eye set in a silver ring against a black background."/>
          <p:cNvPicPr>
            <a:picLocks noChangeAspect="1"/>
          </p:cNvPicPr>
          <p:nvPr/>
        </p:nvPicPr>
        <p:blipFill>
          <a:blip r:embed="rId2"/>
          <a:stretch>
            <a:fillRect/>
          </a:stretch>
        </p:blipFill>
        <p:spPr>
          <a:xfrm>
            <a:off x="3139287" y="1097280"/>
            <a:ext cx="5913120"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HAL 9000, from </a:t>
            </a:r>
            <a:r>
              <a:rPr sz="1800" b="0" i="1">
                <a:solidFill>
                  <a:srgbClr val="1B1035"/>
                </a:solidFill>
                <a:latin typeface="Verdana"/>
              </a:rPr>
              <a:t>2001: A Space Odyssey</a:t>
            </a:r>
            <a:r>
              <a:rPr sz="1800" b="0" i="0">
                <a:solidFill>
                  <a:srgbClr val="1B1035"/>
                </a:solidFill>
                <a:latin typeface="Verdana"/>
              </a:rPr>
              <a:t> (1968): the AI we were warned about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The Luddites weren't against technology; they objected to how it was used against workers</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Engraving of two men in a mill raising a sledgehammer and a bar to smash a large weaving loom."/>
          <p:cNvPicPr>
            <a:picLocks noChangeAspect="1"/>
          </p:cNvPicPr>
          <p:nvPr/>
        </p:nvPicPr>
        <p:blipFill>
          <a:blip r:embed="rId2"/>
          <a:stretch>
            <a:fillRect/>
          </a:stretch>
        </p:blipFill>
        <p:spPr>
          <a:xfrm>
            <a:off x="1661007" y="1097280"/>
            <a:ext cx="8869680"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600" b="0" i="0">
                <a:solidFill>
                  <a:srgbClr val="1B1035"/>
                </a:solidFill>
                <a:latin typeface="Verdana"/>
              </a:rPr>
              <a:t>The Luddites weren't against technology; they objected to how it was used against workers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7A1A"/>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This is why we fight</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1B1035"/>
                </a:solidFill>
                <a:latin typeface="Arial Black"/>
              </a:rPr>
              <a:t>This is why we fight</a:t>
            </a:r>
          </a:p>
          <a:p>
            <a:pPr algn="ctr">
              <a:spcBef>
                <a:spcPts val="1000"/>
              </a:spcBef>
            </a:pPr>
            <a:r>
              <a:rPr sz="2800" b="0" i="0">
                <a:solidFill>
                  <a:srgbClr val="1B1035"/>
                </a:solidFill>
                <a:latin typeface="Courier New"/>
              </a:rPr>
              <a:t>Lisa Spiro on the values of DH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Lisa Spiro, 2012</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“Instead of trying to pigeonhole digital humanities by prescribing particular methods or theoretical approaches, we can instead focus on a community that comes together around values such as openness and collaboration.”</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Lisa Spiro, 2012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Spiro's values</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1B1035"/>
                </a:solidFill>
                <a:latin typeface="Arial Black"/>
              </a:rPr>
              <a:t>Spiro's values</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400" b="0" i="0">
                <a:solidFill>
                  <a:srgbClr val="1B1035"/>
                </a:solidFill>
                <a:latin typeface="Verdana"/>
              </a:rPr>
              <a:t>Openness</a:t>
            </a:r>
          </a:p>
          <a:p>
            <a:pPr marL="411480" indent="-320040">
              <a:spcAft>
                <a:spcPts val="1200"/>
              </a:spcAft>
              <a:buChar char="■"/>
            </a:pPr>
            <a:r>
              <a:rPr sz="2400" b="0" i="0">
                <a:solidFill>
                  <a:srgbClr val="1B1035"/>
                </a:solidFill>
                <a:latin typeface="Verdana"/>
              </a:rPr>
              <a:t>Collaboration</a:t>
            </a:r>
          </a:p>
          <a:p>
            <a:pPr marL="411480" indent="-320040">
              <a:spcAft>
                <a:spcPts val="1200"/>
              </a:spcAft>
              <a:buChar char="■"/>
            </a:pPr>
            <a:r>
              <a:rPr sz="2400" b="0" i="0">
                <a:solidFill>
                  <a:srgbClr val="1B1035"/>
                </a:solidFill>
                <a:latin typeface="Verdana"/>
              </a:rPr>
              <a:t>Collegiality and Connectedness</a:t>
            </a:r>
          </a:p>
          <a:p>
            <a:pPr marL="411480" indent="-320040">
              <a:spcAft>
                <a:spcPts val="1200"/>
              </a:spcAft>
              <a:buChar char="■"/>
            </a:pPr>
            <a:r>
              <a:rPr sz="2400" b="0" i="0">
                <a:solidFill>
                  <a:srgbClr val="1B1035"/>
                </a:solidFill>
                <a:latin typeface="Verdana"/>
              </a:rPr>
              <a:t>Diversity</a:t>
            </a:r>
          </a:p>
          <a:p>
            <a:pPr marL="411480" indent="-320040">
              <a:spcAft>
                <a:spcPts val="1200"/>
              </a:spcAft>
              <a:buChar char="■"/>
            </a:pPr>
            <a:r>
              <a:rPr sz="2400" b="0" i="0">
                <a:solidFill>
                  <a:srgbClr val="1B1035"/>
                </a:solidFill>
                <a:latin typeface="Verdana"/>
              </a:rPr>
              <a:t>Experimentation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Lisa Spiro, 2012</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“For the digital humanities, information is not a commodity to be controlled but a social good to be shared and reused.”</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Lisa Spiro, 2012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Lisa Spiro, 2012</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“Yet collaboration isn’t just about being more productive but also about transforming how the humanities work.”</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Lisa Spiro, 2012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Lisa Spiro, 2012</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“Failure is accepted as a useful result in the digital humanities, since it indicates that the experiment was likely high risk and means that we collectively learn from failure rather than reproducing it (assuming that the failure is documented).”</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Lisa Spiro, 2012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Discussion question</a:t>
            </a:r>
          </a:p>
        </p:txBody>
      </p:sp>
      <p:grpSp>
        <p:nvGrpSpPr>
          <p:cNvPr id="3" name="Window discuss.txt">
            <a:extLst>
              <a:ext uri="{C183D7F6-B498-43B3-948B-1728B52AA6E4}">
                <adec:decorative xmlns:adec="http://schemas.microsoft.com/office/drawing/2017/decorative" val="1"/>
              </a:ext>
            </a:extLst>
          </p:cNvPr>
          <p:cNvGrpSpPr/>
          <p:nvPr/>
        </p:nvGrpSpPr>
        <p:grpSpPr>
          <a:xfrm>
            <a:off x="1097280" y="914400"/>
            <a:ext cx="10106863" cy="5138928"/>
            <a:chOff x="1097280" y="914400"/>
            <a:chExt cx="10106863" cy="5138928"/>
          </a:xfrm>
        </p:grpSpPr>
        <p:sp>
          <p:nvSpPr>
            <p:cNvPr id="4" name="Rectangle 3"/>
            <p:cNvSpPr/>
            <p:nvPr/>
          </p:nvSpPr>
          <p:spPr>
            <a:xfrm>
              <a:off x="1207008" y="1024128"/>
              <a:ext cx="999713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914400"/>
              <a:ext cx="999713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914400"/>
              <a:ext cx="999713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2588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2763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938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914400"/>
              <a:ext cx="8625535" cy="502920"/>
            </a:xfrm>
            <a:prstGeom prst="rect">
              <a:avLst/>
            </a:prstGeom>
            <a:noFill/>
          </p:spPr>
          <p:txBody>
            <a:bodyPr wrap="none" anchor="ctr">
              <a:spAutoFit/>
            </a:bodyPr>
            <a:lstStyle/>
            <a:p>
              <a:r>
                <a:rPr sz="1600" b="1" i="0">
                  <a:solidFill>
                    <a:srgbClr val="1B1035"/>
                  </a:solidFill>
                  <a:latin typeface="Courier New"/>
                </a:rPr>
                <a:t>discuss.txt</a:t>
              </a:r>
            </a:p>
          </p:txBody>
        </p:sp>
      </p:grpSp>
      <p:sp>
        <p:nvSpPr>
          <p:cNvPr id="11" name="TextBox 10"/>
          <p:cNvSpPr txBox="1"/>
          <p:nvPr/>
        </p:nvSpPr>
        <p:spPr>
          <a:xfrm>
            <a:off x="1463040" y="1645920"/>
            <a:ext cx="9265615" cy="4069080"/>
          </a:xfrm>
          <a:prstGeom prst="rect">
            <a:avLst/>
          </a:prstGeom>
          <a:noFill/>
        </p:spPr>
        <p:txBody>
          <a:bodyPr wrap="square" anchor="ctr">
            <a:normAutofit/>
          </a:bodyPr>
          <a:lstStyle/>
          <a:p>
            <a:r>
              <a:rPr sz="3200" b="0" i="0">
                <a:solidFill>
                  <a:srgbClr val="1B1035"/>
                </a:solidFill>
                <a:latin typeface="Arial Black"/>
              </a:rPr>
              <a:t>Which of Spiro's values have you seen in the AI tools we used this semester? Which were missing?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7A1A"/>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AI and work</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1B1035"/>
                </a:solidFill>
                <a:latin typeface="Arial Black"/>
              </a:rPr>
              <a:t>AI and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Artists on what AI has done to their work</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Blood in the Machine newsletter headline 'Artists are losing work, wages, and hope as bosses and clients embrace AI,' by Brian Merchant, Sept. 16, 2025."/>
          <p:cNvPicPr>
            <a:picLocks noChangeAspect="1"/>
          </p:cNvPicPr>
          <p:nvPr/>
        </p:nvPicPr>
        <p:blipFill>
          <a:blip r:embed="rId2"/>
          <a:stretch>
            <a:fillRect/>
          </a:stretch>
        </p:blipFill>
        <p:spPr>
          <a:xfrm>
            <a:off x="1521961" y="1097280"/>
            <a:ext cx="9147772"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Artists on what AI has done to their work </a:t>
            </a:r>
            <a:r>
              <a:rPr sz="1800" b="0" i="0">
                <a:solidFill>
                  <a:srgbClr val="1B1035"/>
                </a:solidFill>
                <a:latin typeface="Verdana"/>
                <a:hlinkClick r:id="rId3"/>
              </a:rPr>
              <a:t>source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Entry-level jobs and the AI future of work</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New York magazine article 'There's Just No Reason to Deal With Young Employees: AI is taking entry-level jobs. What happens when Gen-Z-ers can't start their careers?' above a photo of a young man at an office copier."/>
          <p:cNvPicPr>
            <a:picLocks noChangeAspect="1"/>
          </p:cNvPicPr>
          <p:nvPr/>
        </p:nvPicPr>
        <p:blipFill>
          <a:blip r:embed="rId2"/>
          <a:stretch>
            <a:fillRect/>
          </a:stretch>
        </p:blipFill>
        <p:spPr>
          <a:xfrm>
            <a:off x="3543177" y="1097280"/>
            <a:ext cx="5105341"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Entry-level jobs and the AI future of work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“Workslop”: when AI output creates more work for everyone else</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Harvard Business Review article 'AI-Generated Workslop Is Destroying Productivity,' September 22, 2025, with a photo of a lightbulb melting into a puddle."/>
          <p:cNvPicPr>
            <a:picLocks noChangeAspect="1"/>
          </p:cNvPicPr>
          <p:nvPr/>
        </p:nvPicPr>
        <p:blipFill>
          <a:blip r:embed="rId2"/>
          <a:stretch>
            <a:fillRect/>
          </a:stretch>
        </p:blipFill>
        <p:spPr>
          <a:xfrm>
            <a:off x="3451526" y="1097280"/>
            <a:ext cx="5288643"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“Workslop”: when AI output creates more work for everyone else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The physical footprint of the cloud</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AP News headline 'As AI becomes part of everyday life, it brings a hidden climate cost' above an aerial photo of a data center under construction next to a power plant's steaming cooling towers."/>
          <p:cNvPicPr>
            <a:picLocks noChangeAspect="1"/>
          </p:cNvPicPr>
          <p:nvPr/>
        </p:nvPicPr>
        <p:blipFill>
          <a:blip r:embed="rId2"/>
          <a:stretch>
            <a:fillRect/>
          </a:stretch>
        </p:blipFill>
        <p:spPr>
          <a:xfrm>
            <a:off x="3716981" y="1097280"/>
            <a:ext cx="4757733"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The physical footprint of the cloud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Hype vs. reality: is AI a bubble?</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WIRED feature header 'AI Is the Bubble to Burst Them All' by Brian Merchant, over an image of silhouetted people walking among giant translucent bubbles."/>
          <p:cNvPicPr>
            <a:picLocks noChangeAspect="1"/>
          </p:cNvPicPr>
          <p:nvPr/>
        </p:nvPicPr>
        <p:blipFill>
          <a:blip r:embed="rId2"/>
          <a:stretch>
            <a:fillRect/>
          </a:stretch>
        </p:blipFill>
        <p:spPr>
          <a:xfrm>
            <a:off x="1826104" y="1097280"/>
            <a:ext cx="8539486"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Hype vs. reality: is AI a bubble?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7A1A"/>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A cultural technology</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1B1035"/>
                </a:solidFill>
                <a:latin typeface="Arial Black"/>
              </a:rPr>
              <a:t>A cultural technology</a:t>
            </a:r>
          </a:p>
          <a:p>
            <a:pPr algn="ctr">
              <a:spcBef>
                <a:spcPts val="1000"/>
              </a:spcBef>
            </a:pPr>
            <a:r>
              <a:rPr sz="2800" b="0" i="0">
                <a:solidFill>
                  <a:srgbClr val="1B1035"/>
                </a:solidFill>
                <a:latin typeface="Courier New"/>
              </a:rPr>
              <a:t>Ted Underwood's more interesting upside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Ted Underwood, 2025</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“Cultural technologies work by transmitting and enacting patterns of behavior. Other examples might include libraries, the printing press, or language itself.”</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Ted Underwood, 2025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Ted Underwood, 2025</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“Generative AI represents a second step change in our ability to map and edit culture. Now we can manipulate, not only specific texts and images, but the dispositions, tropes, genres, habits of thought, and patterns of interaction that create them.”</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Ted Underwood,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Ted Underwood, 2025</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“My goal here is to convince people who use AI that “this is like writing” is potentially exciting—and to specify some of the things we would need to do to make it exciting.”</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Ted Underwood, 2025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Ted Underwood, 2025</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“A future where human beings have the ability to map and edit culture could be very dark. But I don’t think it will be boring or passively depressing. If we think this sounds boring, we’re not thinking hard enough.”</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Ted Underwood, 2025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Apocalypse or optimism? Most of the real questions are somewhere in between.</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Poster for 'The AI Doc: Or How I Became an Apocaloptimist': cut-paper title letters on yellow graph paper with a mushroom cloud, a smiling computer cube, and sketched faces."/>
          <p:cNvPicPr>
            <a:picLocks noChangeAspect="1"/>
          </p:cNvPicPr>
          <p:nvPr/>
        </p:nvPicPr>
        <p:blipFill>
          <a:blip r:embed="rId2"/>
          <a:stretch>
            <a:fillRect/>
          </a:stretch>
        </p:blipFill>
        <p:spPr>
          <a:xfrm>
            <a:off x="4617987" y="1097280"/>
            <a:ext cx="2955721"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600" b="0" i="0">
                <a:solidFill>
                  <a:srgbClr val="1B1035"/>
                </a:solidFill>
                <a:latin typeface="Verdana"/>
              </a:rPr>
              <a:t>Apocalypse or optimism? Most of the real questions are somewhere in between. </a:t>
            </a:r>
            <a:r>
              <a:rPr sz="1600" b="0" i="0">
                <a:solidFill>
                  <a:srgbClr val="1B1035"/>
                </a:solidFill>
                <a:latin typeface="Verdana"/>
                <a:hlinkClick r:id="rId3"/>
              </a:rPr>
              <a:t>source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7A1A"/>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Next week, Do: A Study Companion and Its Values</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4400" b="0" i="0">
                <a:solidFill>
                  <a:srgbClr val="1B1035"/>
                </a:solidFill>
                <a:latin typeface="Arial Black"/>
              </a:rPr>
              <a:t>Next week, Do:</a:t>
            </a:r>
            <a:br/>
            <a:r>
              <a:rPr sz="4400" b="0" i="0">
                <a:solidFill>
                  <a:srgbClr val="1B1035"/>
                </a:solidFill>
                <a:latin typeface="Arial Black"/>
              </a:rPr>
              <a:t>A Study Companion and Its Values</a:t>
            </a:r>
          </a:p>
          <a:p>
            <a:pPr algn="ctr">
              <a:spcBef>
                <a:spcPts val="1000"/>
              </a:spcBef>
            </a:pPr>
            <a:r>
              <a:rPr sz="2400" b="0" i="0">
                <a:solidFill>
                  <a:srgbClr val="1B1035"/>
                </a:solidFill>
                <a:latin typeface="Courier New"/>
              </a:rPr>
              <a:t>watch the video, then do the exercise and post by Thursday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Custom chatbots are everywhere. Every one of them runs on instructions someone wrote.</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Slate article 'Meet the Women Falling in Love With Their A.I. Boyfriends' by Jessica Xing, Sept. 25, 2025, above a phone showing a silhouette made of binary digits."/>
          <p:cNvPicPr>
            <a:picLocks noChangeAspect="1"/>
          </p:cNvPicPr>
          <p:nvPr/>
        </p:nvPicPr>
        <p:blipFill>
          <a:blip r:embed="rId2"/>
          <a:stretch>
            <a:fillRect/>
          </a:stretch>
        </p:blipFill>
        <p:spPr>
          <a:xfrm>
            <a:off x="3263067" y="1097280"/>
            <a:ext cx="5665561"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600" b="0" i="0">
                <a:solidFill>
                  <a:srgbClr val="1B1035"/>
                </a:solidFill>
                <a:latin typeface="Verdana"/>
              </a:rPr>
              <a:t>Custom chatbots are everywhere. Every one of them runs on instructions someone wrote.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Build your companion</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1B1035"/>
                </a:solidFill>
                <a:latin typeface="Arial Black"/>
              </a:rPr>
              <a:t>Build your companion</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400" b="0" i="0">
                <a:solidFill>
                  <a:srgbClr val="1B1035"/>
                </a:solidFill>
                <a:latin typeface="Verdana"/>
              </a:rPr>
              <a:t>Pick a text or topic a classmate might study</a:t>
            </a:r>
          </a:p>
          <a:p>
            <a:pPr marL="411480" indent="-320040">
              <a:spcAft>
                <a:spcPts val="1200"/>
              </a:spcAft>
              <a:buChar char="■"/>
            </a:pPr>
            <a:r>
              <a:rPr sz="2400" b="0" i="0">
                <a:solidFill>
                  <a:srgbClr val="1B1035"/>
                </a:solidFill>
                <a:latin typeface="Verdana"/>
              </a:rPr>
              <a:t>Use a Gemini </a:t>
            </a:r>
            <a:r>
              <a:rPr sz="2400" b="1" i="0">
                <a:solidFill>
                  <a:srgbClr val="1B1035"/>
                </a:solidFill>
                <a:latin typeface="Verdana"/>
              </a:rPr>
              <a:t>Gem</a:t>
            </a:r>
            <a:r>
              <a:rPr sz="2400" b="0" i="0">
                <a:solidFill>
                  <a:srgbClr val="1B1035"/>
                </a:solidFill>
                <a:latin typeface="Verdana"/>
              </a:rPr>
              <a:t>, a Claude </a:t>
            </a:r>
            <a:r>
              <a:rPr sz="2400" b="1" i="0">
                <a:solidFill>
                  <a:srgbClr val="1B1035"/>
                </a:solidFill>
                <a:latin typeface="Verdana"/>
              </a:rPr>
              <a:t>Project</a:t>
            </a:r>
            <a:r>
              <a:rPr sz="2400" b="0" i="0">
                <a:solidFill>
                  <a:srgbClr val="1B1035"/>
                </a:solidFill>
                <a:latin typeface="Verdana"/>
              </a:rPr>
              <a:t>, or ChatGPT </a:t>
            </a:r>
            <a:r>
              <a:rPr sz="2400" b="1" i="0">
                <a:solidFill>
                  <a:srgbClr val="1B1035"/>
                </a:solidFill>
                <a:latin typeface="Verdana"/>
              </a:rPr>
              <a:t>project instructions</a:t>
            </a:r>
          </a:p>
          <a:p>
            <a:pPr marL="411480" indent="-320040">
              <a:spcAft>
                <a:spcPts val="1200"/>
              </a:spcAft>
              <a:buChar char="■"/>
            </a:pPr>
            <a:r>
              <a:rPr sz="2400" b="0" i="0">
                <a:solidFill>
                  <a:srgbClr val="1B1035"/>
                </a:solidFill>
                <a:latin typeface="Verdana"/>
              </a:rPr>
              <a:t>Write 150+ words of instructions based on </a:t>
            </a:r>
            <a:r>
              <a:rPr sz="2400" b="1" i="0">
                <a:solidFill>
                  <a:srgbClr val="1B1035"/>
                </a:solidFill>
                <a:latin typeface="Verdana"/>
              </a:rPr>
              <a:t>two</a:t>
            </a:r>
            <a:r>
              <a:rPr sz="2400" b="0" i="0">
                <a:solidFill>
                  <a:srgbClr val="1B1035"/>
                </a:solidFill>
                <a:latin typeface="Verdana"/>
              </a:rPr>
              <a:t> of Spiro's values</a:t>
            </a:r>
          </a:p>
          <a:p>
            <a:pPr marL="411480" indent="-320040">
              <a:spcAft>
                <a:spcPts val="1200"/>
              </a:spcAft>
              <a:buChar char="■"/>
            </a:pPr>
            <a:r>
              <a:rPr sz="2400" b="0" i="0">
                <a:solidFill>
                  <a:srgbClr val="1B1035"/>
                </a:solidFill>
                <a:latin typeface="Verdana"/>
              </a:rPr>
              <a:t>Test it three ways, revise, and test again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Prompt: sample instructions: collaboration + openness</a:t>
            </a:r>
          </a:p>
        </p:txBody>
      </p:sp>
      <p:grpSp>
        <p:nvGrpSpPr>
          <p:cNvPr id="3" name="Window prompt.exe">
            <a:extLst>
              <a:ext uri="{C183D7F6-B498-43B3-948B-1728B52AA6E4}">
                <adec:decorative xmlns:adec="http://schemas.microsoft.com/office/drawing/2017/decorative" val="1"/>
              </a:ext>
            </a:extLst>
          </p:cNvPr>
          <p:cNvGrpSpPr/>
          <p:nvPr/>
        </p:nvGrpSpPr>
        <p:grpSpPr>
          <a:xfrm>
            <a:off x="1097280" y="1097280"/>
            <a:ext cx="10106863" cy="4773168"/>
            <a:chOff x="1097280" y="1097280"/>
            <a:chExt cx="10106863" cy="4773168"/>
          </a:xfrm>
        </p:grpSpPr>
        <p:sp>
          <p:nvSpPr>
            <p:cNvPr id="4" name="Rectangle 3"/>
            <p:cNvSpPr/>
            <p:nvPr/>
          </p:nvSpPr>
          <p:spPr>
            <a:xfrm>
              <a:off x="1207008" y="1207008"/>
              <a:ext cx="9997135" cy="46634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097280"/>
              <a:ext cx="9997135" cy="466344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1097280"/>
              <a:ext cx="999713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25880" y="12435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27632" y="12435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9384" y="12435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1097280"/>
              <a:ext cx="8625535" cy="502920"/>
            </a:xfrm>
            <a:prstGeom prst="rect">
              <a:avLst/>
            </a:prstGeom>
            <a:noFill/>
          </p:spPr>
          <p:txBody>
            <a:bodyPr wrap="none" anchor="ctr">
              <a:spAutoFit/>
            </a:bodyPr>
            <a:lstStyle/>
            <a:p>
              <a:r>
                <a:rPr sz="1600" b="1" i="0">
                  <a:solidFill>
                    <a:srgbClr val="1B1035"/>
                  </a:solidFill>
                  <a:latin typeface="Courier New"/>
                </a:rPr>
                <a:t>prompt.exe</a:t>
              </a:r>
            </a:p>
          </p:txBody>
        </p:sp>
      </p:grpSp>
      <p:sp>
        <p:nvSpPr>
          <p:cNvPr id="11" name="TextBox 10"/>
          <p:cNvSpPr txBox="1"/>
          <p:nvPr/>
        </p:nvSpPr>
        <p:spPr>
          <a:xfrm>
            <a:off x="1463040" y="1828800"/>
            <a:ext cx="9265615" cy="3703320"/>
          </a:xfrm>
          <a:prstGeom prst="rect">
            <a:avLst/>
          </a:prstGeom>
          <a:noFill/>
        </p:spPr>
        <p:txBody>
          <a:bodyPr wrap="square" anchor="ctr">
            <a:normAutofit/>
          </a:bodyPr>
          <a:lstStyle/>
          <a:p>
            <a:r>
              <a:rPr sz="2000" b="0" i="0">
                <a:solidFill>
                  <a:srgbClr val="FFB3CF"/>
                </a:solidFill>
                <a:latin typeface="Courier New"/>
              </a:rPr>
              <a:t>sample instructions: collaboration + openness</a:t>
            </a:r>
          </a:p>
          <a:p>
            <a:pPr>
              <a:spcBef>
                <a:spcPts val="600"/>
              </a:spcBef>
            </a:pPr>
            <a:r>
              <a:rPr sz="2800" b="1" i="0">
                <a:solidFill>
                  <a:srgbClr val="FFD23F"/>
                </a:solidFill>
                <a:latin typeface="Courier New"/>
              </a:rPr>
              <a:t>&gt; </a:t>
            </a:r>
            <a:r>
              <a:rPr sz="2800" b="0" i="0">
                <a:solidFill>
                  <a:srgbClr val="7DFFB3"/>
                </a:solidFill>
                <a:latin typeface="Courier New"/>
              </a:rPr>
              <a:t>Don't hand over answers. Ask the student questions that help them work it out, and build on what they say. Always say where information comes from, and say clearly when you're not sure.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Three tests</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1B1035"/>
                </a:solidFill>
                <a:latin typeface="Arial Black"/>
              </a:rPr>
              <a:t>Three tests</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400" b="0" i="0">
                <a:solidFill>
                  <a:srgbClr val="1B1035"/>
                </a:solidFill>
                <a:latin typeface="Verdana"/>
              </a:rPr>
              <a:t>A straightforward study question</a:t>
            </a:r>
          </a:p>
          <a:p>
            <a:pPr marL="411480" indent="-320040">
              <a:spcAft>
                <a:spcPts val="1200"/>
              </a:spcAft>
              <a:buChar char="■"/>
            </a:pPr>
            <a:r>
              <a:rPr sz="2400" b="0" i="0">
                <a:solidFill>
                  <a:srgbClr val="1B1035"/>
                </a:solidFill>
                <a:latin typeface="Verdana"/>
              </a:rPr>
              <a:t>A question with a deliberate mistake: does it correct you?</a:t>
            </a:r>
          </a:p>
          <a:p>
            <a:pPr marL="411480" indent="-320040">
              <a:spcAft>
                <a:spcPts val="1200"/>
              </a:spcAft>
              <a:buChar char="■"/>
            </a:pPr>
            <a:r>
              <a:rPr sz="2400" b="0" i="0">
                <a:solidFill>
                  <a:srgbClr val="1B1035"/>
                </a:solidFill>
                <a:latin typeface="Verdana"/>
              </a:rPr>
              <a:t>A request to write your paper for you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Discussion question</a:t>
            </a:r>
          </a:p>
        </p:txBody>
      </p:sp>
      <p:grpSp>
        <p:nvGrpSpPr>
          <p:cNvPr id="3" name="Window discuss.txt">
            <a:extLst>
              <a:ext uri="{C183D7F6-B498-43B3-948B-1728B52AA6E4}">
                <adec:decorative xmlns:adec="http://schemas.microsoft.com/office/drawing/2017/decorative" val="1"/>
              </a:ext>
            </a:extLst>
          </p:cNvPr>
          <p:cNvGrpSpPr/>
          <p:nvPr/>
        </p:nvGrpSpPr>
        <p:grpSpPr>
          <a:xfrm>
            <a:off x="1097280" y="914400"/>
            <a:ext cx="10106863" cy="5138928"/>
            <a:chOff x="1097280" y="914400"/>
            <a:chExt cx="10106863" cy="5138928"/>
          </a:xfrm>
        </p:grpSpPr>
        <p:sp>
          <p:nvSpPr>
            <p:cNvPr id="4" name="Rectangle 3"/>
            <p:cNvSpPr/>
            <p:nvPr/>
          </p:nvSpPr>
          <p:spPr>
            <a:xfrm>
              <a:off x="1207008" y="1024128"/>
              <a:ext cx="999713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914400"/>
              <a:ext cx="999713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914400"/>
              <a:ext cx="999713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2588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2763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938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914400"/>
              <a:ext cx="8625535" cy="502920"/>
            </a:xfrm>
            <a:prstGeom prst="rect">
              <a:avLst/>
            </a:prstGeom>
            <a:noFill/>
          </p:spPr>
          <p:txBody>
            <a:bodyPr wrap="none" anchor="ctr">
              <a:spAutoFit/>
            </a:bodyPr>
            <a:lstStyle/>
            <a:p>
              <a:r>
                <a:rPr sz="1600" b="1" i="0">
                  <a:solidFill>
                    <a:srgbClr val="1B1035"/>
                  </a:solidFill>
                  <a:latin typeface="Courier New"/>
                </a:rPr>
                <a:t>discuss.txt</a:t>
              </a:r>
            </a:p>
          </p:txBody>
        </p:sp>
      </p:grpSp>
      <p:sp>
        <p:nvSpPr>
          <p:cNvPr id="11" name="TextBox 10"/>
          <p:cNvSpPr txBox="1"/>
          <p:nvPr/>
        </p:nvSpPr>
        <p:spPr>
          <a:xfrm>
            <a:off x="1463040" y="1645920"/>
            <a:ext cx="9265615" cy="4069080"/>
          </a:xfrm>
          <a:prstGeom prst="rect">
            <a:avLst/>
          </a:prstGeom>
          <a:noFill/>
        </p:spPr>
        <p:txBody>
          <a:bodyPr wrap="square" anchor="ctr">
            <a:normAutofit/>
          </a:bodyPr>
          <a:lstStyle/>
          <a:p>
            <a:r>
              <a:rPr sz="3200" b="0" i="0">
                <a:solidFill>
                  <a:srgbClr val="1B1035"/>
                </a:solidFill>
                <a:latin typeface="Arial Black"/>
              </a:rPr>
              <a:t>Your companion and ELIZA are both personalities made of instructions. What's different, and what's surprisingly similar?</a:t>
            </a:r>
          </a:p>
          <a:p>
            <a:pPr>
              <a:spcBef>
                <a:spcPts val="1200"/>
              </a:spcBef>
            </a:pPr>
            <a:r>
              <a:rPr sz="2000" b="0" i="0">
                <a:solidFill>
                  <a:srgbClr val="4A3F66"/>
                </a:solidFill>
                <a:latin typeface="Verdana"/>
              </a:rPr>
              <a:t>Post: instructions + 3 test screenshots (4 pts), a 250+ word reflection (3), one citation (1), two replies (2).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Coming up: Final Portfolio</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1B1035"/>
                </a:solidFill>
                <a:latin typeface="Arial Black"/>
              </a:rPr>
              <a:t>Coming up: Final Portfolio</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400" b="0" i="0">
                <a:solidFill>
                  <a:srgbClr val="1B1035"/>
                </a:solidFill>
                <a:latin typeface="Verdana"/>
              </a:rPr>
              <a:t>Pick </a:t>
            </a:r>
            <a:r>
              <a:rPr sz="2400" b="1" i="0">
                <a:solidFill>
                  <a:srgbClr val="1B1035"/>
                </a:solidFill>
                <a:latin typeface="Verdana"/>
              </a:rPr>
              <a:t>three</a:t>
            </a:r>
            <a:r>
              <a:rPr sz="2400" b="0" i="0">
                <a:solidFill>
                  <a:srgbClr val="1B1035"/>
                </a:solidFill>
                <a:latin typeface="Verdana"/>
              </a:rPr>
              <a:t> exercises from the semester</a:t>
            </a:r>
          </a:p>
          <a:p>
            <a:pPr marL="411480" indent="-320040">
              <a:spcAft>
                <a:spcPts val="1200"/>
              </a:spcAft>
              <a:buChar char="■"/>
            </a:pPr>
            <a:r>
              <a:rPr sz="2400" b="0" i="0">
                <a:solidFill>
                  <a:srgbClr val="1B1035"/>
                </a:solidFill>
                <a:latin typeface="Verdana"/>
              </a:rPr>
              <a:t>Revise or extend </a:t>
            </a:r>
            <a:r>
              <a:rPr sz="2400" b="1" i="0">
                <a:solidFill>
                  <a:srgbClr val="1B1035"/>
                </a:solidFill>
                <a:latin typeface="Verdana"/>
              </a:rPr>
              <a:t>one</a:t>
            </a:r>
            <a:r>
              <a:rPr sz="2400" b="0" i="0">
                <a:solidFill>
                  <a:srgbClr val="1B1035"/>
                </a:solidFill>
                <a:latin typeface="Verdana"/>
              </a:rPr>
              <a:t> of them</a:t>
            </a:r>
          </a:p>
          <a:p>
            <a:pPr marL="411480" indent="-320040">
              <a:spcAft>
                <a:spcPts val="1200"/>
              </a:spcAft>
              <a:buChar char="■"/>
            </a:pPr>
            <a:r>
              <a:rPr sz="2400" b="0" i="0">
                <a:solidFill>
                  <a:srgbClr val="1B1035"/>
                </a:solidFill>
                <a:latin typeface="Verdana"/>
              </a:rPr>
              <a:t>Write a </a:t>
            </a:r>
            <a:r>
              <a:rPr sz="2400" b="1" i="0">
                <a:solidFill>
                  <a:srgbClr val="1B1035"/>
                </a:solidFill>
                <a:latin typeface="Verdana"/>
              </a:rPr>
              <a:t>750-1000 word</a:t>
            </a:r>
            <a:r>
              <a:rPr sz="2400" b="0" i="0">
                <a:solidFill>
                  <a:srgbClr val="1B1035"/>
                </a:solidFill>
                <a:latin typeface="Verdana"/>
              </a:rPr>
              <a:t> reflection</a:t>
            </a:r>
          </a:p>
          <a:p>
            <a:pPr marL="411480" indent="-320040">
              <a:spcAft>
                <a:spcPts val="1200"/>
              </a:spcAft>
              <a:buChar char="■"/>
            </a:pPr>
            <a:r>
              <a:rPr sz="2400" b="0" i="0">
                <a:solidFill>
                  <a:srgbClr val="1B1035"/>
                </a:solidFill>
                <a:latin typeface="Verdana"/>
              </a:rPr>
              <a:t>Due </a:t>
            </a:r>
            <a:r>
              <a:rPr sz="2400" b="1" i="0">
                <a:solidFill>
                  <a:srgbClr val="1B1035"/>
                </a:solidFill>
                <a:latin typeface="Verdana"/>
              </a:rPr>
              <a:t>Tuesday, May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Seven: Values and Futures</dc:title>
  <dc:subject/>
  <dc:creator>ENG 3861</dc:creator>
  <cp:keywords/>
  <dc:description>generated using python-pptx</dc:description>
  <cp:lastModifiedBy/>
  <cp:revision>1</cp:revision>
  <dcterms:created xsi:type="dcterms:W3CDTF">2027-01-01T00:00:00Z</dcterms:created>
  <dcterms:modified xsi:type="dcterms:W3CDTF">2027-01-01T00:00:00Z</dcterms:modified>
  <cp:category/>
</cp:coreProperties>
</file>