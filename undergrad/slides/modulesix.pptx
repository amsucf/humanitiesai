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coding experience is needed this module. The point is the habits: plan, prompt, test, revise, take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Hermeneutic = a way of interpreting. Ramsay's example: reading a map as a text is different from making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exhibit: paste in the titles, dates, and descriptions. Don't make the AI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 = quality assurance: click every button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artifacts, ChatGPT canvas, and Gemini Canvas all work on free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eb.archive.org/web/20251228181813/https://stephenramsay.us/text/2011/01/11/on-building/" TargetMode="External"/><Relationship Id="rId3" Type="http://schemas.openxmlformats.org/officeDocument/2006/relationships/hyperlink" Target="https://simonwillison.net/2025/Mar/11/using-llms-for-code/" TargetMode="External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hyperlink" Target="https://xkcd.com/378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eb.archive.org/web/20251228181813/https://stephenramsay.us/text/2011/01/11/on-building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eb.archive.org/web/20251228181813/https://stephenramsay.us/text/2011/01/11/on-building/" TargetMode="External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eb.archive.org/web/20251228181813/https://stephenramsay.us/text/2011/01/11/on-building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eb.archive.org/web/20251228181813/https://stephenramsay.us/text/2011/01/11/on-building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hyperlink" Target="https://simonwillison.net/2024/Oct/25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hyperlink" Target="https://tools.simonwillison.net/markdown-svg-renderer?url=https%3A%2F%2Fgist.github.com%2Fsimonw%2F4aa871683dae5c566129a6028fbc7f21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hyperlink" Target="https://claude.ai/public/artifacts/14813a35-0e34-4d91-acbf-79ae85bfb771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hyperlink" Target="https://claude.ai/artifact/6HKYU628vbfCyUXggxsTb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simonwillison.net/2025/Mar/11/using-llms-for-code/" TargetMode="External"/><Relationship Id="rId3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simonwillison.net/2025/Mar/11/using-llms-for-code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simonwillison.net/2025/Mar/11/using-llms-for-code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simonwillison.net/2025/Mar/11/using-llms-for-code/" TargetMode="External"/><Relationship Id="rId3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hyperlink" Target="https://www.npr.org/2025/10/21/nx-s1-5506141/ai-code-software-productivity-claims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simonwillison.net/2025/Mar/11/using-llms-for-code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Module Six: Building with AI</a:t>
            </a:r>
          </a:p>
        </p:txBody>
      </p:sp>
      <p:grpSp>
        <p:nvGrpSpPr>
          <p:cNvPr id="3" name="Window ENG3861.EX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4400" y="914400"/>
            <a:ext cx="10472623" cy="5138928"/>
            <a:chOff x="914400" y="914400"/>
            <a:chExt cx="10472623" cy="5138928"/>
          </a:xfrm>
        </p:grpSpPr>
        <p:sp>
          <p:nvSpPr>
            <p:cNvPr id="4" name="Rectangle 3"/>
            <p:cNvSpPr/>
            <p:nvPr/>
          </p:nvSpPr>
          <p:spPr>
            <a:xfrm>
              <a:off x="1024128" y="1024128"/>
              <a:ext cx="10362895" cy="502920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14400" y="914400"/>
              <a:ext cx="10362895" cy="50292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914400" y="914400"/>
              <a:ext cx="10362895" cy="502920"/>
            </a:xfrm>
            <a:prstGeom prst="rect">
              <a:avLst/>
            </a:prstGeom>
            <a:solidFill>
              <a:srgbClr val="FF3D7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143000" y="106070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444752" y="106070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746504" y="106070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8840" y="914400"/>
              <a:ext cx="899129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FFFFFF"/>
                  </a:solidFill>
                  <a:latin typeface="Courier New"/>
                </a:rPr>
                <a:t>ENG3861.EXE</a:t>
              </a:r>
            </a:p>
          </p:txBody>
        </p:sp>
      </p:grpSp>
      <p:grpSp>
        <p:nvGrpSpPr>
          <p:cNvPr id="11" name="Unit CODE"/>
          <p:cNvGrpSpPr/>
          <p:nvPr/>
        </p:nvGrpSpPr>
        <p:grpSpPr>
          <a:xfrm>
            <a:off x="1371600" y="2560574"/>
            <a:ext cx="1314450" cy="512064"/>
            <a:chOff x="1371600" y="2560574"/>
            <a:chExt cx="1314450" cy="512064"/>
          </a:xfrm>
        </p:grpSpPr>
        <p:sp>
          <p:nvSpPr>
            <p:cNvPr id="12" name="Rounded Rectangle 11"/>
            <p:cNvSpPr/>
            <p:nvPr/>
          </p:nvSpPr>
          <p:spPr>
            <a:xfrm>
              <a:off x="1426464" y="2615438"/>
              <a:ext cx="1259586" cy="457200"/>
            </a:xfrm>
            <a:prstGeom prst="roundRect">
              <a:avLst>
                <a:gd name="adj" fmla="val 50000"/>
              </a:avLst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371600" y="2560574"/>
              <a:ext cx="1259586" cy="457200"/>
            </a:xfrm>
            <a:prstGeom prst="roundRect">
              <a:avLst>
                <a:gd name="adj" fmla="val 50000"/>
              </a:avLst>
            </a:prstGeom>
            <a:solidFill>
              <a:srgbClr val="00B894"/>
            </a:solidFill>
            <a:ln w="3175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800" b="0" i="0">
                  <a:solidFill>
                    <a:srgbClr val="1B1035"/>
                  </a:solidFill>
                  <a:latin typeface="Arial Black"/>
                </a:rPr>
                <a:t>CODE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280160" y="3200654"/>
            <a:ext cx="9631375" cy="251434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2400" b="0" i="0">
                <a:solidFill>
                  <a:srgbClr val="4A3F66"/>
                </a:solidFill>
                <a:latin typeface="Courier New"/>
              </a:rPr>
              <a:t>Module Six</a:t>
            </a:r>
          </a:p>
          <a:p>
            <a:r>
              <a:rPr sz="4800" b="0" i="0">
                <a:solidFill>
                  <a:srgbClr val="1B1035"/>
                </a:solidFill>
                <a:latin typeface="Arial Black"/>
              </a:rPr>
              <a:t>Building with AI</a:t>
            </a:r>
          </a:p>
          <a:p>
            <a:r>
              <a:rPr sz="2000" b="0" i="0">
                <a:solidFill>
                  <a:srgbClr val="4A3F66"/>
                </a:solidFill>
                <a:latin typeface="Courier New"/>
              </a:rPr>
              <a:t>&gt; ENG 3861 // MAR 29 – APR 11, 2027_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Readings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600" b="0" i="0">
                <a:solidFill>
                  <a:srgbClr val="1B1035"/>
                </a:solidFill>
                <a:latin typeface="Arial Black"/>
              </a:rPr>
              <a:t>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411480" indent="-320040">
              <a:spcAft>
                <a:spcPts val="1200"/>
              </a:spcAft>
              <a:buChar char="■"/>
            </a:pPr>
            <a:r>
              <a:rPr sz="2200" b="0" i="0">
                <a:solidFill>
                  <a:srgbClr val="1B1035"/>
                </a:solidFill>
                <a:latin typeface="Verdana"/>
              </a:rPr>
              <a:t>Stephen Ramsay, </a:t>
            </a:r>
            <a:r>
              <a:rPr sz="2200" b="0" i="0">
                <a:solidFill>
                  <a:srgbClr val="1B1035"/>
                </a:solidFill>
                <a:latin typeface="Verdana"/>
                <a:hlinkClick r:id="rId2"/>
              </a:rPr>
              <a:t>“On Building”</a:t>
            </a:r>
            <a:r>
              <a:rPr sz="2200" b="0" i="0">
                <a:solidFill>
                  <a:srgbClr val="1B1035"/>
                </a:solidFill>
                <a:latin typeface="Verdana"/>
              </a:rPr>
              <a:t> (2011, archived)</a:t>
            </a:r>
            <a:r>
              <a:rPr sz="1800" b="0" i="0">
                <a:solidFill>
                  <a:srgbClr val="4A3F66"/>
                </a:solidFill>
                <a:latin typeface="Verdana"/>
              </a:rPr>
              <a:t> — why making things is a way of thinking</a:t>
            </a:r>
          </a:p>
          <a:p>
            <a:pPr marL="411480" indent="-320040">
              <a:spcAft>
                <a:spcPts val="1200"/>
              </a:spcAft>
              <a:buChar char="■"/>
            </a:pPr>
            <a:r>
              <a:rPr sz="2200" b="0" i="0">
                <a:solidFill>
                  <a:srgbClr val="1B1035"/>
                </a:solidFill>
                <a:latin typeface="Verdana"/>
              </a:rPr>
              <a:t>Simon Willison, </a:t>
            </a:r>
            <a:r>
              <a:rPr sz="2200" b="0" i="0">
                <a:solidFill>
                  <a:srgbClr val="1B1035"/>
                </a:solidFill>
                <a:latin typeface="Verdana"/>
                <a:hlinkClick r:id="rId3"/>
              </a:rPr>
              <a:t>“Here's how I use LLMs to help me write code”</a:t>
            </a:r>
            <a:r>
              <a:rPr sz="2200" b="0" i="0">
                <a:solidFill>
                  <a:srgbClr val="1B1035"/>
                </a:solidFill>
                <a:latin typeface="Verdana"/>
              </a:rPr>
              <a:t> (2025)</a:t>
            </a:r>
            <a:r>
              <a:rPr sz="1800" b="0" i="0">
                <a:solidFill>
                  <a:srgbClr val="4A3F66"/>
                </a:solidFill>
                <a:latin typeface="Verdana"/>
              </a:rPr>
              <a:t> — practical habits from a programmer who uses AI every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People have always argued about what counts as real programming (xkcd #378, CC BY-NC 2.5)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FFB3C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Comic strip of stick figures one-upping each other: 'Real programmers use emacs,' 'vim,' 'ed,' 'cat,' 'a magnetized needle and a steady hand,' and finally 'butterflies.'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245" y="1097280"/>
            <a:ext cx="8083205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0" i="0">
                <a:solidFill>
                  <a:srgbClr val="1B1035"/>
                </a:solidFill>
                <a:latin typeface="Verdana"/>
              </a:rPr>
              <a:t>People have always argued about what counts as real programming (xkcd #378, CC BY-NC 2.5) </a:t>
            </a:r>
            <a:r>
              <a:rPr sz="1600" b="0" i="0">
                <a:solidFill>
                  <a:srgbClr val="1B1035"/>
                </a:solidFill>
                <a:latin typeface="Verdana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On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11643055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5400" b="0" i="0">
                <a:solidFill>
                  <a:srgbClr val="1B1035"/>
                </a:solidFill>
                <a:latin typeface="Arial Black"/>
              </a:rPr>
              <a:t>On building</a:t>
            </a:r>
          </a:p>
          <a:p>
            <a:pPr algn="ctr">
              <a:spcBef>
                <a:spcPts val="1000"/>
              </a:spcBef>
            </a:pPr>
            <a:r>
              <a:rPr sz="2800" b="0" i="0">
                <a:solidFill>
                  <a:srgbClr val="1B1035"/>
                </a:solidFill>
                <a:latin typeface="Courier New"/>
              </a:rPr>
              <a:t>Stephen Ramsay, 2011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Stephen Ramsay, 2011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FFD23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“But to me, there’s always been a profound — and profoundly exciting and enabling — commonality to everyone who finds their way to DH. And that commonality, I think, involves moving from reading and critiquing to building and making.”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Stephen Ramsay, 2011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Stephen Ramsay, 2011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8FE9D3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“Building is, for us, a new kind of hermeneutic — one that is quite a bit more radical than taking the traditional methods of humanistic inquiry and applying them to digital objects.”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Stephen Ramsay, 2011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Stephen Ramsay, 2011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FFB3C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“All the technai of Digital Humanities — data mining, XML encoding, text analysis, GIS, Web design, visualization, programming, tool design, database design, etc — involve building; only a few of them require programming, per se. Only a radical subset of the DH community knows how to code; nearly all are engaged in building something.”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Stephen Ramsay, 2011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Stephen Ramsay, 2011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B9C8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“Learn to code because it’s fun and because it will change the way you look at the world.”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Stephen Ramsay, 2011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Then and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11643055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5400" b="0" i="0">
                <a:solidFill>
                  <a:srgbClr val="1B1035"/>
                </a:solidFill>
                <a:latin typeface="Arial Black"/>
              </a:rPr>
              <a:t>Then and now</a:t>
            </a:r>
          </a:p>
          <a:p>
            <a:pPr algn="ctr">
              <a:spcBef>
                <a:spcPts val="1000"/>
              </a:spcBef>
            </a:pPr>
            <a:r>
              <a:rPr sz="2800" b="0" i="0">
                <a:solidFill>
                  <a:srgbClr val="1B1035"/>
                </a:solidFill>
                <a:latin typeface="Courier New"/>
              </a:rPr>
              <a:t>how fast building with AI changed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November 2022: a chatbot could write a limerick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8FE9D3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Ethan Mollick post from Nov. 28, 2022: 'a new text model was released for GPT-3 today. AI can now write rhyming poems. And acrostics. And limericks,' with screenshots including a limerick about an ott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249" y="1097280"/>
            <a:ext cx="4675197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November 2022: a chatbot could write a limerick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Three years later: the same silly idea becomes a playable game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FFB3C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Excerpt in which Gemini says it has built a fully interactive, playable Candy-Powered FTL Starship Simulator, above a screenshot of the dark game interface with a small rocket and fuel button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427" y="1097280"/>
            <a:ext cx="4434840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Three years later: the same silly idea becomes a playable game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Simon Willison's pelican test, 2024: can a model draw with code?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B9C8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Blog excerpt introducing the prompt 'Generate an SVG of a pelican riding a bicycle,' followed by two sparse black line drawings of crude bicycles with small bird shapes on top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97" y="1097280"/>
            <a:ext cx="4944900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Simon Willison's pelican test, 2024: can a model draw with code? </a:t>
            </a:r>
            <a:r>
              <a:rPr sz="1800" b="0" i="0">
                <a:solidFill>
                  <a:srgbClr val="1B1035"/>
                </a:solidFill>
                <a:latin typeface="Verdana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The same prompt in 2026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FFD23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Clean vector illustration of a white pelican with a large orange bill pedaling a teal bicycle across a green hill under a yellow su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007" y="1097280"/>
            <a:ext cx="5377680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The same prompt in 2026 </a:t>
            </a:r>
            <a:r>
              <a:rPr sz="1800" b="0" i="0">
                <a:solidFill>
                  <a:srgbClr val="1B1035"/>
                </a:solidFill>
                <a:latin typeface="Verdana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Building by 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11643055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5400" b="0" i="0">
                <a:solidFill>
                  <a:srgbClr val="1B1035"/>
                </a:solidFill>
                <a:latin typeface="Arial Black"/>
              </a:rPr>
              <a:t>Building by asking</a:t>
            </a:r>
          </a:p>
          <a:p>
            <a:pPr algn="ctr">
              <a:spcBef>
                <a:spcPts val="1000"/>
              </a:spcBef>
            </a:pPr>
            <a:r>
              <a:rPr sz="2800" b="0" i="0">
                <a:solidFill>
                  <a:srgbClr val="1B1035"/>
                </a:solidFill>
                <a:latin typeface="Courier New"/>
              </a:rPr>
              <a:t>demos from the graduate version of this course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Chat on the left, a working web page on the right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FFB3C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Claude interface split in two: the chat on the left, where the user asks for a webpage with a Blake-inspired style, and a preview on the right of a page titled 'The Digital Innocent: A Song of Electronic Experience.'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113" y="1097280"/>
            <a:ext cx="7913469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Chat on the left, a working web page on the right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Revising by asking: a follow-up prompt that adds a feature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B9C8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Claude chat in which the model explains keeping the meter and structure of Blake's 'The Lamb,' and the user's next prompt asks for a companion poem and an interactive artifact that switches between both poem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92842"/>
            <a:ext cx="9814255" cy="40437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Revising by asking: a follow-up prompt that adds a feature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The finished, published artifact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FFD23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Published Claude artifact 'Songs of a New Machine': a cream-colored, Blake-style plate titled 'The Word' with the poem 'Little word, who fashioned thee?' framed by flowering vin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304" y="1097280"/>
            <a:ext cx="7615087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The finished, published artifact </a:t>
            </a:r>
            <a:r>
              <a:rPr sz="1800" b="0" i="0">
                <a:solidFill>
                  <a:srgbClr val="1B1035"/>
                </a:solidFill>
                <a:latin typeface="Verdana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A public-domain 1919 song, turned into an animated web page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8FE9D3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Title card of a web animation, 'Take Me to the Land of Jazz! A Brushstroke Jamboree,' in a vaudeville style with red and gold sunburst stripes and a 'Play the picture' butt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500" y="1097280"/>
            <a:ext cx="6210695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A public-domain 1919 song, turned into an animated web page </a:t>
            </a:r>
            <a:r>
              <a:rPr sz="1800" b="0" i="0">
                <a:solidFill>
                  <a:srgbClr val="1B1035"/>
                </a:solidFill>
                <a:latin typeface="Verdana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Working like Willison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11643055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5400" b="0" i="0">
                <a:solidFill>
                  <a:srgbClr val="1B1035"/>
                </a:solidFill>
                <a:latin typeface="Arial Black"/>
              </a:rPr>
              <a:t>Working like Willison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Simon Willison, 2025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B9C8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“Most of the craft of getting good results out of an LLM comes down to managing its context—the text that is part of your current conversation.”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Simon Willison,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Simon Willison, 2025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FFD23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“My current favorite mental model is to think of them as an over-confident pair programming assistant who’s lightning fast at looking things up, can churn out relevant examples at a moment’s notice and can execute on tedious tasks without complaint.”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Simon Willison, 2025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Simon Willison, 2025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8FE9D3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“I often wonder if this is one of the key tricks that people are missing—a bad initial result isn’t a failure, it’s a starting point for pushing the model in the direction of the thing you actually want.”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Simon Willison,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Simon Willison, 2025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FFB3C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“Your responsibility as a software developer is to deliver working systems. If you haven’t seen it run, it’s not a working system. You need to invest in strengthening those manual QA habits.”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Simon Willison, 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Hype check: AI-written code still needs people who test it</a:t>
            </a:r>
          </a:p>
        </p:txBody>
      </p:sp>
      <p:grpSp>
        <p:nvGrpSpPr>
          <p:cNvPr id="3" name="Window imag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365760"/>
            <a:ext cx="10655503" cy="5504688"/>
            <a:chOff x="822960" y="365760"/>
            <a:chExt cx="10655503" cy="5504688"/>
          </a:xfrm>
        </p:grpSpPr>
        <p:sp>
          <p:nvSpPr>
            <p:cNvPr id="4" name="Rectangle 3"/>
            <p:cNvSpPr/>
            <p:nvPr/>
          </p:nvSpPr>
          <p:spPr>
            <a:xfrm>
              <a:off x="932688" y="475488"/>
              <a:ext cx="10545775" cy="539496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365760"/>
              <a:ext cx="10545775" cy="539496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365760"/>
              <a:ext cx="10545775" cy="502920"/>
            </a:xfrm>
            <a:prstGeom prst="rect">
              <a:avLst/>
            </a:prstGeom>
            <a:solidFill>
              <a:srgbClr val="B9C8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51206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51206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51206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36576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image.png</a:t>
              </a:r>
            </a:p>
          </p:txBody>
        </p:sp>
      </p:grpSp>
      <p:pic>
        <p:nvPicPr>
          <p:cNvPr id="11" name="Picture 10" descr="NPR article 'Tech CEOs say the era of code by AI is here. Some software engineers are skeptical,' with an illustration of a brain in a birdcag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070" y="1097280"/>
            <a:ext cx="5221554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0" i="0">
                <a:solidFill>
                  <a:srgbClr val="1B1035"/>
                </a:solidFill>
                <a:latin typeface="Verdana"/>
              </a:rPr>
              <a:t>Hype check: AI-written code still needs people who test it </a:t>
            </a:r>
            <a:r>
              <a:rPr sz="1800" b="0" i="0">
                <a:solidFill>
                  <a:srgbClr val="1B1035"/>
                </a:solidFill>
                <a:latin typeface="Verdana"/>
                <a:hlinkClick r:id="rId3"/>
              </a:rPr>
              <a:t>source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Next week, Do: Build a Mini-Exhibit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11643055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5400" b="0" i="0">
                <a:solidFill>
                  <a:srgbClr val="1B1035"/>
                </a:solidFill>
                <a:latin typeface="Arial Black"/>
              </a:rPr>
              <a:t>Next week, Do:</a:t>
            </a:r>
            <a:br/>
            <a:r>
              <a:rPr sz="5400" b="0" i="0">
                <a:solidFill>
                  <a:srgbClr val="1B1035"/>
                </a:solidFill>
                <a:latin typeface="Arial Black"/>
              </a:rPr>
              <a:t>Build a Mini-Exhibit</a:t>
            </a:r>
          </a:p>
          <a:p>
            <a:pPr algn="ctr">
              <a:spcBef>
                <a:spcPts val="1000"/>
              </a:spcBef>
            </a:pPr>
            <a:r>
              <a:rPr sz="2400" b="0" i="0">
                <a:solidFill>
                  <a:srgbClr val="1B1035"/>
                </a:solidFill>
                <a:latin typeface="Courier New"/>
              </a:rPr>
              <a:t>watch the video, then do the exercise and post by Thursday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Five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600" b="0" i="0">
                <a:solidFill>
                  <a:srgbClr val="1B1035"/>
                </a:solidFill>
                <a:latin typeface="Arial Black"/>
              </a:rPr>
              <a:t>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411480" indent="-320040">
              <a:spcAft>
                <a:spcPts val="1200"/>
              </a:spcAft>
              <a:buChar char="■"/>
            </a:pPr>
            <a:r>
              <a:rPr sz="2400" b="1" i="0">
                <a:solidFill>
                  <a:srgbClr val="1B1035"/>
                </a:solidFill>
                <a:latin typeface="Verdana"/>
              </a:rPr>
              <a:t>Plan:</a:t>
            </a:r>
            <a:r>
              <a:rPr sz="2400" b="0" i="0">
                <a:solidFill>
                  <a:srgbClr val="1B1035"/>
                </a:solidFill>
                <a:latin typeface="Verdana"/>
              </a:rPr>
              <a:t> what it is, what goes in it, what a visitor can do</a:t>
            </a:r>
          </a:p>
          <a:p>
            <a:pPr marL="411480" indent="-320040">
              <a:spcAft>
                <a:spcPts val="1200"/>
              </a:spcAft>
              <a:buChar char="■"/>
            </a:pPr>
            <a:r>
              <a:rPr sz="2400" b="1" i="0">
                <a:solidFill>
                  <a:srgbClr val="1B1035"/>
                </a:solidFill>
                <a:latin typeface="Verdana"/>
              </a:rPr>
              <a:t>Prompt:</a:t>
            </a:r>
            <a:r>
              <a:rPr sz="2400" b="0" i="0">
                <a:solidFill>
                  <a:srgbClr val="1B1035"/>
                </a:solidFill>
                <a:latin typeface="Verdana"/>
              </a:rPr>
              <a:t> describe it specifically and paste in your material</a:t>
            </a:r>
          </a:p>
          <a:p>
            <a:pPr marL="411480" indent="-320040">
              <a:spcAft>
                <a:spcPts val="1200"/>
              </a:spcAft>
              <a:buChar char="■"/>
            </a:pPr>
            <a:r>
              <a:rPr sz="2400" b="1" i="0">
                <a:solidFill>
                  <a:srgbClr val="1B1035"/>
                </a:solidFill>
                <a:latin typeface="Verdana"/>
              </a:rPr>
              <a:t>Revise</a:t>
            </a:r>
            <a:r>
              <a:rPr sz="2400" b="0" i="0">
                <a:solidFill>
                  <a:srgbClr val="1B1035"/>
                </a:solidFill>
                <a:latin typeface="Verdana"/>
              </a:rPr>
              <a:t> at least five times, and test every change</a:t>
            </a:r>
          </a:p>
          <a:p>
            <a:pPr marL="411480" indent="-320040">
              <a:spcAft>
                <a:spcPts val="1200"/>
              </a:spcAft>
              <a:buChar char="■"/>
            </a:pPr>
            <a:r>
              <a:rPr sz="2400" b="1" i="0">
                <a:solidFill>
                  <a:srgbClr val="1B1035"/>
                </a:solidFill>
                <a:latin typeface="Verdana"/>
              </a:rPr>
              <a:t>Look under the hood:</a:t>
            </a:r>
            <a:r>
              <a:rPr sz="2400" b="0" i="0">
                <a:solidFill>
                  <a:srgbClr val="1B1035"/>
                </a:solidFill>
                <a:latin typeface="Verdana"/>
              </a:rPr>
              <a:t> ask the AI to explain the code</a:t>
            </a:r>
          </a:p>
          <a:p>
            <a:pPr marL="411480" indent="-320040">
              <a:spcAft>
                <a:spcPts val="1200"/>
              </a:spcAft>
              <a:buChar char="■"/>
            </a:pPr>
            <a:r>
              <a:rPr sz="2400" b="1" i="0">
                <a:solidFill>
                  <a:srgbClr val="1B1035"/>
                </a:solidFill>
                <a:latin typeface="Verdana"/>
              </a:rPr>
              <a:t>Share</a:t>
            </a:r>
            <a:r>
              <a:rPr sz="2400" b="0" i="0">
                <a:solidFill>
                  <a:srgbClr val="1B1035"/>
                </a:solidFill>
                <a:latin typeface="Verdana"/>
              </a:rPr>
              <a:t> the link, and open it in a private window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Prompt: an example first prompt</a:t>
            </a:r>
          </a:p>
        </p:txBody>
      </p:sp>
      <p:grpSp>
        <p:nvGrpSpPr>
          <p:cNvPr id="3" name="Window prompt.ex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7280" y="1097280"/>
            <a:ext cx="10106863" cy="4773168"/>
            <a:chOff x="1097280" y="1097280"/>
            <a:chExt cx="10106863" cy="4773168"/>
          </a:xfrm>
        </p:grpSpPr>
        <p:sp>
          <p:nvSpPr>
            <p:cNvPr id="4" name="Rectangle 3"/>
            <p:cNvSpPr/>
            <p:nvPr/>
          </p:nvSpPr>
          <p:spPr>
            <a:xfrm>
              <a:off x="1207008" y="1207008"/>
              <a:ext cx="9997135" cy="46634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097280"/>
              <a:ext cx="9997135" cy="4663440"/>
            </a:xfrm>
            <a:prstGeom prst="rect">
              <a:avLst/>
            </a:prstGeom>
            <a:solidFill>
              <a:srgbClr val="1B1035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97280" y="1097280"/>
              <a:ext cx="9997135" cy="502920"/>
            </a:xfrm>
            <a:prstGeom prst="rect">
              <a:avLst/>
            </a:prstGeom>
            <a:solidFill>
              <a:srgbClr val="FFB3C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325880" y="12435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27632" y="12435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29384" y="12435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31720" y="1097280"/>
              <a:ext cx="862553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prompt.exe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463040" y="1828800"/>
            <a:ext cx="9265615" cy="3703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0" i="0">
                <a:solidFill>
                  <a:srgbClr val="FFB3CF"/>
                </a:solidFill>
                <a:latin typeface="Courier New"/>
              </a:rPr>
              <a:t>an example first prompt</a:t>
            </a:r>
          </a:p>
          <a:p>
            <a:pPr>
              <a:spcBef>
                <a:spcPts val="600"/>
              </a:spcBef>
            </a:pPr>
            <a:r>
              <a:rPr sz="2600" b="1" i="0">
                <a:solidFill>
                  <a:srgbClr val="FFD23F"/>
                </a:solidFill>
                <a:latin typeface="Courier New"/>
              </a:rPr>
              <a:t>&gt; </a:t>
            </a:r>
            <a:r>
              <a:rPr sz="2600" b="0" i="0">
                <a:solidFill>
                  <a:srgbClr val="7DFFB3"/>
                </a:solidFill>
                <a:latin typeface="Courier New"/>
              </a:rPr>
              <a:t>Build a single-page interactive web exhibit called “Cats in the Library of Congress.” Show these six images as a gallery. Clicking an image opens a panel with its title, date, and a two-sentence description. Add buttons to sort by date or type. Include alt text for every image.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Discussion question</a:t>
            </a:r>
          </a:p>
        </p:txBody>
      </p:sp>
      <p:grpSp>
        <p:nvGrpSpPr>
          <p:cNvPr id="3" name="Window discuss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7280" y="914400"/>
            <a:ext cx="10106863" cy="5138928"/>
            <a:chOff x="1097280" y="914400"/>
            <a:chExt cx="10106863" cy="5138928"/>
          </a:xfrm>
        </p:grpSpPr>
        <p:sp>
          <p:nvSpPr>
            <p:cNvPr id="4" name="Rectangle 3"/>
            <p:cNvSpPr/>
            <p:nvPr/>
          </p:nvSpPr>
          <p:spPr>
            <a:xfrm>
              <a:off x="1207008" y="1024128"/>
              <a:ext cx="9997135" cy="502920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914400"/>
              <a:ext cx="9997135" cy="50292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97280" y="914400"/>
              <a:ext cx="9997135" cy="502920"/>
            </a:xfrm>
            <a:prstGeom prst="rect">
              <a:avLst/>
            </a:prstGeom>
            <a:solidFill>
              <a:srgbClr val="B9C8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325880" y="106070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27632" y="106070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29384" y="106070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31720" y="914400"/>
              <a:ext cx="862553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discuss.txt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463040" y="1645920"/>
            <a:ext cx="9265615" cy="4069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3200" b="0" i="0">
                <a:solidFill>
                  <a:srgbClr val="1B1035"/>
                </a:solidFill>
                <a:latin typeface="Arial Black"/>
              </a:rPr>
              <a:t>What decisions did building force you to make about your material?</a:t>
            </a:r>
          </a:p>
          <a:p>
            <a:pPr>
              <a:spcBef>
                <a:spcPts val="1200"/>
              </a:spcBef>
            </a:pPr>
            <a:r>
              <a:rPr sz="2000" b="0" i="0">
                <a:solidFill>
                  <a:srgbClr val="4A3F66"/>
                </a:solidFill>
                <a:latin typeface="Verdana"/>
              </a:rPr>
              <a:t>Post: link + screenshot + prompt list (3 pts), a 250+ word reflection (4), one citation (1), two replies (2).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191695" y="0"/>
            <a:ext cx="12191695" cy="914400"/>
          </a:xfrm>
        </p:spPr>
        <p:txBody>
          <a:bodyPr/>
          <a:lstStyle/>
          <a:p>
            <a:r>
              <a:t>Quote: Simon Willison, 2025</a:t>
            </a:r>
          </a:p>
        </p:txBody>
      </p:sp>
      <p:grpSp>
        <p:nvGrpSpPr>
          <p:cNvPr id="3" name="Window quote.tx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2960" y="640080"/>
            <a:ext cx="10655503" cy="5687568"/>
            <a:chOff x="822960" y="640080"/>
            <a:chExt cx="10655503" cy="5687568"/>
          </a:xfrm>
        </p:grpSpPr>
        <p:sp>
          <p:nvSpPr>
            <p:cNvPr id="4" name="Rectangle 3"/>
            <p:cNvSpPr/>
            <p:nvPr/>
          </p:nvSpPr>
          <p:spPr>
            <a:xfrm>
              <a:off x="932688" y="749808"/>
              <a:ext cx="10545775" cy="5577840"/>
            </a:xfrm>
            <a:prstGeom prst="rect">
              <a:avLst/>
            </a:prstGeom>
            <a:solidFill>
              <a:srgbClr val="1B10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640080"/>
              <a:ext cx="10545775" cy="55778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640080"/>
              <a:ext cx="10545775" cy="502920"/>
            </a:xfrm>
            <a:prstGeom prst="rect">
              <a:avLst/>
            </a:prstGeom>
            <a:solidFill>
              <a:srgbClr val="FFD23F"/>
            </a:solidFill>
            <a:ln w="381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51560" y="786384"/>
              <a:ext cx="201168" cy="201168"/>
            </a:xfrm>
            <a:prstGeom prst="rect">
              <a:avLst/>
            </a:prstGeom>
            <a:solidFill>
              <a:srgbClr val="FF3D7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53312" y="786384"/>
              <a:ext cx="201168" cy="201168"/>
            </a:xfrm>
            <a:prstGeom prst="rect">
              <a:avLst/>
            </a:prstGeom>
            <a:solidFill>
              <a:srgbClr val="2E5BFF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5064" y="786384"/>
              <a:ext cx="201168" cy="201168"/>
            </a:xfrm>
            <a:prstGeom prst="rect">
              <a:avLst/>
            </a:prstGeom>
            <a:solidFill>
              <a:srgbClr val="00B894"/>
            </a:solidFill>
            <a:ln w="25400">
              <a:solidFill>
                <a:srgbClr val="1B10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57400" y="640080"/>
              <a:ext cx="9174175" cy="5029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1600" b="1" i="0">
                  <a:solidFill>
                    <a:srgbClr val="1B1035"/>
                  </a:solidFill>
                  <a:latin typeface="Courier New"/>
                </a:rPr>
                <a:t>quote.txt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188720" y="1371600"/>
            <a:ext cx="9814255" cy="3886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0" i="0">
                <a:solidFill>
                  <a:srgbClr val="1B1035"/>
                </a:solidFill>
                <a:latin typeface="Verdana"/>
              </a:rPr>
              <a:t>“The best way to learn LLMs is to play with them. Throwing absurd ideas at them and vibe-coding until they almost sort-of work is a genuinely useful way to accelerate the rate at which you build intuition for what works and what doesn’t.”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814255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600" b="0" i="0">
                <a:solidFill>
                  <a:srgbClr val="4A3F66"/>
                </a:solidFill>
                <a:latin typeface="Courier New"/>
              </a:rPr>
              <a:t>— </a:t>
            </a:r>
            <a:r>
              <a:rPr sz="1600" b="0" i="0">
                <a:solidFill>
                  <a:srgbClr val="4A3F66"/>
                </a:solidFill>
                <a:latin typeface="Courier New"/>
                <a:hlinkClick r:id="rId2"/>
              </a:rPr>
              <a:t>Simon Willison,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Six: Building with AI</dc:title>
  <dc:subject/>
  <dc:creator>ENG 3861</dc:creator>
  <cp:keywords/>
  <dc:description>generated using python-pptx</dc:description>
  <cp:lastModifiedBy/>
  <cp:revision>1</cp:revision>
  <dcterms:created xsi:type="dcterms:W3CDTF">2027-01-01T00:00:00Z</dcterms:created>
  <dcterms:modified xsi:type="dcterms:W3CDTF">2027-01-01T00:00:00Z</dcterms:modified>
  <cp:category/>
</cp:coreProperties>
</file>