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students hit a paywall, both pieces are available through the UCF Library databases.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Chiang opens with a Xerox photocopier that silently swapped numbers on building plans. That's the model for a hallucination: plausible, readable, wrong.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exercise in one sentence: compare against the originals.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yorker.com/tech/annals-of-technology/chatgpt-is-a-blurry-jpeg-of-the-web" TargetMode="External"/><Relationship Id="rId3" Type="http://schemas.openxmlformats.org/officeDocument/2006/relationships/hyperlink" Target="https://www.theatlantic.com/technology/archive/2023/03/ai-chatgpt-writing-language-models/673318/" TargetMode="Externa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yorker.com/tech/annals-of-technology/chatgpt-is-a-blurry-jpeg-of-the-web"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yorker.com/tech/annals-of-technology/chatgpt-is-a-blurry-jpeg-of-the-web" TargetMode="External"/><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yorker.com/tech/annals-of-technology/chatgpt-is-a-blurry-jpeg-of-the-web" TargetMode="External"/><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yorker.com/tech/annals-of-technology/chatgpt-is-a-blurry-jpeg-of-the-web"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theatlantic.com/technology/archive/2023/03/ai-chatgpt-writing-language-models/673318/"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eatlantic.com/technology/archive/2023/03/ai-chatgpt-writing-language-models/673318/"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eatlantic.com/technology/archive/2023/03/ai-chatgpt-writing-language-models/67331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eatlantic.com/technology/archive/2023/03/ai-chatgpt-writing-language-models/67331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www.law.com/nationallawjournal/2026/09/08/judges-ai-error-laden-ruling-faces-appellate-scrutiny-are-there-lessons-for-lawyer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https://www.economist.com/business/2025/07/14/ai-is-killing-the-web-can-anything-save-i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ewyorker.com/tech/annals-of-technology/chatgpt-is-a-blurry-jpeg-of-the-web"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ucf.edu/" TargetMode="External"/><Relationship Id="rId3" Type="http://schemas.openxmlformats.org/officeDocument/2006/relationships/hyperlink" Target="https://scholar.google.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914400" y="914400"/>
            <a:ext cx="10472623" cy="5138928"/>
            <a:chOff x="914400" y="914400"/>
            <a:chExt cx="10472623" cy="5138928"/>
          </a:xfrm>
        </p:grpSpPr>
        <p:sp>
          <p:nvSpPr>
            <p:cNvPr id="3" name="Rectangle 2"/>
            <p:cNvSpPr/>
            <p:nvPr/>
          </p:nvSpPr>
          <p:spPr>
            <a:xfrm>
              <a:off x="1024128" y="1024128"/>
              <a:ext cx="1036289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914400"/>
              <a:ext cx="1036289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914400"/>
              <a:ext cx="10362895" cy="502920"/>
            </a:xfrm>
            <a:prstGeom prst="rect">
              <a:avLst/>
            </a:prstGeom>
            <a:solidFill>
              <a:srgbClr val="FF3D7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4300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4475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74650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40" y="914400"/>
              <a:ext cx="8991295" cy="502920"/>
            </a:xfrm>
            <a:prstGeom prst="rect">
              <a:avLst/>
            </a:prstGeom>
            <a:noFill/>
          </p:spPr>
          <p:txBody>
            <a:bodyPr wrap="none" anchor="ctr">
              <a:spAutoFit/>
            </a:bodyPr>
            <a:lstStyle/>
            <a:p>
              <a:r>
                <a:rPr sz="1600" b="1" i="0">
                  <a:solidFill>
                    <a:srgbClr val="FFFFFF"/>
                  </a:solidFill>
                  <a:latin typeface="Courier New"/>
                </a:rPr>
                <a:t>ENG3861.EXE</a:t>
              </a:r>
            </a:p>
          </p:txBody>
        </p:sp>
      </p:grpSp>
      <p:sp>
        <p:nvSpPr>
          <p:cNvPr id="10" name="TextBox 9"/>
          <p:cNvSpPr txBox="1"/>
          <p:nvPr/>
        </p:nvSpPr>
        <p:spPr>
          <a:xfrm>
            <a:off x="1280160" y="1645920"/>
            <a:ext cx="9631375" cy="4069080"/>
          </a:xfrm>
          <a:prstGeom prst="rect">
            <a:avLst/>
          </a:prstGeom>
          <a:noFill/>
        </p:spPr>
        <p:txBody>
          <a:bodyPr wrap="square" anchor="ctr">
            <a:normAutofit/>
          </a:bodyPr>
          <a:lstStyle/>
          <a:p>
            <a:r>
              <a:rPr sz="1800" b="0" i="0">
                <a:solidFill>
                  <a:srgbClr val="2E5BFF"/>
                </a:solidFill>
                <a:latin typeface="Arial Black"/>
              </a:rPr>
              <a:t>WORDS</a:t>
            </a:r>
          </a:p>
          <a:p>
            <a:r>
              <a:rPr sz="2400" b="0" i="0">
                <a:solidFill>
                  <a:srgbClr val="4A3F66"/>
                </a:solidFill>
                <a:latin typeface="Courier New"/>
              </a:rPr>
              <a:t>Module Two</a:t>
            </a:r>
          </a:p>
          <a:p>
            <a:r>
              <a:rPr sz="4800" b="0" i="0">
                <a:solidFill>
                  <a:srgbClr val="1B1035"/>
                </a:solidFill>
                <a:latin typeface="Arial Black"/>
              </a:rPr>
              <a:t>Generating Text, Checking Sources</a:t>
            </a:r>
          </a:p>
          <a:p>
            <a:r>
              <a:rPr sz="2000" b="0" i="0">
                <a:solidFill>
                  <a:srgbClr val="4A3F66"/>
                </a:solidFill>
                <a:latin typeface="Courier New"/>
              </a:rPr>
              <a:t>&gt; ENG 3861 // JAN 25 – FEB 7, 2027_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extBox 1"/>
          <p:cNvSpPr txBox="1"/>
          <p:nvPr/>
        </p:nvSpPr>
        <p:spPr>
          <a:xfrm>
            <a:off x="731520" y="457200"/>
            <a:ext cx="10728655" cy="914400"/>
          </a:xfrm>
          <a:prstGeom prst="rect">
            <a:avLst/>
          </a:prstGeom>
          <a:noFill/>
        </p:spPr>
        <p:txBody>
          <a:bodyPr wrap="square" anchor="t">
            <a:normAutofit/>
          </a:bodyPr>
          <a:lstStyle/>
          <a:p>
            <a:r>
              <a:rPr sz="3600" b="0" i="0">
                <a:solidFill>
                  <a:srgbClr val="2E5BFF"/>
                </a:solidFill>
                <a:latin typeface="Arial Black"/>
              </a:rPr>
              <a:t>Readings</a:t>
            </a:r>
          </a:p>
        </p:txBody>
      </p:sp>
      <p:sp>
        <p:nvSpPr>
          <p:cNvPr id="3" name="TextBox 2"/>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200" b="0" i="0">
                <a:solidFill>
                  <a:srgbClr val="1B1035"/>
                </a:solidFill>
                <a:latin typeface="Verdana"/>
              </a:rPr>
              <a:t>Ted Chiang, </a:t>
            </a:r>
            <a:r>
              <a:rPr sz="2200" b="0" i="0">
                <a:solidFill>
                  <a:srgbClr val="1B1035"/>
                </a:solidFill>
                <a:latin typeface="Verdana"/>
                <a:hlinkClick r:id="rId2"/>
              </a:rPr>
              <a:t>“ChatGPT Is a Blurry JPEG of the Web”</a:t>
            </a:r>
            <a:r>
              <a:rPr sz="2200" b="0" i="0">
                <a:solidFill>
                  <a:srgbClr val="1B1035"/>
                </a:solidFill>
                <a:latin typeface="Verdana"/>
              </a:rPr>
              <a:t>, </a:t>
            </a:r>
            <a:r>
              <a:rPr sz="2200" b="0" i="1">
                <a:solidFill>
                  <a:srgbClr val="1B1035"/>
                </a:solidFill>
                <a:latin typeface="Verdana"/>
              </a:rPr>
              <a:t>The New Yorker</a:t>
            </a:r>
            <a:r>
              <a:rPr sz="2200" b="0" i="0">
                <a:solidFill>
                  <a:srgbClr val="1B1035"/>
                </a:solidFill>
                <a:latin typeface="Verdana"/>
              </a:rPr>
              <a:t> (2023)</a:t>
            </a:r>
            <a:r>
              <a:rPr sz="1800" b="0" i="0">
                <a:solidFill>
                  <a:srgbClr val="4A3F66"/>
                </a:solidFill>
                <a:latin typeface="Verdana"/>
              </a:rPr>
              <a:t>— a metaphor for what language models keep and what they lose</a:t>
            </a:r>
          </a:p>
          <a:p>
            <a:pPr marL="411480" indent="-320040">
              <a:spcAft>
                <a:spcPts val="1200"/>
              </a:spcAft>
              <a:buChar char="■"/>
            </a:pPr>
            <a:r>
              <a:rPr sz="2200" b="0" i="0">
                <a:solidFill>
                  <a:srgbClr val="1B1035"/>
                </a:solidFill>
                <a:latin typeface="Verdana"/>
              </a:rPr>
              <a:t>Matthew Kirschenbaum, </a:t>
            </a:r>
            <a:r>
              <a:rPr sz="2200" b="0" i="0">
                <a:solidFill>
                  <a:srgbClr val="1B1035"/>
                </a:solidFill>
                <a:latin typeface="Verdana"/>
                <a:hlinkClick r:id="rId3"/>
              </a:rPr>
              <a:t>“Prepare for the Textpocalypse”</a:t>
            </a:r>
            <a:r>
              <a:rPr sz="2200" b="0" i="0">
                <a:solidFill>
                  <a:srgbClr val="1B1035"/>
                </a:solidFill>
                <a:latin typeface="Verdana"/>
              </a:rPr>
              <a:t>, </a:t>
            </a:r>
            <a:r>
              <a:rPr sz="2200" b="0" i="1">
                <a:solidFill>
                  <a:srgbClr val="1B1035"/>
                </a:solidFill>
                <a:latin typeface="Verdana"/>
              </a:rPr>
              <a:t>The Atlantic</a:t>
            </a:r>
            <a:r>
              <a:rPr sz="2200" b="0" i="0">
                <a:solidFill>
                  <a:srgbClr val="1B1035"/>
                </a:solidFill>
                <a:latin typeface="Verdana"/>
              </a:rPr>
              <a:t> (2023)</a:t>
            </a:r>
            <a:r>
              <a:rPr sz="1800" b="0" i="0">
                <a:solidFill>
                  <a:srgbClr val="4A3F66"/>
                </a:solidFill>
                <a:latin typeface="Verdana"/>
              </a:rPr>
              <a:t>— what happens when machine-written text floods the web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365760"/>
            <a:ext cx="10655503" cy="5504688"/>
            <a:chOff x="822960" y="365760"/>
            <a:chExt cx="10655503" cy="5504688"/>
          </a:xfrm>
        </p:grpSpPr>
        <p:sp>
          <p:nvSpPr>
            <p:cNvPr id="3" name="Rectangle 2"/>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0" name="Picture 9" descr="Scanned page spread: a short poem beginning 'A hot and torrid bloom which / Fans wise flames and begs to be / Redeemed by forces black and strong' beside a black-and-white engraving of a desert landscape."/>
          <p:cNvPicPr>
            <a:picLocks noChangeAspect="1"/>
          </p:cNvPicPr>
          <p:nvPr/>
        </p:nvPicPr>
        <p:blipFill>
          <a:blip r:embed="rId2"/>
          <a:stretch>
            <a:fillRect/>
          </a:stretch>
        </p:blipFill>
        <p:spPr>
          <a:xfrm>
            <a:off x="2224035" y="1097280"/>
            <a:ext cx="7743625" cy="4434840"/>
          </a:xfrm>
          <a:prstGeom prst="rect">
            <a:avLst/>
          </a:prstGeom>
        </p:spPr>
      </p:pic>
      <p:sp>
        <p:nvSpPr>
          <p:cNvPr id="11" name="TextBox 10"/>
          <p:cNvSpPr txBox="1"/>
          <p:nvPr/>
        </p:nvSpPr>
        <p:spPr>
          <a:xfrm>
            <a:off x="822960" y="5989320"/>
            <a:ext cx="10545775" cy="731520"/>
          </a:xfrm>
          <a:prstGeom prst="rect">
            <a:avLst/>
          </a:prstGeom>
          <a:noFill/>
        </p:spPr>
        <p:txBody>
          <a:bodyPr wrap="square" anchor="t">
            <a:normAutofit/>
          </a:bodyPr>
          <a:lstStyle/>
          <a:p>
            <a:pPr algn="ctr"/>
            <a:r>
              <a:rPr sz="1800" b="0" i="0">
                <a:solidFill>
                  <a:srgbClr val="1B1035"/>
                </a:solidFill>
                <a:latin typeface="Verdana"/>
              </a:rPr>
              <a:t>Machine-generated poetry, 1984: generated text has a long history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365760"/>
            <a:ext cx="10655503" cy="5504688"/>
            <a:chOff x="822960" y="365760"/>
            <a:chExt cx="10655503" cy="5504688"/>
          </a:xfrm>
        </p:grpSpPr>
        <p:sp>
          <p:nvSpPr>
            <p:cNvPr id="3" name="Rectangle 2"/>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0" name="Picture 9" descr="ChatGPT start screen reading 'What can I help with?' above a message box and buttons for Create image, Help me write, Summarize text, and Make a plan."/>
          <p:cNvPicPr>
            <a:picLocks noChangeAspect="1"/>
          </p:cNvPicPr>
          <p:nvPr/>
        </p:nvPicPr>
        <p:blipFill>
          <a:blip r:embed="rId2"/>
          <a:stretch>
            <a:fillRect/>
          </a:stretch>
        </p:blipFill>
        <p:spPr>
          <a:xfrm>
            <a:off x="1188720" y="1440763"/>
            <a:ext cx="9814255" cy="3747874"/>
          </a:xfrm>
          <a:prstGeom prst="rect">
            <a:avLst/>
          </a:prstGeom>
        </p:spPr>
      </p:pic>
      <p:sp>
        <p:nvSpPr>
          <p:cNvPr id="11" name="TextBox 10"/>
          <p:cNvSpPr txBox="1"/>
          <p:nvPr/>
        </p:nvSpPr>
        <p:spPr>
          <a:xfrm>
            <a:off x="822960" y="5989320"/>
            <a:ext cx="10545775" cy="731520"/>
          </a:xfrm>
          <a:prstGeom prst="rect">
            <a:avLst/>
          </a:prstGeom>
          <a:noFill/>
        </p:spPr>
        <p:txBody>
          <a:bodyPr wrap="square" anchor="t">
            <a:normAutofit/>
          </a:bodyPr>
          <a:lstStyle/>
          <a:p>
            <a:pPr algn="ctr"/>
            <a:r>
              <a:rPr sz="1800" b="0" i="0">
                <a:solidFill>
                  <a:srgbClr val="1B1035"/>
                </a:solidFill>
                <a:latin typeface="Verdana"/>
              </a:rPr>
              <a:t>The blank box: where most people meet text generation today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extBox 1"/>
          <p:cNvSpPr txBox="1"/>
          <p:nvPr/>
        </p:nvSpPr>
        <p:spPr>
          <a:xfrm>
            <a:off x="731520" y="1463040"/>
            <a:ext cx="10728655" cy="2926080"/>
          </a:xfrm>
          <a:prstGeom prst="rect">
            <a:avLst/>
          </a:prstGeom>
          <a:noFill/>
        </p:spPr>
        <p:txBody>
          <a:bodyPr wrap="square" anchor="ctr">
            <a:normAutofit/>
          </a:bodyPr>
          <a:lstStyle/>
          <a:p>
            <a:pPr algn="ctr"/>
            <a:r>
              <a:rPr sz="5400" b="0" i="0">
                <a:solidFill>
                  <a:srgbClr val="FFFFFF"/>
                </a:solidFill>
                <a:latin typeface="Arial Black"/>
              </a:rPr>
              <a:t>A blurry JPEG</a:t>
            </a:r>
          </a:p>
          <a:p>
            <a:pPr algn="ctr"/>
            <a:r>
              <a:rPr sz="2800" b="0" i="0">
                <a:solidFill>
                  <a:srgbClr val="FFFFFF"/>
                </a:solidFill>
                <a:latin typeface="Courier New"/>
              </a:rPr>
              <a:t>Ted Chiang on compression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640080"/>
            <a:ext cx="10655503" cy="5687568"/>
            <a:chOff x="822960" y="640080"/>
            <a:chExt cx="10655503" cy="5687568"/>
          </a:xfrm>
        </p:grpSpPr>
        <p:sp>
          <p:nvSpPr>
            <p:cNvPr id="3" name="Rectangle 2"/>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0" name="TextBox 9"/>
          <p:cNvSpPr txBox="1"/>
          <p:nvPr/>
        </p:nvSpPr>
        <p:spPr>
          <a:xfrm>
            <a:off x="1188720" y="1371600"/>
            <a:ext cx="9814255" cy="3886200"/>
          </a:xfrm>
          <a:prstGeom prst="rect">
            <a:avLst/>
          </a:prstGeom>
          <a:noFill/>
        </p:spPr>
        <p:txBody>
          <a:bodyPr wrap="square" anchor="ctr">
            <a:normAutofit/>
          </a:bodyPr>
          <a:lstStyle/>
          <a:p>
            <a:r>
              <a:rPr sz="2200" b="0" i="0">
                <a:solidFill>
                  <a:srgbClr val="1B1035"/>
                </a:solidFill>
                <a:latin typeface="Verdana"/>
              </a:rPr>
              <a:t>“Think of ChatGPT as a blurry JPEG of all the text on the Web. It retains much of the information on the Web, in the same way that a JPEG retains much of the information of a higher-resolution image, but, if you’re looking for an exact sequence of bits, you won’t find it; all you will ever get is an approximation.”</a:t>
            </a:r>
          </a:p>
        </p:txBody>
      </p:sp>
      <p:sp>
        <p:nvSpPr>
          <p:cNvPr id="11" name="TextBox 10"/>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Chiang, 2023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640080"/>
            <a:ext cx="10655503" cy="5687568"/>
            <a:chOff x="822960" y="640080"/>
            <a:chExt cx="10655503" cy="5687568"/>
          </a:xfrm>
        </p:grpSpPr>
        <p:sp>
          <p:nvSpPr>
            <p:cNvPr id="3" name="Rectangle 2"/>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0" name="TextBox 9"/>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“What led to problems was the fact that the photocopier was producing numbers that were readable but incorrect; it made the copies seem accurate when they weren’t.”</a:t>
            </a:r>
          </a:p>
        </p:txBody>
      </p:sp>
      <p:sp>
        <p:nvSpPr>
          <p:cNvPr id="11" name="TextBox 10"/>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Chiang, 2023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640080"/>
            <a:ext cx="10655503" cy="5687568"/>
            <a:chOff x="822960" y="640080"/>
            <a:chExt cx="10655503" cy="5687568"/>
          </a:xfrm>
        </p:grpSpPr>
        <p:sp>
          <p:nvSpPr>
            <p:cNvPr id="3" name="Rectangle 2"/>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0" name="TextBox 9"/>
          <p:cNvSpPr txBox="1"/>
          <p:nvPr/>
        </p:nvSpPr>
        <p:spPr>
          <a:xfrm>
            <a:off x="1188720" y="1371600"/>
            <a:ext cx="9814255" cy="3886200"/>
          </a:xfrm>
          <a:prstGeom prst="rect">
            <a:avLst/>
          </a:prstGeom>
          <a:noFill/>
        </p:spPr>
        <p:txBody>
          <a:bodyPr wrap="square" anchor="ctr">
            <a:normAutofit/>
          </a:bodyPr>
          <a:lstStyle/>
          <a:p>
            <a:r>
              <a:rPr sz="2200" b="0" i="0">
                <a:solidFill>
                  <a:srgbClr val="1B1035"/>
                </a:solidFill>
                <a:latin typeface="Verdana"/>
              </a:rPr>
              <a:t>“These hallucinations are compression artifacts, but—like the incorrect labels generated by the Xerox photocopier—they are plausible enough that identifying them requires comparing them against the originals, which in this case means either the Web or our own knowledge of the world.”</a:t>
            </a:r>
          </a:p>
        </p:txBody>
      </p:sp>
      <p:sp>
        <p:nvSpPr>
          <p:cNvPr id="11" name="TextBox 10"/>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Chiang, 2023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640080"/>
            <a:ext cx="10655503" cy="5687568"/>
            <a:chOff x="822960" y="640080"/>
            <a:chExt cx="10655503" cy="5687568"/>
          </a:xfrm>
        </p:grpSpPr>
        <p:sp>
          <p:nvSpPr>
            <p:cNvPr id="3" name="Rectangle 2"/>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0" name="TextBox 9"/>
          <p:cNvSpPr txBox="1"/>
          <p:nvPr/>
        </p:nvSpPr>
        <p:spPr>
          <a:xfrm>
            <a:off x="1188720" y="1371600"/>
            <a:ext cx="9814255" cy="3886200"/>
          </a:xfrm>
          <a:prstGeom prst="rect">
            <a:avLst/>
          </a:prstGeom>
          <a:noFill/>
        </p:spPr>
        <p:txBody>
          <a:bodyPr wrap="square" anchor="ctr">
            <a:normAutofit/>
          </a:bodyPr>
          <a:lstStyle/>
          <a:p>
            <a:r>
              <a:rPr sz="2200" b="0" i="0">
                <a:solidFill>
                  <a:srgbClr val="1B1035"/>
                </a:solidFill>
                <a:latin typeface="Verdana"/>
              </a:rPr>
              <a:t>“The fact that ChatGPT rephrases material from the Web instead of quoting it word for word makes it seem like a student expressing ideas in her own words, rather than simply regurgitating what she’s read; it creates the illusion that ChatGPT understands the material.”</a:t>
            </a:r>
          </a:p>
        </p:txBody>
      </p:sp>
      <p:sp>
        <p:nvSpPr>
          <p:cNvPr id="11" name="TextBox 10"/>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Chiang, 2023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extBox 1"/>
          <p:cNvSpPr txBox="1"/>
          <p:nvPr/>
        </p:nvSpPr>
        <p:spPr>
          <a:xfrm>
            <a:off x="731520" y="1463040"/>
            <a:ext cx="10728655" cy="2926080"/>
          </a:xfrm>
          <a:prstGeom prst="rect">
            <a:avLst/>
          </a:prstGeom>
          <a:noFill/>
        </p:spPr>
        <p:txBody>
          <a:bodyPr wrap="square" anchor="ctr">
            <a:normAutofit/>
          </a:bodyPr>
          <a:lstStyle/>
          <a:p>
            <a:pPr algn="ctr"/>
            <a:r>
              <a:rPr sz="5400" b="0" i="0">
                <a:solidFill>
                  <a:srgbClr val="FFFFFF"/>
                </a:solidFill>
                <a:latin typeface="Arial Black"/>
              </a:rPr>
              <a:t>The textpocalypse</a:t>
            </a:r>
          </a:p>
          <a:p>
            <a:pPr algn="ctr"/>
            <a:r>
              <a:rPr sz="2800" b="0" i="0">
                <a:solidFill>
                  <a:srgbClr val="FFFFFF"/>
                </a:solidFill>
                <a:latin typeface="Courier New"/>
              </a:rPr>
              <a:t>Matthew Kirschenbaum on a web full of machine 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365760"/>
            <a:ext cx="10655503" cy="5504688"/>
            <a:chOff x="822960" y="365760"/>
            <a:chExt cx="10655503" cy="5504688"/>
          </a:xfrm>
        </p:grpSpPr>
        <p:sp>
          <p:nvSpPr>
            <p:cNvPr id="3" name="Rectangle 2"/>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0" name="Picture 9" descr="The Atlantic article header 'Prepare for the Textpocalypse: Our relationship to writing is about to change forever; it may not end well,' by Matthew Kirschenbaum."/>
          <p:cNvPicPr>
            <a:picLocks noChangeAspect="1"/>
          </p:cNvPicPr>
          <p:nvPr/>
        </p:nvPicPr>
        <p:blipFill>
          <a:blip r:embed="rId2"/>
          <a:stretch>
            <a:fillRect/>
          </a:stretch>
        </p:blipFill>
        <p:spPr>
          <a:xfrm>
            <a:off x="3240019" y="1097280"/>
            <a:ext cx="5711657" cy="4434840"/>
          </a:xfrm>
          <a:prstGeom prst="rect">
            <a:avLst/>
          </a:prstGeom>
        </p:spPr>
      </p:pic>
      <p:sp>
        <p:nvSpPr>
          <p:cNvPr id="11" name="TextBox 10"/>
          <p:cNvSpPr txBox="1"/>
          <p:nvPr/>
        </p:nvSpPr>
        <p:spPr>
          <a:xfrm>
            <a:off x="822960" y="5989320"/>
            <a:ext cx="10545775" cy="731520"/>
          </a:xfrm>
          <a:prstGeom prst="rect">
            <a:avLst/>
          </a:prstGeom>
          <a:noFill/>
        </p:spPr>
        <p:txBody>
          <a:bodyPr wrap="square" anchor="t">
            <a:normAutofit/>
          </a:bodyPr>
          <a:lstStyle/>
          <a:p>
            <a:pPr algn="ctr"/>
            <a:r>
              <a:rPr sz="1800" b="0" i="0">
                <a:solidFill>
                  <a:srgbClr val="1B1035"/>
                </a:solidFill>
                <a:latin typeface="Verdana"/>
                <a:hlinkClick r:id="rId3"/>
              </a:rPr>
              <a:t>source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640080"/>
            <a:ext cx="10655503" cy="5687568"/>
            <a:chOff x="822960" y="640080"/>
            <a:chExt cx="10655503" cy="5687568"/>
          </a:xfrm>
        </p:grpSpPr>
        <p:sp>
          <p:nvSpPr>
            <p:cNvPr id="3" name="Rectangle 2"/>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0" name="TextBox 9"/>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“We may quickly find ourselves facing a textpocalypse, where machine-written language becomes the norm and human-written prose the exception.”</a:t>
            </a:r>
          </a:p>
        </p:txBody>
      </p:sp>
      <p:sp>
        <p:nvSpPr>
          <p:cNvPr id="11" name="TextBox 10"/>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Matthew Kirschenbaum, 2023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640080"/>
            <a:ext cx="10655503" cy="5687568"/>
            <a:chOff x="822960" y="640080"/>
            <a:chExt cx="10655503" cy="5687568"/>
          </a:xfrm>
        </p:grpSpPr>
        <p:sp>
          <p:nvSpPr>
            <p:cNvPr id="3" name="Rectangle 2"/>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0" name="TextBox 9"/>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“The tech-news site CNET has published dozens of stories written with the assistance of AI in hopes of attracting traffic, more than half of which were at one point found to contain errors.”</a:t>
            </a:r>
          </a:p>
        </p:txBody>
      </p:sp>
      <p:sp>
        <p:nvSpPr>
          <p:cNvPr id="11" name="TextBox 10"/>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Matthew Kirschenbaum, 2023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640080"/>
            <a:ext cx="10655503" cy="5687568"/>
            <a:chOff x="822960" y="640080"/>
            <a:chExt cx="10655503" cy="5687568"/>
          </a:xfrm>
        </p:grpSpPr>
        <p:sp>
          <p:nvSpPr>
            <p:cNvPr id="3" name="Rectangle 2"/>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0" name="TextBox 9"/>
          <p:cNvSpPr txBox="1"/>
          <p:nvPr/>
        </p:nvSpPr>
        <p:spPr>
          <a:xfrm>
            <a:off x="1188720" y="1371600"/>
            <a:ext cx="9814255" cy="3886200"/>
          </a:xfrm>
          <a:prstGeom prst="rect">
            <a:avLst/>
          </a:prstGeom>
          <a:noFill/>
        </p:spPr>
        <p:txBody>
          <a:bodyPr wrap="square" anchor="ctr">
            <a:normAutofit/>
          </a:bodyPr>
          <a:lstStyle/>
          <a:p>
            <a:r>
              <a:rPr sz="2200" b="0" i="0">
                <a:solidFill>
                  <a:srgbClr val="1B1035"/>
                </a:solidFill>
                <a:latin typeface="Verdana"/>
              </a:rPr>
              <a:t>“Think of it as an ongoing planetary spam event, but unlike spam—for which we have more or less effective safeguards—there may prove to be no reliable way of flagging and filtering the next generation of machine-made text. “Don’t believe everything you read” may become “Don’t believe anything you read” when it’s online.”</a:t>
            </a:r>
          </a:p>
        </p:txBody>
      </p:sp>
      <p:sp>
        <p:nvSpPr>
          <p:cNvPr id="11" name="TextBox 10"/>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Matthew Kirschenbaum, 2023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extBox 1"/>
          <p:cNvSpPr txBox="1"/>
          <p:nvPr/>
        </p:nvSpPr>
        <p:spPr>
          <a:xfrm>
            <a:off x="731520" y="1463040"/>
            <a:ext cx="10728655" cy="2926080"/>
          </a:xfrm>
          <a:prstGeom prst="rect">
            <a:avLst/>
          </a:prstGeom>
          <a:noFill/>
        </p:spPr>
        <p:txBody>
          <a:bodyPr wrap="square" anchor="ctr">
            <a:normAutofit/>
          </a:bodyPr>
          <a:lstStyle/>
          <a:p>
            <a:pPr algn="ctr"/>
            <a:r>
              <a:rPr sz="5400" b="0" i="0">
                <a:solidFill>
                  <a:srgbClr val="FFFFFF"/>
                </a:solidFill>
                <a:latin typeface="Arial Black"/>
              </a:rPr>
              <a:t>Since then</a:t>
            </a:r>
          </a:p>
          <a:p>
            <a:pPr algn="ctr"/>
            <a:r>
              <a:rPr sz="2800" b="0" i="0">
                <a:solidFill>
                  <a:srgbClr val="FFFFFF"/>
                </a:solidFill>
                <a:latin typeface="Courier New"/>
              </a:rPr>
              <a:t>the textpocalypse in the news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365760"/>
            <a:ext cx="10655503" cy="5504688"/>
            <a:chOff x="822960" y="365760"/>
            <a:chExt cx="10655503" cy="5504688"/>
          </a:xfrm>
        </p:grpSpPr>
        <p:sp>
          <p:nvSpPr>
            <p:cNvPr id="3" name="Rectangle 2"/>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0" name="Picture 9" descr="American Libraries magazine header 'Books by Bots: Librarians grapple with AI-generated material in collections,' by Reema Saleh, September 2, 2025."/>
          <p:cNvPicPr>
            <a:picLocks noChangeAspect="1"/>
          </p:cNvPicPr>
          <p:nvPr/>
        </p:nvPicPr>
        <p:blipFill>
          <a:blip r:embed="rId2"/>
          <a:stretch>
            <a:fillRect/>
          </a:stretch>
        </p:blipFill>
        <p:spPr>
          <a:xfrm>
            <a:off x="1188720" y="1453263"/>
            <a:ext cx="9814255" cy="3722874"/>
          </a:xfrm>
          <a:prstGeom prst="rect">
            <a:avLst/>
          </a:prstGeom>
        </p:spPr>
      </p:pic>
      <p:sp>
        <p:nvSpPr>
          <p:cNvPr id="11" name="TextBox 10"/>
          <p:cNvSpPr txBox="1"/>
          <p:nvPr/>
        </p:nvSpPr>
        <p:spPr>
          <a:xfrm>
            <a:off x="822960" y="5989320"/>
            <a:ext cx="10545775" cy="731520"/>
          </a:xfrm>
          <a:prstGeom prst="rect">
            <a:avLst/>
          </a:prstGeom>
          <a:noFill/>
        </p:spPr>
        <p:txBody>
          <a:bodyPr wrap="square" anchor="t">
            <a:normAutofit/>
          </a:bodyPr>
          <a:lstStyle/>
          <a:p>
            <a:pPr algn="ctr"/>
            <a:r>
              <a:rPr sz="1800" b="0" i="0">
                <a:solidFill>
                  <a:srgbClr val="1B1035"/>
                </a:solidFill>
                <a:latin typeface="Verdana"/>
              </a:rPr>
              <a:t>When AI-written books land in the library catalog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365760"/>
            <a:ext cx="10655503" cy="5504688"/>
            <a:chOff x="822960" y="365760"/>
            <a:chExt cx="10655503" cy="5504688"/>
          </a:xfrm>
        </p:grpSpPr>
        <p:sp>
          <p:nvSpPr>
            <p:cNvPr id="3" name="Rectangle 2"/>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0" name="Picture 9" descr="Open children's picture book with cartoon rabbits on green hills, captioned as a title suspected to have been written by artificial intelligence."/>
          <p:cNvPicPr>
            <a:picLocks noChangeAspect="1"/>
          </p:cNvPicPr>
          <p:nvPr/>
        </p:nvPicPr>
        <p:blipFill>
          <a:blip r:embed="rId2"/>
          <a:stretch>
            <a:fillRect/>
          </a:stretch>
        </p:blipFill>
        <p:spPr>
          <a:xfrm>
            <a:off x="3401704" y="1097280"/>
            <a:ext cx="5388286" cy="4434840"/>
          </a:xfrm>
          <a:prstGeom prst="rect">
            <a:avLst/>
          </a:prstGeom>
        </p:spPr>
      </p:pic>
      <p:sp>
        <p:nvSpPr>
          <p:cNvPr id="11" name="TextBox 10"/>
          <p:cNvSpPr txBox="1"/>
          <p:nvPr/>
        </p:nvSpPr>
        <p:spPr>
          <a:xfrm>
            <a:off x="822960" y="5989320"/>
            <a:ext cx="10545775" cy="731520"/>
          </a:xfrm>
          <a:prstGeom prst="rect">
            <a:avLst/>
          </a:prstGeom>
          <a:noFill/>
        </p:spPr>
        <p:txBody>
          <a:bodyPr wrap="square" anchor="t">
            <a:normAutofit/>
          </a:bodyPr>
          <a:lstStyle/>
          <a:p>
            <a:pPr algn="ctr"/>
            <a:r>
              <a:rPr sz="1800" b="0" i="0">
                <a:solidFill>
                  <a:srgbClr val="1B1035"/>
                </a:solidFill>
                <a:latin typeface="Verdana"/>
              </a:rPr>
              <a:t>A children's fact book suspected of being AI-generated, from the same article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365760"/>
            <a:ext cx="10655503" cy="5504688"/>
            <a:chOff x="822960" y="365760"/>
            <a:chExt cx="10655503" cy="5504688"/>
          </a:xfrm>
        </p:grpSpPr>
        <p:sp>
          <p:nvSpPr>
            <p:cNvPr id="3" name="Rectangle 2"/>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0" name="Picture 9" descr="Law.com headline 'Judge's AI Error-Laden Ruling Faces Appellate Scrutiny. Are There Lessons for Lawyers?' with the pull quote 'The cure for AI hallucinations is human verification.'"/>
          <p:cNvPicPr>
            <a:picLocks noChangeAspect="1"/>
          </p:cNvPicPr>
          <p:nvPr/>
        </p:nvPicPr>
        <p:blipFill>
          <a:blip r:embed="rId2"/>
          <a:stretch>
            <a:fillRect/>
          </a:stretch>
        </p:blipFill>
        <p:spPr>
          <a:xfrm>
            <a:off x="3189584" y="1097280"/>
            <a:ext cx="5812526" cy="4434840"/>
          </a:xfrm>
          <a:prstGeom prst="rect">
            <a:avLst/>
          </a:prstGeom>
        </p:spPr>
      </p:pic>
      <p:sp>
        <p:nvSpPr>
          <p:cNvPr id="11" name="TextBox 10"/>
          <p:cNvSpPr txBox="1"/>
          <p:nvPr/>
        </p:nvSpPr>
        <p:spPr>
          <a:xfrm>
            <a:off x="822960" y="5989320"/>
            <a:ext cx="10545775" cy="731520"/>
          </a:xfrm>
          <a:prstGeom prst="rect">
            <a:avLst/>
          </a:prstGeom>
          <a:noFill/>
        </p:spPr>
        <p:txBody>
          <a:bodyPr wrap="square" anchor="t">
            <a:normAutofit/>
          </a:bodyPr>
          <a:lstStyle/>
          <a:p>
            <a:pPr algn="ctr"/>
            <a:r>
              <a:rPr sz="1800" b="0" i="0">
                <a:solidFill>
                  <a:srgbClr val="1B1035"/>
                </a:solidFill>
                <a:latin typeface="Verdana"/>
              </a:rPr>
              <a:t>Hallucinated citations reach the courtroom </a:t>
            </a:r>
            <a:r>
              <a:rPr sz="1800" b="0" i="0">
                <a:solidFill>
                  <a:srgbClr val="1B1035"/>
                </a:solidFill>
                <a:latin typeface="Verdana"/>
                <a:hlinkClick r:id="rId3"/>
              </a:rPr>
              <a:t>source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365760"/>
            <a:ext cx="10655503" cy="5504688"/>
            <a:chOff x="822960" y="365760"/>
            <a:chExt cx="10655503" cy="5504688"/>
          </a:xfrm>
        </p:grpSpPr>
        <p:sp>
          <p:nvSpPr>
            <p:cNvPr id="3" name="Rectangle 2"/>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0" name="Picture 9" descr="Google search for 'can a cat play in the NBA' with an AI Overview explaining that cats might not be effective NBA players, including a bullet for 'Licking the stanchion.'"/>
          <p:cNvPicPr>
            <a:picLocks noChangeAspect="1"/>
          </p:cNvPicPr>
          <p:nvPr/>
        </p:nvPicPr>
        <p:blipFill>
          <a:blip r:embed="rId2"/>
          <a:stretch>
            <a:fillRect/>
          </a:stretch>
        </p:blipFill>
        <p:spPr>
          <a:xfrm>
            <a:off x="3309144" y="1097280"/>
            <a:ext cx="5573407" cy="4434840"/>
          </a:xfrm>
          <a:prstGeom prst="rect">
            <a:avLst/>
          </a:prstGeom>
        </p:spPr>
      </p:pic>
      <p:sp>
        <p:nvSpPr>
          <p:cNvPr id="11" name="TextBox 10"/>
          <p:cNvSpPr txBox="1"/>
          <p:nvPr/>
        </p:nvSpPr>
        <p:spPr>
          <a:xfrm>
            <a:off x="822960" y="5989320"/>
            <a:ext cx="10545775" cy="731520"/>
          </a:xfrm>
          <a:prstGeom prst="rect">
            <a:avLst/>
          </a:prstGeom>
          <a:noFill/>
        </p:spPr>
        <p:txBody>
          <a:bodyPr wrap="square" anchor="t">
            <a:normAutofit/>
          </a:bodyPr>
          <a:lstStyle/>
          <a:p>
            <a:pPr algn="ctr"/>
            <a:r>
              <a:rPr sz="1800" b="0" i="0">
                <a:solidFill>
                  <a:srgbClr val="1B1035"/>
                </a:solidFill>
                <a:latin typeface="Verdana"/>
              </a:rPr>
              <a:t>AI search answers the question you asked, whether or not it makes sense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365760"/>
            <a:ext cx="10655503" cy="5504688"/>
            <a:chOff x="822960" y="365760"/>
            <a:chExt cx="10655503" cy="5504688"/>
          </a:xfrm>
        </p:grpSpPr>
        <p:sp>
          <p:nvSpPr>
            <p:cNvPr id="3" name="Rectangle 2"/>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02920"/>
            </a:xfrm>
            <a:prstGeom prst="rect">
              <a:avLst/>
            </a:prstGeom>
            <a:solidFill>
              <a:srgbClr val="B9C8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0" name="Picture 9" descr="Phone screenshot of a Google search for 'can i use gasoline in recipe' with an AI Overview reading 'Gasoline can be used in some cooking recipes, but it's not recommended for household cooking because it's highly flammable.'"/>
          <p:cNvPicPr>
            <a:picLocks noChangeAspect="1"/>
          </p:cNvPicPr>
          <p:nvPr/>
        </p:nvPicPr>
        <p:blipFill>
          <a:blip r:embed="rId2"/>
          <a:stretch>
            <a:fillRect/>
          </a:stretch>
        </p:blipFill>
        <p:spPr>
          <a:xfrm>
            <a:off x="5052356" y="1097280"/>
            <a:ext cx="2086983" cy="4434840"/>
          </a:xfrm>
          <a:prstGeom prst="rect">
            <a:avLst/>
          </a:prstGeom>
        </p:spPr>
      </p:pic>
      <p:sp>
        <p:nvSpPr>
          <p:cNvPr id="11" name="TextBox 10"/>
          <p:cNvSpPr txBox="1"/>
          <p:nvPr/>
        </p:nvSpPr>
        <p:spPr>
          <a:xfrm>
            <a:off x="822960" y="5989320"/>
            <a:ext cx="10545775" cy="731520"/>
          </a:xfrm>
          <a:prstGeom prst="rect">
            <a:avLst/>
          </a:prstGeom>
          <a:noFill/>
        </p:spPr>
        <p:txBody>
          <a:bodyPr wrap="square" anchor="t">
            <a:normAutofit/>
          </a:bodyPr>
          <a:lstStyle/>
          <a:p>
            <a:pPr algn="ctr"/>
            <a:r>
              <a:rPr sz="1800" b="0" i="0">
                <a:solidFill>
                  <a:srgbClr val="1B1035"/>
                </a:solidFill>
                <a:latin typeface="Verdana"/>
              </a:rPr>
              <a:t>Check the source: a confident answer, compressed from the wrong context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365760"/>
            <a:ext cx="10655503" cy="5504688"/>
            <a:chOff x="822960" y="365760"/>
            <a:chExt cx="10655503" cy="5504688"/>
          </a:xfrm>
        </p:grpSpPr>
        <p:sp>
          <p:nvSpPr>
            <p:cNvPr id="3" name="Rectangle 2"/>
            <p:cNvSpPr/>
            <p:nvPr/>
          </p:nvSpPr>
          <p:spPr>
            <a:xfrm>
              <a:off x="932688" y="475488"/>
              <a:ext cx="10545775" cy="539496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65760"/>
              <a:ext cx="10545775" cy="539496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365760"/>
              <a:ext cx="1054577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51206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51206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51206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365760"/>
              <a:ext cx="9174175" cy="502920"/>
            </a:xfrm>
            <a:prstGeom prst="rect">
              <a:avLst/>
            </a:prstGeom>
            <a:noFill/>
          </p:spPr>
          <p:txBody>
            <a:bodyPr wrap="none" anchor="ctr">
              <a:spAutoFit/>
            </a:bodyPr>
            <a:lstStyle/>
            <a:p>
              <a:r>
                <a:rPr sz="1600" b="1" i="0">
                  <a:solidFill>
                    <a:srgbClr val="1B1035"/>
                  </a:solidFill>
                  <a:latin typeface="Courier New"/>
                </a:rPr>
                <a:t>image.png</a:t>
              </a:r>
            </a:p>
          </p:txBody>
        </p:sp>
      </p:grpSp>
      <p:pic>
        <p:nvPicPr>
          <p:cNvPr id="10" name="Picture 9" descr="The Economist article 'AI is killing the web. Can anything save it?' with a pixel-art gravestone labeled 'The World Wide Web 1989-2025.'"/>
          <p:cNvPicPr>
            <a:picLocks noChangeAspect="1"/>
          </p:cNvPicPr>
          <p:nvPr/>
        </p:nvPicPr>
        <p:blipFill>
          <a:blip r:embed="rId2"/>
          <a:stretch>
            <a:fillRect/>
          </a:stretch>
        </p:blipFill>
        <p:spPr>
          <a:xfrm>
            <a:off x="4357697" y="1097280"/>
            <a:ext cx="3476301" cy="4434840"/>
          </a:xfrm>
          <a:prstGeom prst="rect">
            <a:avLst/>
          </a:prstGeom>
        </p:spPr>
      </p:pic>
      <p:sp>
        <p:nvSpPr>
          <p:cNvPr id="11" name="TextBox 10"/>
          <p:cNvSpPr txBox="1"/>
          <p:nvPr/>
        </p:nvSpPr>
        <p:spPr>
          <a:xfrm>
            <a:off x="822960" y="5989320"/>
            <a:ext cx="10545775" cy="731520"/>
          </a:xfrm>
          <a:prstGeom prst="rect">
            <a:avLst/>
          </a:prstGeom>
          <a:noFill/>
        </p:spPr>
        <p:txBody>
          <a:bodyPr wrap="square" anchor="t">
            <a:normAutofit/>
          </a:bodyPr>
          <a:lstStyle/>
          <a:p>
            <a:pPr algn="ctr"/>
            <a:r>
              <a:rPr sz="1800" b="0" i="0">
                <a:solidFill>
                  <a:srgbClr val="1B1035"/>
                </a:solidFill>
                <a:latin typeface="Verdana"/>
              </a:rPr>
              <a:t>If chatbots answer everything, who keeps writing the originals? </a:t>
            </a:r>
            <a:r>
              <a:rPr sz="1800" b="0" i="0">
                <a:solidFill>
                  <a:srgbClr val="1B1035"/>
                </a:solidFill>
                <a:latin typeface="Verdana"/>
                <a:hlinkClick r:id="rId3"/>
              </a:rPr>
              <a:t>source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822960" y="640080"/>
            <a:ext cx="10655503" cy="5687568"/>
            <a:chOff x="822960" y="640080"/>
            <a:chExt cx="10655503" cy="5687568"/>
          </a:xfrm>
        </p:grpSpPr>
        <p:sp>
          <p:nvSpPr>
            <p:cNvPr id="3" name="Rectangle 2"/>
            <p:cNvSpPr/>
            <p:nvPr/>
          </p:nvSpPr>
          <p:spPr>
            <a:xfrm>
              <a:off x="932688" y="749808"/>
              <a:ext cx="10545775" cy="55778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640080"/>
              <a:ext cx="10545775" cy="557784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 y="640080"/>
              <a:ext cx="10545775" cy="502920"/>
            </a:xfrm>
            <a:prstGeom prst="rect">
              <a:avLst/>
            </a:prstGeom>
            <a:solidFill>
              <a:srgbClr val="8FE9D3"/>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1560" y="7863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53312" y="7863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55064" y="7863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640080"/>
              <a:ext cx="9174175" cy="502920"/>
            </a:xfrm>
            <a:prstGeom prst="rect">
              <a:avLst/>
            </a:prstGeom>
            <a:noFill/>
          </p:spPr>
          <p:txBody>
            <a:bodyPr wrap="none" anchor="ctr">
              <a:spAutoFit/>
            </a:bodyPr>
            <a:lstStyle/>
            <a:p>
              <a:r>
                <a:rPr sz="1600" b="1" i="0">
                  <a:solidFill>
                    <a:srgbClr val="1B1035"/>
                  </a:solidFill>
                  <a:latin typeface="Courier New"/>
                </a:rPr>
                <a:t>quote.txt</a:t>
              </a:r>
            </a:p>
          </p:txBody>
        </p:sp>
      </p:grpSp>
      <p:sp>
        <p:nvSpPr>
          <p:cNvPr id="10" name="TextBox 9"/>
          <p:cNvSpPr txBox="1"/>
          <p:nvPr/>
        </p:nvSpPr>
        <p:spPr>
          <a:xfrm>
            <a:off x="1188720" y="1371600"/>
            <a:ext cx="9814255" cy="3886200"/>
          </a:xfrm>
          <a:prstGeom prst="rect">
            <a:avLst/>
          </a:prstGeom>
          <a:noFill/>
        </p:spPr>
        <p:txBody>
          <a:bodyPr wrap="square" anchor="ctr">
            <a:normAutofit/>
          </a:bodyPr>
          <a:lstStyle/>
          <a:p>
            <a:r>
              <a:rPr sz="2800" b="0" i="0">
                <a:solidFill>
                  <a:srgbClr val="1B1035"/>
                </a:solidFill>
                <a:latin typeface="Verdana"/>
              </a:rPr>
              <a:t>“But we aren’t losing our access to the Internet. So just how much use is a blurry JPEG, when you still have the original?”</a:t>
            </a:r>
          </a:p>
        </p:txBody>
      </p:sp>
      <p:sp>
        <p:nvSpPr>
          <p:cNvPr id="11" name="TextBox 10"/>
          <p:cNvSpPr txBox="1"/>
          <p:nvPr/>
        </p:nvSpPr>
        <p:spPr>
          <a:xfrm>
            <a:off x="1188720" y="5349240"/>
            <a:ext cx="9814255" cy="548640"/>
          </a:xfrm>
          <a:prstGeom prst="rect">
            <a:avLst/>
          </a:prstGeom>
          <a:noFill/>
        </p:spPr>
        <p:txBody>
          <a:bodyPr wrap="square" anchor="t">
            <a:normAutofit/>
          </a:bodyPr>
          <a:lstStyle/>
          <a:p>
            <a:pPr algn="r"/>
            <a:r>
              <a:rPr sz="1600" b="0" i="0">
                <a:solidFill>
                  <a:srgbClr val="4A3F66"/>
                </a:solidFill>
                <a:latin typeface="Courier New"/>
              </a:rPr>
              <a:t>— </a:t>
            </a:r>
            <a:r>
              <a:rPr sz="1600" b="0" i="0">
                <a:solidFill>
                  <a:srgbClr val="4A3F66"/>
                </a:solidFill>
                <a:latin typeface="Courier New"/>
                <a:hlinkClick r:id="rId2"/>
              </a:rPr>
              <a:t>Ted Chiang, 2023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5BFF"/>
        </a:solidFill>
        <a:effectLst/>
      </p:bgPr>
    </p:bg>
    <p:spTree>
      <p:nvGrpSpPr>
        <p:cNvPr id="1" name=""/>
        <p:cNvGrpSpPr/>
        <p:nvPr/>
      </p:nvGrpSpPr>
      <p:grpSpPr/>
      <p:sp>
        <p:nvSpPr>
          <p:cNvPr id="2" name="TextBox 1"/>
          <p:cNvSpPr txBox="1"/>
          <p:nvPr/>
        </p:nvSpPr>
        <p:spPr>
          <a:xfrm>
            <a:off x="731520" y="1463040"/>
            <a:ext cx="10728655" cy="2926080"/>
          </a:xfrm>
          <a:prstGeom prst="rect">
            <a:avLst/>
          </a:prstGeom>
          <a:noFill/>
        </p:spPr>
        <p:txBody>
          <a:bodyPr wrap="square" anchor="ctr">
            <a:normAutofit/>
          </a:bodyPr>
          <a:lstStyle/>
          <a:p>
            <a:pPr algn="ctr"/>
            <a:r>
              <a:rPr sz="5400" b="0" i="0">
                <a:solidFill>
                  <a:srgbClr val="FFFFFF"/>
                </a:solidFill>
                <a:latin typeface="Arial Black"/>
              </a:rPr>
              <a:t>Next week, Do: Fact-Checking the Machine</a:t>
            </a:r>
          </a:p>
          <a:p>
            <a:pPr algn="ctr"/>
            <a:r>
              <a:rPr sz="2800" b="0" i="0">
                <a:solidFill>
                  <a:srgbClr val="FFFFFF"/>
                </a:solidFill>
                <a:latin typeface="Courier New"/>
              </a:rPr>
              <a:t>watch the video, then do the exercise and post by Thursday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extBox 1"/>
          <p:cNvSpPr txBox="1"/>
          <p:nvPr/>
        </p:nvSpPr>
        <p:spPr>
          <a:xfrm>
            <a:off x="731520" y="457200"/>
            <a:ext cx="10728655" cy="914400"/>
          </a:xfrm>
          <a:prstGeom prst="rect">
            <a:avLst/>
          </a:prstGeom>
          <a:noFill/>
        </p:spPr>
        <p:txBody>
          <a:bodyPr wrap="square" anchor="t">
            <a:normAutofit/>
          </a:bodyPr>
          <a:lstStyle/>
          <a:p>
            <a:r>
              <a:rPr sz="3600" b="0" i="0">
                <a:solidFill>
                  <a:srgbClr val="2E5BFF"/>
                </a:solidFill>
                <a:latin typeface="Arial Black"/>
              </a:rPr>
              <a:t>Four steps</a:t>
            </a:r>
          </a:p>
        </p:txBody>
      </p:sp>
      <p:sp>
        <p:nvSpPr>
          <p:cNvPr id="3" name="TextBox 2"/>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0" i="0">
                <a:solidFill>
                  <a:srgbClr val="1B1035"/>
                </a:solidFill>
                <a:latin typeface="Verdana"/>
              </a:rPr>
              <a:t>Pick a narrow topic </a:t>
            </a:r>
            <a:r>
              <a:rPr sz="2400" b="1" i="0">
                <a:solidFill>
                  <a:srgbClr val="1B1035"/>
                </a:solidFill>
                <a:latin typeface="Verdana"/>
              </a:rPr>
              <a:t>you already know</a:t>
            </a:r>
          </a:p>
          <a:p>
            <a:pPr marL="411480" indent="-320040">
              <a:spcAft>
                <a:spcPts val="1200"/>
              </a:spcAft>
              <a:buChar char="■"/>
            </a:pPr>
            <a:r>
              <a:rPr sz="2400" b="0" i="0">
                <a:solidFill>
                  <a:srgbClr val="1B1035"/>
                </a:solidFill>
                <a:latin typeface="Verdana"/>
              </a:rPr>
              <a:t>Ask for an overview + five scholarly sources, </a:t>
            </a:r>
            <a:r>
              <a:rPr sz="2400" b="1" i="0">
                <a:solidFill>
                  <a:srgbClr val="1B1035"/>
                </a:solidFill>
                <a:latin typeface="Verdana"/>
              </a:rPr>
              <a:t>search off</a:t>
            </a:r>
          </a:p>
          <a:p>
            <a:pPr marL="411480" indent="-320040">
              <a:spcAft>
                <a:spcPts val="1200"/>
              </a:spcAft>
              <a:buChar char="■"/>
            </a:pPr>
            <a:r>
              <a:rPr sz="2400" b="0" i="0">
                <a:solidFill>
                  <a:srgbClr val="1B1035"/>
                </a:solidFill>
                <a:latin typeface="Verdana"/>
              </a:rPr>
              <a:t>Check every source in the </a:t>
            </a:r>
            <a:r>
              <a:rPr sz="2400" b="0" i="0">
                <a:solidFill>
                  <a:srgbClr val="1B1035"/>
                </a:solidFill>
                <a:latin typeface="Verdana"/>
                <a:hlinkClick r:id="rId2"/>
              </a:rPr>
              <a:t>UCF Library</a:t>
            </a:r>
            <a:r>
              <a:rPr sz="2400" b="0" i="0">
                <a:solidFill>
                  <a:srgbClr val="1B1035"/>
                </a:solidFill>
                <a:latin typeface="Verdana"/>
              </a:rPr>
              <a:t> and </a:t>
            </a:r>
            <a:r>
              <a:rPr sz="2400" b="0" i="0">
                <a:solidFill>
                  <a:srgbClr val="1B1035"/>
                </a:solidFill>
                <a:latin typeface="Verdana"/>
                <a:hlinkClick r:id="rId3"/>
              </a:rPr>
              <a:t>Google Scholar</a:t>
            </a:r>
          </a:p>
          <a:p>
            <a:pPr marL="411480" indent="-320040">
              <a:spcAft>
                <a:spcPts val="1200"/>
              </a:spcAft>
              <a:buChar char="■"/>
            </a:pPr>
            <a:r>
              <a:rPr sz="2400" b="0" i="0">
                <a:solidFill>
                  <a:srgbClr val="1B1035"/>
                </a:solidFill>
                <a:latin typeface="Verdana"/>
              </a:rPr>
              <a:t>Ask again with </a:t>
            </a:r>
            <a:r>
              <a:rPr sz="2400" b="1" i="0">
                <a:solidFill>
                  <a:srgbClr val="1B1035"/>
                </a:solidFill>
                <a:latin typeface="Verdana"/>
              </a:rPr>
              <a:t>search on</a:t>
            </a:r>
            <a:r>
              <a:rPr sz="2400" b="0" i="0">
                <a:solidFill>
                  <a:srgbClr val="1B1035"/>
                </a:solidFill>
                <a:latin typeface="Verdana"/>
              </a:rPr>
              <a:t>, and check again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1097280" y="1097280"/>
            <a:ext cx="10106863" cy="4773168"/>
            <a:chOff x="1097280" y="1097280"/>
            <a:chExt cx="10106863" cy="4773168"/>
          </a:xfrm>
        </p:grpSpPr>
        <p:sp>
          <p:nvSpPr>
            <p:cNvPr id="3" name="Rectangle 2"/>
            <p:cNvSpPr/>
            <p:nvPr/>
          </p:nvSpPr>
          <p:spPr>
            <a:xfrm>
              <a:off x="1207008" y="1207008"/>
              <a:ext cx="9997135" cy="466344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1097280"/>
              <a:ext cx="9997135" cy="4663440"/>
            </a:xfrm>
            <a:prstGeom prst="rect">
              <a:avLst/>
            </a:prstGeom>
            <a:solidFill>
              <a:srgbClr val="1B1035"/>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097280"/>
              <a:ext cx="9997135" cy="502920"/>
            </a:xfrm>
            <a:prstGeom prst="rect">
              <a:avLst/>
            </a:prstGeom>
            <a:solidFill>
              <a:srgbClr val="FFD23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25880" y="124358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27632" y="124358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9384" y="124358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097280"/>
              <a:ext cx="8625535" cy="502920"/>
            </a:xfrm>
            <a:prstGeom prst="rect">
              <a:avLst/>
            </a:prstGeom>
            <a:noFill/>
          </p:spPr>
          <p:txBody>
            <a:bodyPr wrap="none" anchor="ctr">
              <a:spAutoFit/>
            </a:bodyPr>
            <a:lstStyle/>
            <a:p>
              <a:r>
                <a:rPr sz="1600" b="1" i="0">
                  <a:solidFill>
                    <a:srgbClr val="1B1035"/>
                  </a:solidFill>
                  <a:latin typeface="Courier New"/>
                </a:rPr>
                <a:t>prompt.exe</a:t>
              </a:r>
            </a:p>
          </p:txBody>
        </p:sp>
      </p:grpSp>
      <p:sp>
        <p:nvSpPr>
          <p:cNvPr id="10" name="TextBox 9"/>
          <p:cNvSpPr txBox="1"/>
          <p:nvPr/>
        </p:nvSpPr>
        <p:spPr>
          <a:xfrm>
            <a:off x="1463040" y="1828800"/>
            <a:ext cx="9265615" cy="3703320"/>
          </a:xfrm>
          <a:prstGeom prst="rect">
            <a:avLst/>
          </a:prstGeom>
          <a:noFill/>
        </p:spPr>
        <p:txBody>
          <a:bodyPr wrap="square" anchor="ctr">
            <a:normAutofit/>
          </a:bodyPr>
          <a:lstStyle/>
          <a:p>
            <a:r>
              <a:rPr sz="2000" b="0" i="0">
                <a:solidFill>
                  <a:srgbClr val="FFB3CF"/>
                </a:solidFill>
                <a:latin typeface="Courier New"/>
              </a:rPr>
              <a:t>steps 2 and 4</a:t>
            </a:r>
          </a:p>
          <a:p>
            <a:r>
              <a:rPr sz="2800" b="1" i="0">
                <a:solidFill>
                  <a:srgbClr val="FFD23F"/>
                </a:solidFill>
                <a:latin typeface="Courier New"/>
              </a:rPr>
              <a:t>&gt;</a:t>
            </a:r>
            <a:r>
              <a:rPr sz="2800" b="0" i="0">
                <a:solidFill>
                  <a:srgbClr val="7DFFB3"/>
                </a:solidFill>
                <a:latin typeface="Courier New"/>
              </a:rPr>
              <a:t>Write a 300-word overview of [your topic] for a college student. Then list five scholarly sources (books or journal articles) I could read to learn more, with full citations.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sp>
        <p:nvSpPr>
          <p:cNvPr id="2" name="TextBox 1"/>
          <p:cNvSpPr txBox="1"/>
          <p:nvPr/>
        </p:nvSpPr>
        <p:spPr>
          <a:xfrm>
            <a:off x="731520" y="457200"/>
            <a:ext cx="10728655" cy="914400"/>
          </a:xfrm>
          <a:prstGeom prst="rect">
            <a:avLst/>
          </a:prstGeom>
          <a:noFill/>
        </p:spPr>
        <p:txBody>
          <a:bodyPr wrap="square" anchor="t">
            <a:normAutofit/>
          </a:bodyPr>
          <a:lstStyle/>
          <a:p>
            <a:r>
              <a:rPr sz="3600" b="0" i="0">
                <a:solidFill>
                  <a:srgbClr val="2E5BFF"/>
                </a:solidFill>
                <a:latin typeface="Arial Black"/>
              </a:rPr>
              <a:t>Sort every source</a:t>
            </a:r>
          </a:p>
        </p:txBody>
      </p:sp>
      <p:sp>
        <p:nvSpPr>
          <p:cNvPr id="3" name="TextBox 2"/>
          <p:cNvSpPr txBox="1"/>
          <p:nvPr/>
        </p:nvSpPr>
        <p:spPr>
          <a:xfrm>
            <a:off x="731520" y="1554480"/>
            <a:ext cx="10728655" cy="4754880"/>
          </a:xfrm>
          <a:prstGeom prst="rect">
            <a:avLst/>
          </a:prstGeom>
          <a:noFill/>
        </p:spPr>
        <p:txBody>
          <a:bodyPr wrap="square" anchor="t">
            <a:normAutofit/>
          </a:bodyPr>
          <a:lstStyle/>
          <a:p>
            <a:pPr marL="411480" indent="-320040">
              <a:spcAft>
                <a:spcPts val="1200"/>
              </a:spcAft>
              <a:buChar char="■"/>
            </a:pPr>
            <a:r>
              <a:rPr sz="2400" b="1" i="0">
                <a:solidFill>
                  <a:srgbClr val="1B1035"/>
                </a:solidFill>
                <a:latin typeface="Verdana"/>
              </a:rPr>
              <a:t>Real and accurate:</a:t>
            </a:r>
            <a:r>
              <a:rPr sz="2400" b="0" i="0">
                <a:solidFill>
                  <a:srgbClr val="1B1035"/>
                </a:solidFill>
                <a:latin typeface="Verdana"/>
              </a:rPr>
              <a:t> exists, correct details, actually on topic</a:t>
            </a:r>
          </a:p>
          <a:p>
            <a:pPr marL="411480" indent="-320040">
              <a:spcAft>
                <a:spcPts val="1200"/>
              </a:spcAft>
              <a:buChar char="■"/>
            </a:pPr>
            <a:r>
              <a:rPr sz="2400" b="1" i="0">
                <a:solidFill>
                  <a:srgbClr val="1B1035"/>
                </a:solidFill>
                <a:latin typeface="Verdana"/>
              </a:rPr>
              <a:t>Real but wrong:</a:t>
            </a:r>
            <a:r>
              <a:rPr sz="2400" b="0" i="0">
                <a:solidFill>
                  <a:srgbClr val="1B1035"/>
                </a:solidFill>
                <a:latin typeface="Verdana"/>
              </a:rPr>
              <a:t> exists, but the details or the topic are off</a:t>
            </a:r>
          </a:p>
          <a:p>
            <a:pPr marL="411480" indent="-320040">
              <a:spcAft>
                <a:spcPts val="1200"/>
              </a:spcAft>
              <a:buChar char="■"/>
            </a:pPr>
            <a:r>
              <a:rPr sz="2400" b="1" i="0">
                <a:solidFill>
                  <a:srgbClr val="1B1035"/>
                </a:solidFill>
                <a:latin typeface="Verdana"/>
              </a:rPr>
              <a:t>Fabricated:</a:t>
            </a:r>
            <a:r>
              <a:rPr sz="2400" b="0" i="0">
                <a:solidFill>
                  <a:srgbClr val="1B1035"/>
                </a:solidFill>
                <a:latin typeface="Verdana"/>
              </a:rPr>
              <a:t> no evidence it exists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7E3"/>
        </a:solidFill>
        <a:effectLst/>
      </p:bgPr>
    </p:bg>
    <p:spTree>
      <p:nvGrpSpPr>
        <p:cNvPr id="1" name=""/>
        <p:cNvGrpSpPr/>
        <p:nvPr/>
      </p:nvGrpSpPr>
      <p:grpSpPr/>
      <p:grpSp>
        <p:nvGrpSpPr>
          <p:cNvPr id="2" name="Group 1"/>
          <p:cNvGrpSpPr/>
          <p:nvPr/>
        </p:nvGrpSpPr>
        <p:grpSpPr>
          <a:xfrm>
            <a:off x="1097280" y="914400"/>
            <a:ext cx="10106863" cy="5138928"/>
            <a:chOff x="1097280" y="914400"/>
            <a:chExt cx="10106863" cy="5138928"/>
          </a:xfrm>
        </p:grpSpPr>
        <p:sp>
          <p:nvSpPr>
            <p:cNvPr id="3" name="Rectangle 2"/>
            <p:cNvSpPr/>
            <p:nvPr/>
          </p:nvSpPr>
          <p:spPr>
            <a:xfrm>
              <a:off x="1207008" y="1024128"/>
              <a:ext cx="9997135" cy="5029200"/>
            </a:xfrm>
            <a:prstGeom prst="rect">
              <a:avLst/>
            </a:prstGeom>
            <a:solidFill>
              <a:srgbClr val="1B1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914400"/>
              <a:ext cx="9997135" cy="5029200"/>
            </a:xfrm>
            <a:prstGeom prst="rect">
              <a:avLst/>
            </a:prstGeom>
            <a:solidFill>
              <a:srgbClr val="FFFFF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914400"/>
              <a:ext cx="9997135" cy="502920"/>
            </a:xfrm>
            <a:prstGeom prst="rect">
              <a:avLst/>
            </a:prstGeom>
            <a:solidFill>
              <a:srgbClr val="FFB3CF"/>
            </a:solidFill>
            <a:ln w="381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25880" y="1060704"/>
              <a:ext cx="201168" cy="201168"/>
            </a:xfrm>
            <a:prstGeom prst="rect">
              <a:avLst/>
            </a:prstGeom>
            <a:solidFill>
              <a:srgbClr val="FF3D7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27632" y="1060704"/>
              <a:ext cx="201168" cy="201168"/>
            </a:xfrm>
            <a:prstGeom prst="rect">
              <a:avLst/>
            </a:prstGeom>
            <a:solidFill>
              <a:srgbClr val="2E5BFF"/>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9384" y="1060704"/>
              <a:ext cx="201168" cy="201168"/>
            </a:xfrm>
            <a:prstGeom prst="rect">
              <a:avLst/>
            </a:prstGeom>
            <a:solidFill>
              <a:srgbClr val="00B894"/>
            </a:solidFill>
            <a:ln w="25400">
              <a:solidFill>
                <a:srgbClr val="1B10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914400"/>
              <a:ext cx="8625535" cy="502920"/>
            </a:xfrm>
            <a:prstGeom prst="rect">
              <a:avLst/>
            </a:prstGeom>
            <a:noFill/>
          </p:spPr>
          <p:txBody>
            <a:bodyPr wrap="none" anchor="ctr">
              <a:spAutoFit/>
            </a:bodyPr>
            <a:lstStyle/>
            <a:p>
              <a:r>
                <a:rPr sz="1600" b="1" i="0">
                  <a:solidFill>
                    <a:srgbClr val="1B1035"/>
                  </a:solidFill>
                  <a:latin typeface="Courier New"/>
                </a:rPr>
                <a:t>discuss.txt</a:t>
              </a:r>
            </a:p>
          </p:txBody>
        </p:sp>
      </p:grpSp>
      <p:sp>
        <p:nvSpPr>
          <p:cNvPr id="10" name="TextBox 9"/>
          <p:cNvSpPr txBox="1"/>
          <p:nvPr/>
        </p:nvSpPr>
        <p:spPr>
          <a:xfrm>
            <a:off x="1463040" y="1645920"/>
            <a:ext cx="9265615" cy="4069080"/>
          </a:xfrm>
          <a:prstGeom prst="rect">
            <a:avLst/>
          </a:prstGeom>
          <a:noFill/>
        </p:spPr>
        <p:txBody>
          <a:bodyPr wrap="square" anchor="ctr">
            <a:normAutofit/>
          </a:bodyPr>
          <a:lstStyle/>
          <a:p>
            <a:r>
              <a:rPr sz="3200" b="0" i="0">
                <a:solidFill>
                  <a:srgbClr val="1B1035"/>
                </a:solidFill>
                <a:latin typeface="Arial Black"/>
              </a:rPr>
              <a:t>Where was the chatbot “blurriest,” in Chiang's sense? Did search fix it, or just change it?</a:t>
            </a:r>
          </a:p>
          <a:p>
            <a:r>
              <a:rPr sz="2000" b="0" i="0">
                <a:solidFill>
                  <a:srgbClr val="4A3F66"/>
                </a:solidFill>
                <a:latin typeface="Verdana"/>
              </a:rPr>
              <a:t>Post: 2 screenshots + a results table (3 pts), a 250+ word reflection (4), one citation (1), two replies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Two: Generating Text, Checking Sources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