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this module is two weeks long, like every module. Point out the Activity Verification due Friday of week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 matters: DH is humanism that uses computing, not computing that happens to touch the humanities.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Kirschenbaum's reasons DH found a home in English departments. It's also why the first chatbots were text-only.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Weizenbaum's secretary, who knew exactly how the program worked, still wanted privacy with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humanities move: Weizenbaum's daughter rereads the famous anecdote from the secretary's point of 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kirschenbaum.wordpress.com/wp-content/uploads/2011/03/ade-final.pdf" TargetMode="External"/><Relationship Id="rId3" Type="http://schemas.openxmlformats.org/officeDocument/2006/relationships/hyperlink" Target="https://99percentinvisible.org/episode/the-eliza-effect/" TargetMode="Externa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kirschenbaum.wordpress.com/wp-content/uploads/2011/03/ade-final.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kirschenbaum.wordpress.com/wp-content/uploads/2011/03/ade-final.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kirschenbaum.wordpress.com/wp-content/uploads/2011/03/ade-final.pdf" TargetMode="External"/><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mkirschenbaum.wordpress.com/wp-content/uploads/2011/03/ade-final.pdf" TargetMode="External"/><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99percentinvisible.org/episode/the-eliza-effect/transcript" TargetMode="External"/><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99percentinvisible.org/episode/the-eliza-effect/transcrip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99percentinvisible.org/episode/the-eliza-effect/transcrip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99percentinvisible.org/episode/the-eliza-effect/transcript" TargetMode="External"/><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hyperlink" Target="https://www.atariarchives.org/deli/write_about_itself.ph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99percentinvisible.org/episode/the-eliza-effect/transcrip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masswerk.at/eliza/" TargetMode="External"/><Relationship Id="rId3" Type="http://schemas.openxmlformats.org/officeDocument/2006/relationships/hyperlink" Target="https://anastasiasalter.net/HumanitiesAI/demos/WeekOn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Module One: What Is Digital Humanities?</a:t>
            </a:r>
          </a:p>
        </p:txBody>
      </p:sp>
      <p:grpSp>
        <p:nvGrpSpPr>
          <p:cNvPr id="3" name="Window ENG3861.EXE">
            <a:extLst>
              <a:ext uri="{C183D7F6-B498-43B3-948B-1728B52AA6E4}">
                <adec:decorative xmlns:adec="http://schemas.microsoft.com/office/drawing/2017/decorative" val="1"/>
              </a:ext>
            </a:extLst>
          </p:cNvPr>
          <p:cNvGrpSpPr/>
          <p:nvPr/>
        </p:nvGrpSpPr>
        <p:grpSpPr>
          <a:xfrm>
            <a:off x="914400" y="914400"/>
            <a:ext cx="10472623" cy="5138928"/>
            <a:chOff x="914400" y="914400"/>
            <a:chExt cx="10472623" cy="5138928"/>
          </a:xfrm>
        </p:grpSpPr>
        <p:sp>
          <p:nvSpPr>
            <p:cNvPr id="4" name="Rectangle 3"/>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grpSp>
        <p:nvGrpSpPr>
          <p:cNvPr id="11" name="Unit WORDS"/>
          <p:cNvGrpSpPr/>
          <p:nvPr/>
        </p:nvGrpSpPr>
        <p:grpSpPr>
          <a:xfrm>
            <a:off x="1371600" y="2596642"/>
            <a:ext cx="1542978" cy="512064"/>
            <a:chOff x="1371600" y="2596642"/>
            <a:chExt cx="1542978" cy="512064"/>
          </a:xfrm>
        </p:grpSpPr>
        <p:sp>
          <p:nvSpPr>
            <p:cNvPr id="12" name="Rounded Rectangle 11"/>
            <p:cNvSpPr/>
            <p:nvPr/>
          </p:nvSpPr>
          <p:spPr>
            <a:xfrm>
              <a:off x="1426464" y="2651506"/>
              <a:ext cx="1488114" cy="457200"/>
            </a:xfrm>
            <a:prstGeom prst="roundRect">
              <a:avLst>
                <a:gd name="adj" fmla="val 50000"/>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2596642"/>
              <a:ext cx="1488114" cy="457200"/>
            </a:xfrm>
            <a:prstGeom prst="roundRect">
              <a:avLst>
                <a:gd name="adj" fmla="val 50000"/>
              </a:avLst>
            </a:prstGeom>
            <a:solidFill>
              <a:srgbClr val="2E5BFF"/>
            </a:solidFill>
            <a:ln w="3175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0" i="0">
                  <a:solidFill>
                    <a:srgbClr val="FFFFFF"/>
                  </a:solidFill>
                  <a:latin typeface="Arial Black"/>
                </a:rPr>
                <a:t>WORDS</a:t>
              </a:r>
            </a:p>
          </p:txBody>
        </p:sp>
      </p:grpSp>
      <p:sp>
        <p:nvSpPr>
          <p:cNvPr id="14" name="TextBox 13"/>
          <p:cNvSpPr txBox="1"/>
          <p:nvPr/>
        </p:nvSpPr>
        <p:spPr>
          <a:xfrm>
            <a:off x="1280160" y="3236722"/>
            <a:ext cx="9631375" cy="2478278"/>
          </a:xfrm>
          <a:prstGeom prst="rect">
            <a:avLst/>
          </a:prstGeom>
          <a:noFill/>
        </p:spPr>
        <p:txBody>
          <a:bodyPr wrap="square" anchor="t">
            <a:normAutofit/>
          </a:bodyPr>
          <a:lstStyle/>
          <a:p>
            <a:r>
              <a:rPr sz="2400" b="0" i="0">
                <a:solidFill>
                  <a:srgbClr val="4A3F66"/>
                </a:solidFill>
                <a:latin typeface="Courier New"/>
              </a:rPr>
              <a:t>Module One</a:t>
            </a:r>
          </a:p>
          <a:p>
            <a:r>
              <a:rPr sz="4400" b="0" i="0">
                <a:solidFill>
                  <a:srgbClr val="1B1035"/>
                </a:solidFill>
                <a:latin typeface="Arial Black"/>
              </a:rPr>
              <a:t>What Is Digital Humanities?</a:t>
            </a:r>
          </a:p>
          <a:p>
            <a:r>
              <a:rPr sz="2000" b="0" i="0">
                <a:solidFill>
                  <a:srgbClr val="4A3F66"/>
                </a:solidFill>
                <a:latin typeface="Courier New"/>
              </a:rPr>
              <a:t>&gt; ENG 3861 // JAN 11 – JAN 24,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Readings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Readings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Matthew Kirschenbaum, </a:t>
            </a:r>
            <a:r>
              <a:rPr sz="2200" b="0" i="0">
                <a:solidFill>
                  <a:srgbClr val="1B1035"/>
                </a:solidFill>
                <a:latin typeface="Verdana"/>
                <a:hlinkClick r:id="rId2"/>
              </a:rPr>
              <a:t>“What Is Digital Humanities and What’s It Doing in English Departments?”</a:t>
            </a:r>
            <a:r>
              <a:rPr sz="2200" b="0" i="0">
                <a:solidFill>
                  <a:srgbClr val="1B1035"/>
                </a:solidFill>
                <a:latin typeface="Verdana"/>
              </a:rPr>
              <a:t> (2010)</a:t>
            </a:r>
            <a:r>
              <a:rPr sz="1800" b="0" i="0">
                <a:solidFill>
                  <a:srgbClr val="4A3F66"/>
                </a:solidFill>
                <a:latin typeface="Verdana"/>
              </a:rPr>
              <a:t> — a short, classic introduction to the field</a:t>
            </a:r>
          </a:p>
          <a:p>
            <a:pPr marL="411480" indent="-320040">
              <a:spcAft>
                <a:spcPts val="1200"/>
              </a:spcAft>
              <a:buChar char="■"/>
            </a:pPr>
            <a:r>
              <a:rPr sz="2200" b="0" i="0">
                <a:solidFill>
                  <a:srgbClr val="1B1035"/>
                </a:solidFill>
                <a:latin typeface="Verdana"/>
              </a:rPr>
              <a:t>Roman Mars, </a:t>
            </a:r>
            <a:r>
              <a:rPr sz="2200" b="0" i="0">
                <a:solidFill>
                  <a:srgbClr val="1B1035"/>
                </a:solidFill>
                <a:latin typeface="Verdana"/>
                <a:hlinkClick r:id="rId3"/>
              </a:rPr>
              <a:t>“The ELIZA Effect”</a:t>
            </a:r>
            <a:r>
              <a:rPr sz="2200" b="0" i="0">
                <a:solidFill>
                  <a:srgbClr val="1B1035"/>
                </a:solidFill>
                <a:latin typeface="Verdana"/>
              </a:rPr>
              <a:t>, </a:t>
            </a:r>
            <a:r>
              <a:rPr sz="2200" b="0" i="1">
                <a:solidFill>
                  <a:srgbClr val="1B1035"/>
                </a:solidFill>
                <a:latin typeface="Verdana"/>
              </a:rPr>
              <a:t>99% Invisible</a:t>
            </a:r>
            <a:r>
              <a:rPr sz="2200" b="0" i="0">
                <a:solidFill>
                  <a:srgbClr val="1B1035"/>
                </a:solidFill>
                <a:latin typeface="Verdana"/>
              </a:rPr>
              <a:t> (2019)</a:t>
            </a:r>
            <a:r>
              <a:rPr sz="1800" b="0" i="0">
                <a:solidFill>
                  <a:srgbClr val="4A3F66"/>
                </a:solidFill>
                <a:latin typeface="Verdana"/>
              </a:rPr>
              <a:t> — podcast + transcript: the first chatbot and the people who talked to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What is digital humanities?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What is digital humanities?</a:t>
            </a:r>
          </a:p>
          <a:p>
            <a:pPr algn="ctr">
              <a:spcBef>
                <a:spcPts val="1000"/>
              </a:spcBef>
            </a:pPr>
            <a:r>
              <a:rPr sz="2200" b="0" i="0">
                <a:solidFill>
                  <a:srgbClr val="FFFFFF"/>
                </a:solidFill>
                <a:latin typeface="Courier New"/>
              </a:rPr>
              <a:t>computers + the study of literature, history, art, and culture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Matthew Kirschenbaum, 2010, p. 56</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“At its core, then, digital humanities is more akin to a common methodological outlook than an investment in any one specific set of texts or even technologies.”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2010, p. 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Matthew Kirschenbaum, 2010, p. 56</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“Yet digital humanities is also a social undertaking. It harbors networks of people who have been working together, sharing research, arguing, competing, and collaborating for many years.”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2010, p. 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Brett Bobley (NEH), quoted in Kirschenbaum, 2010, p. 57</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 also appreciated the fact that it seemed to cast a wider net than “humanities computing” which seemed to imply a form of computing, whereas “digital humanities” implied a form of humanism.”</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Brett Bobley (NEH), quoted in Kirschenbaum, 2010, p. 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Matthew Kirschenbaum, 2010, p. 60</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“First, after numeric input, text has been by far the most tractable data type for computers to manipulate.”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2010, p. 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Talking to machines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Talking to machines</a:t>
            </a:r>
          </a:p>
          <a:p>
            <a:pPr algn="ctr">
              <a:spcBef>
                <a:spcPts val="1000"/>
              </a:spcBef>
            </a:pPr>
            <a:r>
              <a:rPr sz="2800" b="0" i="0">
                <a:solidFill>
                  <a:srgbClr val="FFFFFF"/>
                </a:solidFill>
                <a:latin typeface="Courier New"/>
              </a:rPr>
              <a:t>from the imitation game to ELIZA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Turing's imitation game (1950): can a judge tell the machine from the person by text alone?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Diagram of the imitation game: a computer labeled A and a person labeled B sit behind a wall, each passing a paper slip to a person labeled C who must judge which is which."/>
          <p:cNvPicPr>
            <a:picLocks noChangeAspect="1"/>
          </p:cNvPicPr>
          <p:nvPr/>
        </p:nvPicPr>
        <p:blipFill>
          <a:blip r:embed="rId2"/>
          <a:stretch>
            <a:fillRect/>
          </a:stretch>
        </p:blipFill>
        <p:spPr>
          <a:xfrm>
            <a:off x="3187684" y="1097280"/>
            <a:ext cx="5816327"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Turing's imitation game (1950): can a judge tell the machine from the person by text alone?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ELIZA (1966): Joseph Weizenbaum's script turns your words back into questions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Dark terminal screen with a block-letter ELIZA banner and a transcript that begins 'Is something troubling you?' and 'Men are all alike.'"/>
          <p:cNvPicPr>
            <a:picLocks noChangeAspect="1"/>
          </p:cNvPicPr>
          <p:nvPr/>
        </p:nvPicPr>
        <p:blipFill>
          <a:blip r:embed="rId2"/>
          <a:stretch>
            <a:fillRect/>
          </a:stretch>
        </p:blipFill>
        <p:spPr>
          <a:xfrm>
            <a:off x="2676376" y="1097280"/>
            <a:ext cx="683894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ELIZA (1966): Joseph Weizenbaum's script turns your words back into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Joseph Weizenbaum, archival recording in “The ELIZA Effect”</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“After two or three interchanges with the machine, she turned to me and she said, “Would you mind leaving the room please?””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Joseph Weizenbaum, archival recording in “The ELIZA Effect”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Joseph Weizenbaum, read by Roman Mars in “The ELIZA Effect”</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“What I had not realized is that extremely short exposures to a relatively simple computer program could induce powerful, delusional thinking in quite normal people.”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Joseph Weizenbaum, read by Roman Mars in “The ELIZA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Delaney Hall, “The ELIZA Effect”</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“There’s even a term that’s emerged in computer science – ‘the ELIZA effect’ – that refers to our tendency to anthropomorphize computers and to believe that programs understand, even when they really don’t.”</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Delaney Hall, “The ELIZA Effect”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ELIZA effect: reading a mind into a machine that only matches patterns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Built In article header 'What Is the Eliza Effect?' over an illustration of a woman's face merging into a faceted digital face."/>
          <p:cNvPicPr>
            <a:picLocks noChangeAspect="1"/>
          </p:cNvPicPr>
          <p:nvPr/>
        </p:nvPicPr>
        <p:blipFill>
          <a:blip r:embed="rId2"/>
          <a:stretch>
            <a:fillRect/>
          </a:stretch>
        </p:blipFill>
        <p:spPr>
          <a:xfrm>
            <a:off x="3714355" y="1097280"/>
            <a:ext cx="4762985"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ELIZA effect: reading a mind into a machine that only matches 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Miriam Weizenbaum, “The ELIZA Effect”</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“Here you have somebody who so needs a landing pad for her feelings that she’s willing to embrace it, right? And he totally misses that, he totally misses the human need and instead speaks of just evidence of this person’s stupidity rather than evidence of their humanity.”</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Miriam Weizenbaum, “The ELIZA Effect”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Machines that write</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Machines that write</a:t>
            </a:r>
          </a:p>
          <a:p>
            <a:pPr algn="ctr">
              <a:spcBef>
                <a:spcPts val="1000"/>
              </a:spcBef>
            </a:pPr>
            <a:r>
              <a:rPr sz="2800" b="0" i="0">
                <a:solidFill>
                  <a:srgbClr val="FFFFFF"/>
                </a:solidFill>
                <a:latin typeface="Courier New"/>
              </a:rPr>
              <a:t>chatbots kept getting stranger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Racter's The Policeman's Beard Is Half Constructed (1984), billed as the first book written by a computer</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Red book cover reading 'The Policeman's Beard Is Half Constructed: Computer prose and poetry by Racter,' with a collage portrait and the tagline 'The First Book Ever Written by a Computer.'"/>
          <p:cNvPicPr>
            <a:picLocks noChangeAspect="1"/>
          </p:cNvPicPr>
          <p:nvPr/>
        </p:nvPicPr>
        <p:blipFill>
          <a:blip r:embed="rId2"/>
          <a:stretch>
            <a:fillRect/>
          </a:stretch>
        </p:blipFill>
        <p:spPr>
          <a:xfrm>
            <a:off x="4135648" y="1097280"/>
            <a:ext cx="392039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Racter's </a:t>
            </a:r>
            <a:r>
              <a:rPr sz="1600" b="0" i="1">
                <a:solidFill>
                  <a:srgbClr val="1B1035"/>
                </a:solidFill>
                <a:latin typeface="Verdana"/>
              </a:rPr>
              <a:t>The Policeman's Beard Is Half Constructed</a:t>
            </a:r>
            <a:r>
              <a:rPr sz="1600" b="0" i="0">
                <a:solidFill>
                  <a:srgbClr val="1B1035"/>
                </a:solidFill>
                <a:latin typeface="Verdana"/>
              </a:rPr>
              <a:t> (1984), billed as the first book written by a computer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Racter talks about itself, 1980s style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Black screen of white monospaced text in which the program muses 'I am a computer, not some lamb or chicken or beef. Can I skip to my attourney?'"/>
          <p:cNvPicPr>
            <a:picLocks noChangeAspect="1"/>
          </p:cNvPicPr>
          <p:nvPr/>
        </p:nvPicPr>
        <p:blipFill>
          <a:blip r:embed="rId2"/>
          <a:stretch>
            <a:fillRect/>
          </a:stretch>
        </p:blipFill>
        <p:spPr>
          <a:xfrm>
            <a:off x="3225659" y="1097280"/>
            <a:ext cx="5740377"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Racter talks about itself, 1980s style </a:t>
            </a:r>
            <a:r>
              <a:rPr sz="1800" b="0" i="0">
                <a:solidFill>
                  <a:srgbClr val="1B1035"/>
                </a:solidFill>
                <a:latin typeface="Verdana"/>
                <a:hlinkClick r:id="rId3"/>
              </a:rPr>
              <a:t>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Kasparov vs. IBM's Deep Blue, 1997: AI as a contest with humans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rticle header '20 Years after Deep Blue: How AI Has Advanced Since Conquering Chess' above a photo of Garry Kasparov leaning over a chessboard."/>
          <p:cNvPicPr>
            <a:picLocks noChangeAspect="1"/>
          </p:cNvPicPr>
          <p:nvPr/>
        </p:nvPicPr>
        <p:blipFill>
          <a:blip r:embed="rId2"/>
          <a:stretch>
            <a:fillRect/>
          </a:stretch>
        </p:blipFill>
        <p:spPr>
          <a:xfrm>
            <a:off x="3631232" y="1097280"/>
            <a:ext cx="4929231"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Kasparov vs. IBM's Deep Blue, 1997: AI as a contest with humans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Delaney Hall, “The ELIZA Effect”</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 think we’re all a little like Dr. Weizenbaum’s secretary now. We’re living in this highly automated world. We have these little computers in our pockets that we can talk to, and we’re under no illusion that they really understand us, but they still captivate us.”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Delaney Hall, “The ELIZA Effect”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Next week, Do: Talking to Chatbots, Then and Now</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4400" b="0" i="0">
                <a:solidFill>
                  <a:srgbClr val="FFFFFF"/>
                </a:solidFill>
                <a:latin typeface="Arial Black"/>
              </a:rPr>
              <a:t>Next week, Do:</a:t>
            </a:r>
            <a:br/>
            <a:r>
              <a:rPr sz="4400" b="0" i="0">
                <a:solidFill>
                  <a:srgbClr val="FFFFFF"/>
                </a:solidFill>
                <a:latin typeface="Arial Black"/>
              </a:rPr>
              <a:t>Talking to Chatbots, Then and Now</a:t>
            </a:r>
          </a:p>
          <a:p>
            <a:pPr algn="ctr">
              <a:spcBef>
                <a:spcPts val="1000"/>
              </a:spcBef>
            </a:pPr>
            <a:r>
              <a:rPr sz="2400" b="0" i="0">
                <a:solidFill>
                  <a:srgbClr val="FFFFFF"/>
                </a:solidFill>
                <a:latin typeface="Courier New"/>
              </a:rPr>
              <a:t>watch the video, then do the exercise and post by Thursday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Three conversations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Three conversations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1" i="0">
                <a:solidFill>
                  <a:srgbClr val="1B1035"/>
                </a:solidFill>
                <a:latin typeface="Verdana"/>
              </a:rPr>
              <a:t>Conversation one:</a:t>
            </a:r>
            <a:r>
              <a:rPr sz="2400" b="0" i="0">
                <a:solidFill>
                  <a:srgbClr val="1B1035"/>
                </a:solidFill>
                <a:latin typeface="Verdana"/>
              </a:rPr>
              <a:t> 10+ minutes with </a:t>
            </a:r>
            <a:r>
              <a:rPr sz="2400" b="0" i="0">
                <a:solidFill>
                  <a:srgbClr val="1B1035"/>
                </a:solidFill>
                <a:latin typeface="Verdana"/>
                <a:hlinkClick r:id="rId2"/>
              </a:rPr>
              <a:t>E.L.I.Z.A. Talking</a:t>
            </a:r>
            <a:r>
              <a:rPr sz="2400" b="0" i="0">
                <a:solidFill>
                  <a:srgbClr val="1B1035"/>
                </a:solidFill>
                <a:latin typeface="Verdana"/>
              </a:rPr>
              <a:t>, then try to break it</a:t>
            </a:r>
          </a:p>
          <a:p>
            <a:pPr marL="411480" indent="-320040">
              <a:spcAft>
                <a:spcPts val="1200"/>
              </a:spcAft>
              <a:buChar char="■"/>
            </a:pPr>
            <a:r>
              <a:rPr sz="2400" b="1" i="0">
                <a:solidFill>
                  <a:srgbClr val="1B1035"/>
                </a:solidFill>
                <a:latin typeface="Verdana"/>
              </a:rPr>
              <a:t>Conversation two:</a:t>
            </a:r>
            <a:r>
              <a:rPr sz="2400" b="0" i="0">
                <a:solidFill>
                  <a:srgbClr val="1B1035"/>
                </a:solidFill>
                <a:latin typeface="Verdana"/>
              </a:rPr>
              <a:t> a modern chatbot (ChatGPT, Claude, Gemini, or Copilot) playing ELIZA</a:t>
            </a:r>
          </a:p>
          <a:p>
            <a:pPr marL="411480" indent="-320040">
              <a:spcAft>
                <a:spcPts val="1200"/>
              </a:spcAft>
              <a:buChar char="■"/>
            </a:pPr>
            <a:r>
              <a:rPr sz="2400" b="1" i="0">
                <a:solidFill>
                  <a:srgbClr val="1B1035"/>
                </a:solidFill>
                <a:latin typeface="Verdana"/>
              </a:rPr>
              <a:t>Conversation three:</a:t>
            </a:r>
            <a:r>
              <a:rPr sz="2400" b="0" i="0">
                <a:solidFill>
                  <a:srgbClr val="1B1035"/>
                </a:solidFill>
                <a:latin typeface="Verdana"/>
              </a:rPr>
              <a:t> </a:t>
            </a:r>
            <a:r>
              <a:rPr sz="2400" b="0" i="0">
                <a:solidFill>
                  <a:srgbClr val="1B1035"/>
                </a:solidFill>
                <a:latin typeface="Verdana"/>
                <a:hlinkClick r:id="rId3"/>
              </a:rPr>
              <a:t>Future ELIZA</a:t>
            </a:r>
            <a:r>
              <a:rPr sz="2400" b="0" i="0">
                <a:solidFill>
                  <a:srgbClr val="1B1035"/>
                </a:solidFill>
                <a:latin typeface="Verdana"/>
              </a:rPr>
              <a:t>, a chatbot </a:t>
            </a:r>
            <a:r>
              <a:rPr sz="2400" b="0" i="1">
                <a:solidFill>
                  <a:srgbClr val="1B1035"/>
                </a:solidFill>
                <a:latin typeface="Verdana"/>
              </a:rPr>
              <a:t>built</a:t>
            </a:r>
            <a:r>
              <a:rPr sz="2400" b="0" i="0">
                <a:solidFill>
                  <a:srgbClr val="1B1035"/>
                </a:solidFill>
                <a:latin typeface="Verdana"/>
              </a:rPr>
              <a:t> by an AI</a:t>
            </a:r>
          </a:p>
          <a:p>
            <a:pPr marL="411480" indent="-320040">
              <a:spcAft>
                <a:spcPts val="1200"/>
              </a:spcAft>
              <a:buChar char="■"/>
            </a:pPr>
            <a:r>
              <a:rPr sz="2400" b="0" i="0">
                <a:solidFill>
                  <a:srgbClr val="1B1035"/>
                </a:solidFill>
                <a:latin typeface="Verdana"/>
              </a:rPr>
              <a:t>Keep notes: repetition, moments it felt real, moments the illusion broke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conversation two, starting prompt</a:t>
            </a:r>
          </a:p>
        </p:txBody>
      </p:sp>
      <p:grpSp>
        <p:nvGrpSpPr>
          <p:cNvPr id="3" name="Window prompt.exe">
            <a:extLst>
              <a:ext uri="{C183D7F6-B498-43B3-948B-1728B52AA6E4}">
                <adec:decorative xmlns:adec="http://schemas.microsoft.com/office/drawing/2017/decorative" val="1"/>
              </a:ext>
            </a:extLst>
          </p:cNvPr>
          <p:cNvGrpSpPr/>
          <p:nvPr/>
        </p:nvGrpSpPr>
        <p:grpSpPr>
          <a:xfrm>
            <a:off x="1097280" y="1097280"/>
            <a:ext cx="10106863" cy="4773168"/>
            <a:chOff x="1097280" y="1097280"/>
            <a:chExt cx="10106863" cy="4773168"/>
          </a:xfrm>
        </p:grpSpPr>
        <p:sp>
          <p:nvSpPr>
            <p:cNvPr id="4" name="Rectangle 3"/>
            <p:cNvSpPr/>
            <p:nvPr/>
          </p:nvSpPr>
          <p:spPr>
            <a:xfrm>
              <a:off x="1207008" y="1207008"/>
              <a:ext cx="9997135" cy="46634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97280"/>
              <a:ext cx="9997135" cy="466344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09728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2435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2435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2435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097280"/>
              <a:ext cx="8625535" cy="502920"/>
            </a:xfrm>
            <a:prstGeom prst="rect">
              <a:avLst/>
            </a:prstGeom>
            <a:noFill/>
          </p:spPr>
          <p:txBody>
            <a:bodyPr wrap="none" anchor="ctr">
              <a:spAutoFit/>
            </a:bodyPr>
            <a:lstStyle/>
            <a:p>
              <a:r>
                <a:rPr sz="1600" b="1" i="0">
                  <a:solidFill>
                    <a:srgbClr val="1B1035"/>
                  </a:solidFill>
                  <a:latin typeface="Courier New"/>
                </a:rPr>
                <a:t>prompt.exe</a:t>
              </a:r>
            </a:p>
          </p:txBody>
        </p:sp>
      </p:grpSp>
      <p:sp>
        <p:nvSpPr>
          <p:cNvPr id="11" name="TextBox 10"/>
          <p:cNvSpPr txBox="1"/>
          <p:nvPr/>
        </p:nvSpPr>
        <p:spPr>
          <a:xfrm>
            <a:off x="1463040" y="1828800"/>
            <a:ext cx="9265615" cy="3703320"/>
          </a:xfrm>
          <a:prstGeom prst="rect">
            <a:avLst/>
          </a:prstGeom>
          <a:noFill/>
        </p:spPr>
        <p:txBody>
          <a:bodyPr wrap="square" anchor="ctr">
            <a:normAutofit/>
          </a:bodyPr>
          <a:lstStyle/>
          <a:p>
            <a:r>
              <a:rPr sz="2000" b="0" i="0">
                <a:solidFill>
                  <a:srgbClr val="FFB3CF"/>
                </a:solidFill>
                <a:latin typeface="Courier New"/>
              </a:rPr>
              <a:t>conversation two, starting prompt</a:t>
            </a:r>
          </a:p>
          <a:p>
            <a:pPr>
              <a:spcBef>
                <a:spcPts val="600"/>
              </a:spcBef>
            </a:pPr>
            <a:r>
              <a:rPr sz="2800" b="1" i="0">
                <a:solidFill>
                  <a:srgbClr val="FFD23F"/>
                </a:solidFill>
                <a:latin typeface="Courier New"/>
              </a:rPr>
              <a:t>&gt; </a:t>
            </a:r>
            <a:r>
              <a:rPr sz="2800" b="0" i="0">
                <a:solidFill>
                  <a:srgbClr val="7DFFB3"/>
                </a:solidFill>
                <a:latin typeface="Courier New"/>
              </a:rPr>
              <a:t>For this conversation, please reply as a person-centered therapist, like the 1960s ELIZA chatbot. Keep your responses short and focus on reflecting my statements back to me as 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Future ELIZA: made by prompting Claude, with no AI running behind the page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Dark web page titled 'Future ELIZA - AI Assistant from 2045' with a chat bubble beginning 'Greetings from the year 2045!' and a 'Send to Future' button."/>
          <p:cNvPicPr>
            <a:picLocks noChangeAspect="1"/>
          </p:cNvPicPr>
          <p:nvPr/>
        </p:nvPicPr>
        <p:blipFill>
          <a:blip r:embed="rId2"/>
          <a:stretch>
            <a:fillRect/>
          </a:stretch>
        </p:blipFill>
        <p:spPr>
          <a:xfrm>
            <a:off x="2744709" y="1097280"/>
            <a:ext cx="6702276"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Future ELIZA: made by prompting Claude, with no AI running behind the page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Which conversation felt most like talking to a person? Where did the illusion break?</a:t>
            </a:r>
          </a:p>
          <a:p>
            <a:pPr>
              <a:spcBef>
                <a:spcPts val="1200"/>
              </a:spcBef>
            </a:pPr>
            <a:r>
              <a:rPr sz="2000" b="0" i="0">
                <a:solidFill>
                  <a:srgbClr val="4A3F66"/>
                </a:solidFill>
                <a:latin typeface="Verdana"/>
              </a:rPr>
              <a:t>Point to a specific moment, with a screenshot.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Did the ELIZA effect happen to you?</a:t>
            </a:r>
          </a:p>
          <a:p>
            <a:pPr>
              <a:spcBef>
                <a:spcPts val="1200"/>
              </a:spcBef>
            </a:pPr>
            <a:r>
              <a:rPr sz="2000" b="0" i="0">
                <a:solidFill>
                  <a:srgbClr val="4A3F66"/>
                </a:solidFill>
                <a:latin typeface="Verdana"/>
              </a:rPr>
              <a:t>Post: a short intro + 3 screenshots (3 pts), a 250+ word reflection (4), one citation (1), two replies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One: What Is Digital Humanities?</dc:title>
  <dc:subject/>
  <dc:creator>ENG 3861</dc:creator>
  <cp:keywords/>
  <dc:description>generated using python-pptx</dc:description>
  <cp:lastModifiedBy/>
  <cp:revision>1</cp:revision>
  <dcterms:created xsi:type="dcterms:W3CDTF">2027-01-01T00:00:00Z</dcterms:created>
  <dcterms:modified xsi:type="dcterms:W3CDTF">2027-01-01T00:00:00Z</dcterms:modified>
  <cp:category/>
</cp:coreProperties>
</file>