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Underwood's headings, in his order. Voyant this module mostly covers the first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warning before students open Voyant's Cirrus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comparing texts matters: a frequent word only means something relative to other writers.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project in Posner's post gets a 'What it is', a 'What you'd need to know', and a 'Get started'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'gutenberg' and 'project' are in the Cirrus cloud because Project Gutenberg's license text is counted along with the novel. Good moment to explain stopwords.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is an interpretive choice. 'chapter' still made it in. Underwood's warning applies: eye-catching, not much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how would you check whether these counts are right? That's what Voyant is for this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hyperlink" Target="https://miriamposner.com/blog/how-did-they-make-tha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15/06/04/seven-ways-humanists-are-using-computers-to-understand-tex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edunderwood.com/2015/06/04/seven-ways-humanists-are-using-computers-to-understand-te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newyorker.com/culture/the-lede/destroying-books-to-build-a-min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riamposner.com/blog/how-did-they-make-tha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riamposner.com/blog/how-did-they-make-that/" TargetMode="External"/><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riamposner.com/blog/how-did-they-make-tha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voyant-tools.org/" TargetMode="External"/><Relationship Id="rId4"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claude.ai/code/artifact/62b1c96b-749f-4efc-8d03-27479626517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dobbs-distant-read.profwho.chatgpt.site/" TargetMode="External"/><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utenberg.org/" TargetMode="External"/><Relationship Id="rId3" Type="http://schemas.openxmlformats.org/officeDocument/2006/relationships/hyperlink" Target="https://voyant-tools.or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914400" y="914400"/>
            <a:ext cx="10472623" cy="5138928"/>
            <a:chOff x="914400" y="914400"/>
            <a:chExt cx="10472623" cy="5138928"/>
          </a:xfrm>
        </p:grpSpPr>
        <p:sp>
          <p:nvSpPr>
            <p:cNvPr id="3" name="Rectangle 2"/>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sp>
        <p:nvSpPr>
          <p:cNvPr id="10" name="TextBox 9"/>
          <p:cNvSpPr txBox="1"/>
          <p:nvPr/>
        </p:nvSpPr>
        <p:spPr>
          <a:xfrm>
            <a:off x="1280160" y="1645920"/>
            <a:ext cx="9631375" cy="4069080"/>
          </a:xfrm>
          <a:prstGeom prst="rect">
            <a:avLst/>
          </a:prstGeom>
          <a:noFill/>
        </p:spPr>
        <p:txBody>
          <a:bodyPr wrap="square" anchor="ctr">
            <a:normAutofit/>
          </a:bodyPr>
          <a:lstStyle/>
          <a:p>
            <a:r>
              <a:rPr sz="1800" b="0" i="0">
                <a:solidFill>
                  <a:srgbClr val="2E5BFF"/>
                </a:solidFill>
                <a:latin typeface="Arial Black"/>
              </a:rPr>
              <a:t>WORDS</a:t>
            </a:r>
          </a:p>
          <a:p>
            <a:r>
              <a:rPr sz="2400" b="0" i="0">
                <a:solidFill>
                  <a:srgbClr val="4A3F66"/>
                </a:solidFill>
                <a:latin typeface="Courier New"/>
              </a:rPr>
              <a:t>Module Three</a:t>
            </a:r>
          </a:p>
          <a:p>
            <a:r>
              <a:rPr sz="4800" b="0" i="0">
                <a:solidFill>
                  <a:srgbClr val="1B1035"/>
                </a:solidFill>
                <a:latin typeface="Arial Black"/>
              </a:rPr>
              <a:t>Reading at Scale</a:t>
            </a:r>
          </a:p>
          <a:p>
            <a:r>
              <a:rPr sz="2000" b="0" i="0">
                <a:solidFill>
                  <a:srgbClr val="4A3F66"/>
                </a:solidFill>
                <a:latin typeface="Courier New"/>
              </a:rPr>
              <a:t>&gt; ENG 3861 // FEB 8 – FEB 21,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Readings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Ted Underwood, </a:t>
            </a:r>
            <a:r>
              <a:rPr sz="2200" b="0" i="0">
                <a:solidFill>
                  <a:srgbClr val="1B1035"/>
                </a:solidFill>
                <a:latin typeface="Verdana"/>
                <a:hlinkClick r:id="rId2"/>
              </a:rPr>
              <a:t>“Seven ways humanists are using computers to understand text”</a:t>
            </a:r>
            <a:r>
              <a:rPr sz="2200" b="0" i="0">
                <a:solidFill>
                  <a:srgbClr val="1B1035"/>
                </a:solidFill>
                <a:latin typeface="Verdana"/>
              </a:rPr>
              <a:t> (2015)</a:t>
            </a:r>
            <a:r>
              <a:rPr sz="1800" b="0" i="0">
                <a:solidFill>
                  <a:srgbClr val="4A3F66"/>
                </a:solidFill>
                <a:latin typeface="Verdana"/>
              </a:rPr>
              <a:t>— a friendly tour of text analysis</a:t>
            </a:r>
          </a:p>
          <a:p>
            <a:pPr marL="411480" indent="-320040">
              <a:spcAft>
                <a:spcPts val="1200"/>
              </a:spcAft>
              <a:buChar char="■"/>
            </a:pPr>
            <a:r>
              <a:rPr sz="2200" b="0" i="0">
                <a:solidFill>
                  <a:srgbClr val="1B1035"/>
                </a:solidFill>
                <a:latin typeface="Verdana"/>
              </a:rPr>
              <a:t>Miriam Posner, </a:t>
            </a:r>
            <a:r>
              <a:rPr sz="2200" b="0" i="0">
                <a:solidFill>
                  <a:srgbClr val="1B1035"/>
                </a:solidFill>
                <a:latin typeface="Verdana"/>
                <a:hlinkClick r:id="rId3"/>
              </a:rPr>
              <a:t>“How did they make that?”</a:t>
            </a:r>
            <a:r>
              <a:rPr sz="2200" b="0" i="0">
                <a:solidFill>
                  <a:srgbClr val="1B1035"/>
                </a:solidFill>
                <a:latin typeface="Verdana"/>
              </a:rPr>
              <a:t> (2013)</a:t>
            </a:r>
            <a:r>
              <a:rPr sz="1800" b="0" i="0">
                <a:solidFill>
                  <a:srgbClr val="4A3F66"/>
                </a:solidFill>
                <a:latin typeface="Verdana"/>
              </a:rPr>
              <a:t>— real DH projects, and what you'd need to know to build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n open hardcover book photographed against a gray background, its pages fanned upward in a dense spray."/>
          <p:cNvPicPr>
            <a:picLocks noChangeAspect="1"/>
          </p:cNvPicPr>
          <p:nvPr/>
        </p:nvPicPr>
        <p:blipFill>
          <a:blip r:embed="rId2"/>
          <a:stretch>
            <a:fillRect/>
          </a:stretch>
        </p:blipFill>
        <p:spPr>
          <a:xfrm>
            <a:off x="2632632" y="1097280"/>
            <a:ext cx="6926431"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Close reading: one passage, slowly. Distant reading: patterns across many texts.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Seven ways</a:t>
            </a:r>
          </a:p>
          <a:p>
            <a:pPr algn="ctr"/>
            <a:r>
              <a:rPr sz="2800" b="0" i="0">
                <a:solidFill>
                  <a:srgbClr val="FFFFFF"/>
                </a:solidFill>
                <a:latin typeface="Courier New"/>
              </a:rPr>
              <a:t>Ted Underwood's map of text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“In short, computational analysis of text is not a specific new technology or a subfield of digital humanities; it’s a wide-open conversation in the space between several different disciplines.”</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Underwood's seven ways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Visualize single texts</a:t>
            </a:r>
          </a:p>
          <a:p>
            <a:pPr marL="411480" indent="-320040">
              <a:spcAft>
                <a:spcPts val="1200"/>
              </a:spcAft>
              <a:buChar char="■"/>
            </a:pPr>
            <a:r>
              <a:rPr sz="2400" b="0" i="0">
                <a:solidFill>
                  <a:srgbClr val="1B1035"/>
                </a:solidFill>
                <a:latin typeface="Verdana"/>
              </a:rPr>
              <a:t>Choose features to represent texts</a:t>
            </a:r>
          </a:p>
          <a:p>
            <a:pPr marL="411480" indent="-320040">
              <a:spcAft>
                <a:spcPts val="1200"/>
              </a:spcAft>
              <a:buChar char="■"/>
            </a:pPr>
            <a:r>
              <a:rPr sz="2400" b="0" i="0">
                <a:solidFill>
                  <a:srgbClr val="1B1035"/>
                </a:solidFill>
                <a:latin typeface="Verdana"/>
              </a:rPr>
              <a:t>Identify distinctive vocabulary</a:t>
            </a:r>
          </a:p>
          <a:p>
            <a:pPr marL="411480" indent="-320040">
              <a:spcAft>
                <a:spcPts val="1200"/>
              </a:spcAft>
              <a:buChar char="■"/>
            </a:pPr>
            <a:r>
              <a:rPr sz="2400" b="0" i="0">
                <a:solidFill>
                  <a:srgbClr val="1B1035"/>
                </a:solidFill>
                <a:latin typeface="Verdana"/>
              </a:rPr>
              <a:t>Find or organize works</a:t>
            </a:r>
          </a:p>
          <a:p>
            <a:pPr marL="411480" indent="-320040">
              <a:spcAft>
                <a:spcPts val="1200"/>
              </a:spcAft>
              <a:buChar char="■"/>
            </a:pPr>
            <a:r>
              <a:rPr sz="2400" b="0" i="0">
                <a:solidFill>
                  <a:srgbClr val="1B1035"/>
                </a:solidFill>
                <a:latin typeface="Verdana"/>
              </a:rPr>
              <a:t>Model literary forms or genres</a:t>
            </a:r>
          </a:p>
          <a:p>
            <a:pPr marL="411480" indent="-320040">
              <a:spcAft>
                <a:spcPts val="1200"/>
              </a:spcAft>
              <a:buChar char="■"/>
            </a:pPr>
            <a:r>
              <a:rPr sz="2400" b="0" i="0">
                <a:solidFill>
                  <a:srgbClr val="1B1035"/>
                </a:solidFill>
                <a:latin typeface="Verdana"/>
              </a:rPr>
              <a:t>Model social boundaries</a:t>
            </a:r>
          </a:p>
          <a:p>
            <a:pPr marL="411480" indent="-320040">
              <a:spcAft>
                <a:spcPts val="1200"/>
              </a:spcAft>
              <a:buChar char="■"/>
            </a:pPr>
            <a:r>
              <a:rPr sz="2400" b="0" i="0">
                <a:solidFill>
                  <a:srgbClr val="1B1035"/>
                </a:solidFill>
                <a:latin typeface="Verdana"/>
              </a:rPr>
              <a:t>Unsupervised modeling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“People make fun of word clouds, with some justice; they’re eye-catching but don’t give you a lot of information.”</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 guess Wordsworth does write “alone” a lot: but does he really do so more than other writers? “Alone” is a common word. How do we distinguish real insights about diction from specious cherry-picking?”</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200" b="0" i="0">
                <a:solidFill>
                  <a:srgbClr val="1B1035"/>
                </a:solidFill>
                <a:latin typeface="Verdana"/>
              </a:rPr>
              <a:t>“Because this representation of text is radically different from readers’ sequential experience of language, people tend to be surprised that it works. But the goal of computational analysis is not, after all, to reproduce the modes of understanding readers have already achieved.”</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Texts become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 book-scanning rig: an open book rests in a V-shaped cradle under a dark angular frame with a mounted camera and lights overhead."/>
          <p:cNvPicPr>
            <a:picLocks noChangeAspect="1"/>
          </p:cNvPicPr>
          <p:nvPr/>
        </p:nvPicPr>
        <p:blipFill>
          <a:blip r:embed="rId2"/>
          <a:stretch>
            <a:fillRect/>
          </a:stretch>
        </p:blipFill>
        <p:spPr>
          <a:xfrm>
            <a:off x="3162752" y="1097280"/>
            <a:ext cx="5866190"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Before any of this works, someone has to digitize the books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New Yorker headline 'Destroying Books to Build a Mind: Anthropic is trying to destructively scan all the books in the world. How worried should we be?' over an image of a book torn open to reveal circuit-board traces."/>
          <p:cNvPicPr>
            <a:picLocks noChangeAspect="1"/>
          </p:cNvPicPr>
          <p:nvPr/>
        </p:nvPicPr>
        <p:blipFill>
          <a:blip r:embed="rId2"/>
          <a:stretch>
            <a:fillRect/>
          </a:stretch>
        </p:blipFill>
        <p:spPr>
          <a:xfrm>
            <a:off x="2708750" y="1097280"/>
            <a:ext cx="6774195"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Today, whole libraries are scanned to train AI models </a:t>
            </a:r>
            <a:r>
              <a:rPr sz="1800" b="0" i="0">
                <a:solidFill>
                  <a:srgbClr val="1B1035"/>
                </a:solidFill>
                <a:latin typeface="Verdana"/>
                <a:hlinkClick r:id="rId3"/>
              </a:rPr>
              <a:t>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How did they make that?</a:t>
            </a:r>
          </a:p>
          <a:p>
            <a:pPr algn="ctr"/>
            <a:r>
              <a:rPr sz="2800" b="0" i="0">
                <a:solidFill>
                  <a:srgbClr val="FFFFFF"/>
                </a:solidFill>
                <a:latin typeface="Courier New"/>
              </a:rPr>
              <a:t>Miriam Posner takes DH projects apart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“Many students tell me that in order to get started with digital humanities, they’d like to have some idea of what they might do and what technical skills they might need in order to do it.”</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 searchable map of the addresses contained in the 1956 Negro Travelers’ Green Book, which the user can filter by state or establishment type.”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 (one of her example projects)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Posner's breakdown</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What it is:</a:t>
            </a:r>
            <a:r>
              <a:rPr sz="2400" b="0" i="0">
                <a:solidFill>
                  <a:srgbClr val="1B1035"/>
                </a:solidFill>
                <a:latin typeface="Verdana"/>
              </a:rPr>
              <a:t> the project, in a sentence</a:t>
            </a:r>
          </a:p>
          <a:p>
            <a:pPr marL="411480" indent="-320040">
              <a:spcAft>
                <a:spcPts val="1200"/>
              </a:spcAft>
              <a:buChar char="■"/>
            </a:pPr>
            <a:r>
              <a:rPr sz="2400" b="1" i="0">
                <a:solidFill>
                  <a:srgbClr val="1B1035"/>
                </a:solidFill>
                <a:latin typeface="Verdana"/>
              </a:rPr>
              <a:t>What you'd need to know:</a:t>
            </a:r>
            <a:r>
              <a:rPr sz="2400" b="0" i="0">
                <a:solidFill>
                  <a:srgbClr val="1B1035"/>
                </a:solidFill>
                <a:latin typeface="Verdana"/>
              </a:rPr>
              <a:t> the skills and tools behind it</a:t>
            </a:r>
          </a:p>
          <a:p>
            <a:pPr marL="411480" indent="-320040">
              <a:spcAft>
                <a:spcPts val="1200"/>
              </a:spcAft>
              <a:buChar char="■"/>
            </a:pPr>
            <a:r>
              <a:rPr sz="2400" b="1" i="0">
                <a:solidFill>
                  <a:srgbClr val="1B1035"/>
                </a:solidFill>
                <a:latin typeface="Verdana"/>
              </a:rPr>
              <a:t>Get started:</a:t>
            </a:r>
            <a:r>
              <a:rPr sz="2400" b="0" i="0">
                <a:solidFill>
                  <a:srgbClr val="1B1035"/>
                </a:solidFill>
                <a:latin typeface="Verdana"/>
              </a:rPr>
              <a:t> where a beginner could begin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640080"/>
            <a:ext cx="10655503" cy="5687568"/>
            <a:chOff x="822960" y="640080"/>
            <a:chExt cx="10655503" cy="5687568"/>
          </a:xfrm>
        </p:grpSpPr>
        <p:sp>
          <p:nvSpPr>
            <p:cNvPr id="3" name="Rectangle 2"/>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0" name="TextBox 9"/>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“Often, people who are new to text analysis enjoy starting with the web-based Voyant Tools. I also like the Lexos suite.”</a:t>
            </a:r>
          </a:p>
        </p:txBody>
      </p:sp>
      <p:sp>
        <p:nvSpPr>
          <p:cNvPr id="11" name="TextBox 10"/>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Voyant Tools with Frankenstein loaded: a Cirrus word cloud led by man, eyes, life, and father, but also gutenberg and project; the Reader panel showing the Project Gutenberg license text; a Trends line chart; a corpus summary; and a Contexts table for the word man."/>
          <p:cNvPicPr>
            <a:picLocks noChangeAspect="1"/>
          </p:cNvPicPr>
          <p:nvPr/>
        </p:nvPicPr>
        <p:blipFill>
          <a:blip r:embed="rId2"/>
          <a:stretch>
            <a:fillRect/>
          </a:stretch>
        </p:blipFill>
        <p:spPr>
          <a:xfrm>
            <a:off x="2211675" y="1097280"/>
            <a:ext cx="7768345"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1">
                <a:solidFill>
                  <a:srgbClr val="1B1035"/>
                </a:solidFill>
                <a:latin typeface="Verdana"/>
              </a:rPr>
              <a:t>Frankenstein</a:t>
            </a:r>
            <a:r>
              <a:rPr sz="1800" b="0" i="0">
                <a:solidFill>
                  <a:srgbClr val="1B1035"/>
                </a:solidFill>
                <a:latin typeface="Verdana"/>
              </a:rPr>
              <a:t> in </a:t>
            </a:r>
            <a:r>
              <a:rPr sz="1800" b="0" i="0">
                <a:solidFill>
                  <a:srgbClr val="1B1035"/>
                </a:solidFill>
                <a:latin typeface="Verdana"/>
                <a:hlinkClick r:id="rId3"/>
              </a:rPr>
              <a:t>Voyant</a:t>
            </a:r>
            <a:r>
              <a:rPr sz="1800" b="0" i="0">
                <a:solidFill>
                  <a:srgbClr val="1B1035"/>
                </a:solidFill>
                <a:latin typeface="Verdana"/>
              </a:rPr>
              <a:t>. Spot the words that aren't from the novel.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A word cloud of Frankenstein with the Project Gutenberg license text removed, dominated by father and man, with life, eyes, time, night, Elizabeth, mind, heart, and death."/>
          <p:cNvPicPr>
            <a:picLocks noChangeAspect="1"/>
          </p:cNvPicPr>
          <p:nvPr/>
        </p:nvPicPr>
        <p:blipFill>
          <a:blip r:embed="rId2"/>
          <a:stretch>
            <a:fillRect/>
          </a:stretch>
        </p:blipFill>
        <p:spPr>
          <a:xfrm>
            <a:off x="2153767" y="1097280"/>
            <a:ext cx="7884160"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The same novel, cleaned: license text removed and common words filtered 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Distant reading with AI</a:t>
            </a:r>
          </a:p>
          <a:p>
            <a:pPr algn="ctr"/>
            <a:r>
              <a:rPr sz="2800" b="0" i="0">
                <a:solidFill>
                  <a:srgbClr val="FFFFFF"/>
                </a:solidFill>
                <a:latin typeface="Courier New"/>
              </a:rPr>
              <a:t>a demo from the graduate version of this course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Claude-built 'Dr. Dobb's Distant Read' dashboard showing corpus statistics, a bar chart of words per volume, and a volume register table."/>
          <p:cNvPicPr>
            <a:picLocks noChangeAspect="1"/>
          </p:cNvPicPr>
          <p:nvPr/>
        </p:nvPicPr>
        <p:blipFill>
          <a:blip r:embed="rId2"/>
          <a:stretch>
            <a:fillRect/>
          </a:stretch>
        </p:blipFill>
        <p:spPr>
          <a:xfrm>
            <a:off x="2851508" y="1097280"/>
            <a:ext cx="6488679"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 decade of </a:t>
            </a:r>
            <a:r>
              <a:rPr sz="1800" b="0" i="1">
                <a:solidFill>
                  <a:srgbClr val="1B1035"/>
                </a:solidFill>
                <a:latin typeface="Verdana"/>
              </a:rPr>
              <a:t>Dr. Dobb's Journal</a:t>
            </a:r>
            <a:r>
              <a:rPr sz="1800" b="0" i="0">
                <a:solidFill>
                  <a:srgbClr val="1B1035"/>
                </a:solidFill>
                <a:latin typeface="Verdana"/>
              </a:rPr>
              <a:t>, distant-read with Claude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822960" y="365760"/>
            <a:ext cx="10655503" cy="5504688"/>
            <a:chOff x="822960" y="365760"/>
            <a:chExt cx="10655503" cy="5504688"/>
          </a:xfrm>
        </p:grpSpPr>
        <p:sp>
          <p:nvSpPr>
            <p:cNvPr id="3" name="Rectangle 2"/>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0" name="Picture 9" descr="Concordance view titled 'Words in context' showing 183 matches for 'public domain,' a line chart of matches per 10,000 tokens, and a list of nearby words."/>
          <p:cNvPicPr>
            <a:picLocks noChangeAspect="1"/>
          </p:cNvPicPr>
          <p:nvPr/>
        </p:nvPicPr>
        <p:blipFill>
          <a:blip r:embed="rId2"/>
          <a:stretch>
            <a:fillRect/>
          </a:stretch>
        </p:blipFill>
        <p:spPr>
          <a:xfrm>
            <a:off x="2320954" y="1097280"/>
            <a:ext cx="7549787" cy="4434840"/>
          </a:xfrm>
          <a:prstGeom prst="rect">
            <a:avLst/>
          </a:prstGeom>
        </p:spPr>
      </p:pic>
      <p:sp>
        <p:nvSpPr>
          <p:cNvPr id="11" name="TextBox 10"/>
          <p:cNvSpPr txBox="1"/>
          <p:nvPr/>
        </p:nvSpPr>
        <p:spPr>
          <a:xfrm>
            <a:off x="822960" y="5989320"/>
            <a:ext cx="10545775" cy="731520"/>
          </a:xfrm>
          <a:prstGeom prst="rect">
            <a:avLst/>
          </a:prstGeom>
          <a:noFill/>
        </p:spPr>
        <p:txBody>
          <a:bodyPr wrap="square" anchor="t">
            <a:normAutofit/>
          </a:bodyPr>
          <a:lstStyle/>
          <a:p>
            <a:pPr algn="ctr"/>
            <a:r>
              <a:rPr sz="1800" b="0" i="0">
                <a:solidFill>
                  <a:srgbClr val="1B1035"/>
                </a:solidFill>
                <a:latin typeface="Verdana"/>
              </a:rPr>
              <a:t>A concordance (keyword in context), the same idea as Voyant's Contexts tool </a:t>
            </a:r>
            <a:r>
              <a:rPr sz="1800" b="0" i="0">
                <a:solidFill>
                  <a:srgbClr val="1B1035"/>
                </a:solidFill>
                <a:latin typeface="Verdana"/>
                <a:hlinkClick r:id="rId3"/>
              </a:rPr>
              <a:t>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extBox 1"/>
          <p:cNvSpPr txBox="1"/>
          <p:nvPr/>
        </p:nvSpPr>
        <p:spPr>
          <a:xfrm>
            <a:off x="731520" y="1463040"/>
            <a:ext cx="10728655" cy="2926080"/>
          </a:xfrm>
          <a:prstGeom prst="rect">
            <a:avLst/>
          </a:prstGeom>
          <a:noFill/>
        </p:spPr>
        <p:txBody>
          <a:bodyPr wrap="square" anchor="ctr">
            <a:normAutofit/>
          </a:bodyPr>
          <a:lstStyle/>
          <a:p>
            <a:pPr algn="ctr"/>
            <a:r>
              <a:rPr sz="5400" b="0" i="0">
                <a:solidFill>
                  <a:srgbClr val="FFFFFF"/>
                </a:solidFill>
                <a:latin typeface="Arial Black"/>
              </a:rPr>
              <a:t>Next week, Do: Distant Reading with Voyant and AI</a:t>
            </a:r>
          </a:p>
          <a:p>
            <a:pPr algn="ctr"/>
            <a:r>
              <a:rPr sz="2800" b="0" i="0">
                <a:solidFill>
                  <a:srgbClr val="FFFFFF"/>
                </a:solidFill>
                <a:latin typeface="Courier New"/>
              </a:rPr>
              <a:t>watch the video, then do the exercise and post by Thursday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extBox 1"/>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Four steps</a:t>
            </a:r>
          </a:p>
        </p:txBody>
      </p:sp>
      <p:sp>
        <p:nvSpPr>
          <p:cNvPr id="3" name="TextBox 2"/>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2-3 related texts from </a:t>
            </a:r>
            <a:r>
              <a:rPr sz="2400" b="0" i="0">
                <a:solidFill>
                  <a:srgbClr val="1B1035"/>
                </a:solidFill>
                <a:latin typeface="Verdana"/>
                <a:hlinkClick r:id="rId2"/>
              </a:rPr>
              <a:t>Project Gutenberg</a:t>
            </a:r>
            <a:r>
              <a:rPr sz="2400" b="0" i="0">
                <a:solidFill>
                  <a:srgbClr val="1B1035"/>
                </a:solidFill>
                <a:latin typeface="Verdana"/>
              </a:rPr>
              <a:t> (Plain Text UTF-8)</a:t>
            </a:r>
          </a:p>
          <a:p>
            <a:pPr marL="411480" indent="-320040">
              <a:spcAft>
                <a:spcPts val="1200"/>
              </a:spcAft>
              <a:buChar char="■"/>
            </a:pPr>
            <a:r>
              <a:rPr sz="2400" b="0" i="0">
                <a:solidFill>
                  <a:srgbClr val="1B1035"/>
                </a:solidFill>
                <a:latin typeface="Verdana"/>
              </a:rPr>
              <a:t>Explore them in </a:t>
            </a:r>
            <a:r>
              <a:rPr sz="2400" b="0" i="0">
                <a:solidFill>
                  <a:srgbClr val="1B1035"/>
                </a:solidFill>
                <a:latin typeface="Verdana"/>
                <a:hlinkClick r:id="rId3"/>
              </a:rPr>
              <a:t>Voyant Tools</a:t>
            </a:r>
            <a:r>
              <a:rPr sz="2400" b="0" i="0">
                <a:solidFill>
                  <a:srgbClr val="1B1035"/>
                </a:solidFill>
                <a:latin typeface="Verdana"/>
              </a:rPr>
              <a:t>: Cirrus, Terms, Trends, Contexts</a:t>
            </a:r>
          </a:p>
          <a:p>
            <a:pPr marL="411480" indent="-320040">
              <a:spcAft>
                <a:spcPts val="1200"/>
              </a:spcAft>
              <a:buChar char="■"/>
            </a:pPr>
            <a:r>
              <a:rPr sz="2400" b="0" i="0">
                <a:solidFill>
                  <a:srgbClr val="1B1035"/>
                </a:solidFill>
                <a:latin typeface="Verdana"/>
              </a:rPr>
              <a:t>Ask an AI assistant the same questions</a:t>
            </a:r>
          </a:p>
          <a:p>
            <a:pPr marL="411480" indent="-320040">
              <a:spcAft>
                <a:spcPts val="1200"/>
              </a:spcAft>
              <a:buChar char="■"/>
            </a:pPr>
            <a:r>
              <a:rPr sz="2400" b="0" i="0">
                <a:solidFill>
                  <a:srgbClr val="1B1035"/>
                </a:solidFill>
                <a:latin typeface="Verdana"/>
              </a:rPr>
              <a:t>Check its counts and quotations against Voyant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1097280"/>
            <a:ext cx="10106863" cy="4773168"/>
            <a:chOff x="1097280" y="1097280"/>
            <a:chExt cx="10106863" cy="4773168"/>
          </a:xfrm>
        </p:grpSpPr>
        <p:sp>
          <p:nvSpPr>
            <p:cNvPr id="3" name="Rectangle 2"/>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0" name="TextBox 9"/>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then search for those passages in Voyant's Contexts</a:t>
            </a:r>
          </a:p>
          <a:p>
            <a:r>
              <a:rPr sz="2800" b="1" i="0">
                <a:solidFill>
                  <a:srgbClr val="FFD23F"/>
                </a:solidFill>
                <a:latin typeface="Courier New"/>
              </a:rPr>
              <a:t>&gt;</a:t>
            </a:r>
            <a:r>
              <a:rPr sz="2800" b="0" i="0">
                <a:solidFill>
                  <a:srgbClr val="7DFFB3"/>
                </a:solidFill>
                <a:latin typeface="Courier New"/>
              </a:rPr>
              <a:t>Find three passages where the word "[a word you explored in Voyant]" appears, and explain what it means in each.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What pattern did you find that close reading alone would have missed?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grpSp>
        <p:nvGrpSpPr>
          <p:cNvPr id="2" name="Group 1"/>
          <p:cNvGrpSpPr/>
          <p:nvPr/>
        </p:nvGrpSpPr>
        <p:grpSpPr>
          <a:xfrm>
            <a:off x="1097280" y="914400"/>
            <a:ext cx="10106863" cy="5138928"/>
            <a:chOff x="1097280" y="914400"/>
            <a:chExt cx="10106863" cy="5138928"/>
          </a:xfrm>
        </p:grpSpPr>
        <p:sp>
          <p:nvSpPr>
            <p:cNvPr id="3" name="Rectangle 2"/>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0" name="TextBox 9"/>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Why might a tool that generates text be worse at counting than a tool built only to count?</a:t>
            </a:r>
          </a:p>
          <a:p>
            <a:r>
              <a:rPr sz="2000" b="0" i="0">
                <a:solidFill>
                  <a:srgbClr val="4A3F66"/>
                </a:solidFill>
                <a:latin typeface="Verdana"/>
              </a:rPr>
              <a:t>Post: 3 screenshots (3 pts), a 250+ word reflection (4), one citation (1), two replies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Three: Reading at Scale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