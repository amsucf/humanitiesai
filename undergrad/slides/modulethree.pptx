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Underwood's headings, in his order. Voyant this module mostly covers the first three.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warning before students open Voyant's Cirrus tool.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comparing texts matters: a frequent word only means something relative to other writers.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project in Posner's post gets a 'What it is', a 'What you'd need to know', and a 'Get started' section.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'gutenberg' and 'project' are in the Cirrus cloud because Project Gutenberg's license text is counted along with the novel. Good moment to explain stopwords.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Cleaning is an interpretive choice. 'chapter' still made it in. Underwood's warning applies: eye-catching, not much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how would you check whether these counts are right? That's what Voyant is for this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tedunderwood.com/2015/06/04/seven-ways-humanists-are-using-computers-to-understand-text/" TargetMode="External"/><Relationship Id="rId3" Type="http://schemas.openxmlformats.org/officeDocument/2006/relationships/hyperlink" Target="https://miriamposner.com/blog/how-did-they-make-tha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tedunderwood.com/2015/06/04/seven-ways-humanists-are-using-computers-to-understand-tex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tedunderwood.com/2015/06/04/seven-ways-humanists-are-using-computers-to-understand-text/" TargetMode="External"/><Relationship Id="rId3"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tedunderwood.com/2015/06/04/seven-ways-humanists-are-using-computers-to-understand-text/" TargetMode="External"/><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tedunderwood.com/2015/06/04/seven-ways-humanists-are-using-computers-to-understand-tex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hyperlink" Target="https://www.newyorker.com/culture/the-lede/destroying-books-to-build-a-min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miriamposner.com/blog/how-did-they-make-tha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miriamposner.com/blog/how-did-they-make-that/" TargetMode="External"/><Relationship Id="rId3"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miriamposner.com/blog/how-did-they-make-tha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hyperlink" Target="https://voyant-tools.org/" TargetMode="External"/><Relationship Id="rId4"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hyperlink" Target="https://claude.ai/code/artifact/62b1c96b-749f-4efc-8d03-27479626517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hyperlink" Target="https://dobbs-distant-read.profwho.chatgpt.site/" TargetMode="External"/><Relationship Id="rId4"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gutenberg.org/" TargetMode="External"/><Relationship Id="rId3" Type="http://schemas.openxmlformats.org/officeDocument/2006/relationships/hyperlink" Target="https://voyant-tools.or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Module Three: Reading at Scale</a:t>
            </a:r>
          </a:p>
        </p:txBody>
      </p:sp>
      <p:grpSp>
        <p:nvGrpSpPr>
          <p:cNvPr id="3" name="Window ENG3861.EXE">
            <a:extLst>
              <a:ext uri="{C183D7F6-B498-43B3-948B-1728B52AA6E4}">
                <adec:decorative xmlns:adec="http://schemas.microsoft.com/office/drawing/2017/decorative" val="1"/>
              </a:ext>
            </a:extLst>
          </p:cNvPr>
          <p:cNvGrpSpPr/>
          <p:nvPr/>
        </p:nvGrpSpPr>
        <p:grpSpPr>
          <a:xfrm>
            <a:off x="914400" y="914400"/>
            <a:ext cx="10472623" cy="5138928"/>
            <a:chOff x="914400" y="914400"/>
            <a:chExt cx="10472623" cy="5138928"/>
          </a:xfrm>
        </p:grpSpPr>
        <p:sp>
          <p:nvSpPr>
            <p:cNvPr id="4" name="Rectangle 3"/>
            <p:cNvSpPr/>
            <p:nvPr/>
          </p:nvSpPr>
          <p:spPr>
            <a:xfrm>
              <a:off x="1024128" y="1024128"/>
              <a:ext cx="1036289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914400"/>
              <a:ext cx="1036289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914400"/>
              <a:ext cx="10362895" cy="502920"/>
            </a:xfrm>
            <a:prstGeom prst="rect">
              <a:avLst/>
            </a:prstGeom>
            <a:solidFill>
              <a:srgbClr val="FF3D7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300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4475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4650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914400"/>
              <a:ext cx="8991295" cy="502920"/>
            </a:xfrm>
            <a:prstGeom prst="rect">
              <a:avLst/>
            </a:prstGeom>
            <a:noFill/>
          </p:spPr>
          <p:txBody>
            <a:bodyPr wrap="none" anchor="ctr">
              <a:spAutoFit/>
            </a:bodyPr>
            <a:lstStyle/>
            <a:p>
              <a:r>
                <a:rPr sz="1600" b="1" i="0">
                  <a:solidFill>
                    <a:srgbClr val="FFFFFF"/>
                  </a:solidFill>
                  <a:latin typeface="Courier New"/>
                </a:rPr>
                <a:t>ENG3861.EXE</a:t>
              </a:r>
            </a:p>
          </p:txBody>
        </p:sp>
      </p:grpSp>
      <p:grpSp>
        <p:nvGrpSpPr>
          <p:cNvPr id="11" name="Unit WORDS"/>
          <p:cNvGrpSpPr/>
          <p:nvPr/>
        </p:nvGrpSpPr>
        <p:grpSpPr>
          <a:xfrm>
            <a:off x="1371600" y="2560574"/>
            <a:ext cx="1542978" cy="512064"/>
            <a:chOff x="1371600" y="2560574"/>
            <a:chExt cx="1542978" cy="512064"/>
          </a:xfrm>
        </p:grpSpPr>
        <p:sp>
          <p:nvSpPr>
            <p:cNvPr id="12" name="Rounded Rectangle 11"/>
            <p:cNvSpPr/>
            <p:nvPr/>
          </p:nvSpPr>
          <p:spPr>
            <a:xfrm>
              <a:off x="1426464" y="2615438"/>
              <a:ext cx="1488114" cy="457200"/>
            </a:xfrm>
            <a:prstGeom prst="roundRect">
              <a:avLst>
                <a:gd name="adj" fmla="val 50000"/>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371600" y="2560574"/>
              <a:ext cx="1488114" cy="457200"/>
            </a:xfrm>
            <a:prstGeom prst="roundRect">
              <a:avLst>
                <a:gd name="adj" fmla="val 50000"/>
              </a:avLst>
            </a:prstGeom>
            <a:solidFill>
              <a:srgbClr val="2E5BFF"/>
            </a:solidFill>
            <a:ln w="3175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800" b="0" i="0">
                  <a:solidFill>
                    <a:srgbClr val="FFFFFF"/>
                  </a:solidFill>
                  <a:latin typeface="Arial Black"/>
                </a:rPr>
                <a:t>WORDS</a:t>
              </a:r>
            </a:p>
          </p:txBody>
        </p:sp>
      </p:grpSp>
      <p:sp>
        <p:nvSpPr>
          <p:cNvPr id="14" name="TextBox 13"/>
          <p:cNvSpPr txBox="1"/>
          <p:nvPr/>
        </p:nvSpPr>
        <p:spPr>
          <a:xfrm>
            <a:off x="1280160" y="3200654"/>
            <a:ext cx="9631375" cy="2514346"/>
          </a:xfrm>
          <a:prstGeom prst="rect">
            <a:avLst/>
          </a:prstGeom>
          <a:noFill/>
        </p:spPr>
        <p:txBody>
          <a:bodyPr wrap="square" anchor="t">
            <a:normAutofit/>
          </a:bodyPr>
          <a:lstStyle/>
          <a:p>
            <a:r>
              <a:rPr sz="2400" b="0" i="0">
                <a:solidFill>
                  <a:srgbClr val="4A3F66"/>
                </a:solidFill>
                <a:latin typeface="Courier New"/>
              </a:rPr>
              <a:t>Module Three</a:t>
            </a:r>
          </a:p>
          <a:p>
            <a:r>
              <a:rPr sz="4800" b="0" i="0">
                <a:solidFill>
                  <a:srgbClr val="1B1035"/>
                </a:solidFill>
                <a:latin typeface="Arial Black"/>
              </a:rPr>
              <a:t>Reading at Scale</a:t>
            </a:r>
          </a:p>
          <a:p>
            <a:r>
              <a:rPr sz="2000" b="0" i="0">
                <a:solidFill>
                  <a:srgbClr val="4A3F66"/>
                </a:solidFill>
                <a:latin typeface="Courier New"/>
              </a:rPr>
              <a:t>&gt; ENG 3861 // FEB 8 – FEB 21, 2027_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Readings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2E5BFF"/>
                </a:solidFill>
                <a:latin typeface="Arial Black"/>
              </a:rPr>
              <a:t>Readings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200" b="0" i="0">
                <a:solidFill>
                  <a:srgbClr val="1B1035"/>
                </a:solidFill>
                <a:latin typeface="Verdana"/>
              </a:rPr>
              <a:t>Ted Underwood, </a:t>
            </a:r>
            <a:r>
              <a:rPr sz="2200" b="0" i="0">
                <a:solidFill>
                  <a:srgbClr val="1B1035"/>
                </a:solidFill>
                <a:latin typeface="Verdana"/>
                <a:hlinkClick r:id="rId2"/>
              </a:rPr>
              <a:t>“Seven ways humanists are using computers to understand text”</a:t>
            </a:r>
            <a:r>
              <a:rPr sz="2200" b="0" i="0">
                <a:solidFill>
                  <a:srgbClr val="1B1035"/>
                </a:solidFill>
                <a:latin typeface="Verdana"/>
              </a:rPr>
              <a:t> (2015)</a:t>
            </a:r>
            <a:r>
              <a:rPr sz="1800" b="0" i="0">
                <a:solidFill>
                  <a:srgbClr val="4A3F66"/>
                </a:solidFill>
                <a:latin typeface="Verdana"/>
              </a:rPr>
              <a:t> — a friendly tour of text analysis</a:t>
            </a:r>
          </a:p>
          <a:p>
            <a:pPr marL="411480" indent="-320040">
              <a:spcAft>
                <a:spcPts val="1200"/>
              </a:spcAft>
              <a:buChar char="■"/>
            </a:pPr>
            <a:r>
              <a:rPr sz="2200" b="0" i="0">
                <a:solidFill>
                  <a:srgbClr val="1B1035"/>
                </a:solidFill>
                <a:latin typeface="Verdana"/>
              </a:rPr>
              <a:t>Miriam Posner, </a:t>
            </a:r>
            <a:r>
              <a:rPr sz="2200" b="0" i="0">
                <a:solidFill>
                  <a:srgbClr val="1B1035"/>
                </a:solidFill>
                <a:latin typeface="Verdana"/>
                <a:hlinkClick r:id="rId3"/>
              </a:rPr>
              <a:t>“How did they make that?”</a:t>
            </a:r>
            <a:r>
              <a:rPr sz="2200" b="0" i="0">
                <a:solidFill>
                  <a:srgbClr val="1B1035"/>
                </a:solidFill>
                <a:latin typeface="Verdana"/>
              </a:rPr>
              <a:t> (2013)</a:t>
            </a:r>
            <a:r>
              <a:rPr sz="1800" b="0" i="0">
                <a:solidFill>
                  <a:srgbClr val="4A3F66"/>
                </a:solidFill>
                <a:latin typeface="Verdana"/>
              </a:rPr>
              <a:t> — real DH projects, and what you'd need to know to build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Close reading: one passage, slowly. Distant reading: patterns across many texts.</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An open hardcover book photographed against a gray background, its pages fanned upward in a dense spray."/>
          <p:cNvPicPr>
            <a:picLocks noChangeAspect="1"/>
          </p:cNvPicPr>
          <p:nvPr/>
        </p:nvPicPr>
        <p:blipFill>
          <a:blip r:embed="rId2"/>
          <a:stretch>
            <a:fillRect/>
          </a:stretch>
        </p:blipFill>
        <p:spPr>
          <a:xfrm>
            <a:off x="2632632" y="1097280"/>
            <a:ext cx="6926431"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Close reading: one passage, slowly. Distant reading: patterns across many texts.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Seven ways</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Seven ways</a:t>
            </a:r>
          </a:p>
          <a:p>
            <a:pPr algn="ctr">
              <a:spcBef>
                <a:spcPts val="1000"/>
              </a:spcBef>
            </a:pPr>
            <a:r>
              <a:rPr sz="2800" b="0" i="0">
                <a:solidFill>
                  <a:srgbClr val="FFFFFF"/>
                </a:solidFill>
                <a:latin typeface="Courier New"/>
              </a:rPr>
              <a:t>Ted Underwood's map of text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Ted Underwood, 2015</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“In short, computational analysis of text is not a specific new technology or a subfield of digital humanities; it’s a wide-open conversation in the space between several different disciplines.”</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Underwood, 2015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Underwood's seven ways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2E5BFF"/>
                </a:solidFill>
                <a:latin typeface="Arial Black"/>
              </a:rPr>
              <a:t>Underwood's seven ways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0" i="0">
                <a:solidFill>
                  <a:srgbClr val="1B1035"/>
                </a:solidFill>
                <a:latin typeface="Verdana"/>
              </a:rPr>
              <a:t>Visualize single texts</a:t>
            </a:r>
          </a:p>
          <a:p>
            <a:pPr marL="411480" indent="-320040">
              <a:spcAft>
                <a:spcPts val="1200"/>
              </a:spcAft>
              <a:buChar char="■"/>
            </a:pPr>
            <a:r>
              <a:rPr sz="2400" b="0" i="0">
                <a:solidFill>
                  <a:srgbClr val="1B1035"/>
                </a:solidFill>
                <a:latin typeface="Verdana"/>
              </a:rPr>
              <a:t>Choose features to represent texts</a:t>
            </a:r>
          </a:p>
          <a:p>
            <a:pPr marL="411480" indent="-320040">
              <a:spcAft>
                <a:spcPts val="1200"/>
              </a:spcAft>
              <a:buChar char="■"/>
            </a:pPr>
            <a:r>
              <a:rPr sz="2400" b="0" i="0">
                <a:solidFill>
                  <a:srgbClr val="1B1035"/>
                </a:solidFill>
                <a:latin typeface="Verdana"/>
              </a:rPr>
              <a:t>Identify distinctive vocabulary</a:t>
            </a:r>
          </a:p>
          <a:p>
            <a:pPr marL="411480" indent="-320040">
              <a:spcAft>
                <a:spcPts val="1200"/>
              </a:spcAft>
              <a:buChar char="■"/>
            </a:pPr>
            <a:r>
              <a:rPr sz="2400" b="0" i="0">
                <a:solidFill>
                  <a:srgbClr val="1B1035"/>
                </a:solidFill>
                <a:latin typeface="Verdana"/>
              </a:rPr>
              <a:t>Find or organize works</a:t>
            </a:r>
          </a:p>
          <a:p>
            <a:pPr marL="411480" indent="-320040">
              <a:spcAft>
                <a:spcPts val="1200"/>
              </a:spcAft>
              <a:buChar char="■"/>
            </a:pPr>
            <a:r>
              <a:rPr sz="2400" b="0" i="0">
                <a:solidFill>
                  <a:srgbClr val="1B1035"/>
                </a:solidFill>
                <a:latin typeface="Verdana"/>
              </a:rPr>
              <a:t>Model literary forms or genres</a:t>
            </a:r>
          </a:p>
          <a:p>
            <a:pPr marL="411480" indent="-320040">
              <a:spcAft>
                <a:spcPts val="1200"/>
              </a:spcAft>
              <a:buChar char="■"/>
            </a:pPr>
            <a:r>
              <a:rPr sz="2400" b="0" i="0">
                <a:solidFill>
                  <a:srgbClr val="1B1035"/>
                </a:solidFill>
                <a:latin typeface="Verdana"/>
              </a:rPr>
              <a:t>Model social boundaries</a:t>
            </a:r>
          </a:p>
          <a:p>
            <a:pPr marL="411480" indent="-320040">
              <a:spcAft>
                <a:spcPts val="1200"/>
              </a:spcAft>
              <a:buChar char="■"/>
            </a:pPr>
            <a:r>
              <a:rPr sz="2400" b="0" i="0">
                <a:solidFill>
                  <a:srgbClr val="1B1035"/>
                </a:solidFill>
                <a:latin typeface="Verdana"/>
              </a:rPr>
              <a:t>Unsupervised modeling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Ted Underwood, 2015</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“People make fun of word clouds, with some justice; they’re eye-catching but don’t give you a lot of information.”</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Underwood, 2015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Ted Underwood, 2015</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“I guess Wordsworth does write “alone” a lot: but does he really do so more than other writers? “Alone” is a common word. How do we distinguish real insights about diction from specious cherry-picking?”</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Underwood, 2015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Ted Underwood, 2015</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“Because this representation of text is radically different from readers’ sequential experience of language, people tend to be surprised that it works. But the goal of computational analysis is not, after all, to reproduce the modes of understanding readers have already achieved.”</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Underwood, 2015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Texts become data</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Texts become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Before any of this works, someone has to digitize the books</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A book-scanning rig: an open book rests in a V-shaped cradle under a dark angular frame with a mounted camera and lights overhead."/>
          <p:cNvPicPr>
            <a:picLocks noChangeAspect="1"/>
          </p:cNvPicPr>
          <p:nvPr/>
        </p:nvPicPr>
        <p:blipFill>
          <a:blip r:embed="rId2"/>
          <a:stretch>
            <a:fillRect/>
          </a:stretch>
        </p:blipFill>
        <p:spPr>
          <a:xfrm>
            <a:off x="3162752" y="1097280"/>
            <a:ext cx="5866190"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Before any of this works, someone has to digitize the books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Today, whole libraries are scanned to train AI models</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New Yorker headline 'Destroying Books to Build a Mind: Anthropic is trying to destructively scan all the books in the world. How worried should we be?' over an image of a book torn open to reveal circuit-board traces."/>
          <p:cNvPicPr>
            <a:picLocks noChangeAspect="1"/>
          </p:cNvPicPr>
          <p:nvPr/>
        </p:nvPicPr>
        <p:blipFill>
          <a:blip r:embed="rId2"/>
          <a:stretch>
            <a:fillRect/>
          </a:stretch>
        </p:blipFill>
        <p:spPr>
          <a:xfrm>
            <a:off x="2708750" y="1097280"/>
            <a:ext cx="6774195"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Today, whole libraries are scanned to train AI models </a:t>
            </a:r>
            <a:r>
              <a:rPr sz="1800" b="0" i="0">
                <a:solidFill>
                  <a:srgbClr val="1B1035"/>
                </a:solidFill>
                <a:latin typeface="Verdana"/>
                <a:hlinkClick r:id="rId3"/>
              </a:rPr>
              <a:t>source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How did they make that?</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How did they make that?</a:t>
            </a:r>
          </a:p>
          <a:p>
            <a:pPr algn="ctr">
              <a:spcBef>
                <a:spcPts val="1000"/>
              </a:spcBef>
            </a:pPr>
            <a:r>
              <a:rPr sz="2800" b="0" i="0">
                <a:solidFill>
                  <a:srgbClr val="FFFFFF"/>
                </a:solidFill>
                <a:latin typeface="Courier New"/>
              </a:rPr>
              <a:t>Miriam Posner takes DH projects apart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Miriam Posner, 2013</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“Many students tell me that in order to get started with digital humanities, they’d like to have some idea of what they might do and what technical skills they might need in order to do it.”</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Miriam Posner, 2013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Miriam Posner, 2013 (one of her example projects)</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“A searchable map of the addresses contained in the 1956 Negro Travelers’ Green Book, which the user can filter by state or establishment type.”</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Miriam Posner, 2013 (one of her example projects)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Posner's breakdown</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2E5BFF"/>
                </a:solidFill>
                <a:latin typeface="Arial Black"/>
              </a:rPr>
              <a:t>Posner's breakdown</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1" i="0">
                <a:solidFill>
                  <a:srgbClr val="1B1035"/>
                </a:solidFill>
                <a:latin typeface="Verdana"/>
              </a:rPr>
              <a:t>What it is:</a:t>
            </a:r>
            <a:r>
              <a:rPr sz="2400" b="0" i="0">
                <a:solidFill>
                  <a:srgbClr val="1B1035"/>
                </a:solidFill>
                <a:latin typeface="Verdana"/>
              </a:rPr>
              <a:t> the project, in a sentence</a:t>
            </a:r>
          </a:p>
          <a:p>
            <a:pPr marL="411480" indent="-320040">
              <a:spcAft>
                <a:spcPts val="1200"/>
              </a:spcAft>
              <a:buChar char="■"/>
            </a:pPr>
            <a:r>
              <a:rPr sz="2400" b="1" i="0">
                <a:solidFill>
                  <a:srgbClr val="1B1035"/>
                </a:solidFill>
                <a:latin typeface="Verdana"/>
              </a:rPr>
              <a:t>What you'd need to know:</a:t>
            </a:r>
            <a:r>
              <a:rPr sz="2400" b="0" i="0">
                <a:solidFill>
                  <a:srgbClr val="1B1035"/>
                </a:solidFill>
                <a:latin typeface="Verdana"/>
              </a:rPr>
              <a:t> the skills and tools behind it</a:t>
            </a:r>
          </a:p>
          <a:p>
            <a:pPr marL="411480" indent="-320040">
              <a:spcAft>
                <a:spcPts val="1200"/>
              </a:spcAft>
              <a:buChar char="■"/>
            </a:pPr>
            <a:r>
              <a:rPr sz="2400" b="1" i="0">
                <a:solidFill>
                  <a:srgbClr val="1B1035"/>
                </a:solidFill>
                <a:latin typeface="Verdana"/>
              </a:rPr>
              <a:t>Get started:</a:t>
            </a:r>
            <a:r>
              <a:rPr sz="2400" b="0" i="0">
                <a:solidFill>
                  <a:srgbClr val="1B1035"/>
                </a:solidFill>
                <a:latin typeface="Verdana"/>
              </a:rPr>
              <a:t> where a beginner could begin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Miriam Posner, 2013</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“Often, people who are new to text analysis enjoy starting with the web-based Voyant Tools. I also like the Lexos suite.”</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Miriam Posner, 2013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Frankenstein in Voyant. Spot the words that aren't from the novel.</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Voyant Tools with Frankenstein loaded: a Cirrus word cloud led by man, eyes, life, and father, but also gutenberg and project; the Reader panel showing the Project Gutenberg license text; a Trends line chart; a corpus summary; and a Contexts table for the word man."/>
          <p:cNvPicPr>
            <a:picLocks noChangeAspect="1"/>
          </p:cNvPicPr>
          <p:nvPr/>
        </p:nvPicPr>
        <p:blipFill>
          <a:blip r:embed="rId2"/>
          <a:stretch>
            <a:fillRect/>
          </a:stretch>
        </p:blipFill>
        <p:spPr>
          <a:xfrm>
            <a:off x="2211675" y="1097280"/>
            <a:ext cx="7768345"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1">
                <a:solidFill>
                  <a:srgbClr val="1B1035"/>
                </a:solidFill>
                <a:latin typeface="Verdana"/>
              </a:rPr>
              <a:t>Frankenstein</a:t>
            </a:r>
            <a:r>
              <a:rPr sz="1800" b="0" i="0">
                <a:solidFill>
                  <a:srgbClr val="1B1035"/>
                </a:solidFill>
                <a:latin typeface="Verdana"/>
              </a:rPr>
              <a:t> in </a:t>
            </a:r>
            <a:r>
              <a:rPr sz="1800" b="0" i="0">
                <a:solidFill>
                  <a:srgbClr val="1B1035"/>
                </a:solidFill>
                <a:latin typeface="Verdana"/>
                <a:hlinkClick r:id="rId3"/>
              </a:rPr>
              <a:t>Voyant</a:t>
            </a:r>
            <a:r>
              <a:rPr sz="1800" b="0" i="0">
                <a:solidFill>
                  <a:srgbClr val="1B1035"/>
                </a:solidFill>
                <a:latin typeface="Verdana"/>
              </a:rPr>
              <a:t>. Spot the words that aren't from the novel.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The same novel, cleaned: license text removed and common words filtered out</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A word cloud of Frankenstein with the Project Gutenberg license text removed, dominated by father and man, with life, eyes, time, night, Elizabeth, mind, heart, and death."/>
          <p:cNvPicPr>
            <a:picLocks noChangeAspect="1"/>
          </p:cNvPicPr>
          <p:nvPr/>
        </p:nvPicPr>
        <p:blipFill>
          <a:blip r:embed="rId2"/>
          <a:stretch>
            <a:fillRect/>
          </a:stretch>
        </p:blipFill>
        <p:spPr>
          <a:xfrm>
            <a:off x="2153767" y="1097280"/>
            <a:ext cx="7884160"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The same novel, cleaned: license text removed and common words filtered out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Distant reading with AI</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Distant reading with AI</a:t>
            </a:r>
          </a:p>
          <a:p>
            <a:pPr algn="ctr">
              <a:spcBef>
                <a:spcPts val="1000"/>
              </a:spcBef>
            </a:pPr>
            <a:r>
              <a:rPr sz="2800" b="0" i="0">
                <a:solidFill>
                  <a:srgbClr val="FFFFFF"/>
                </a:solidFill>
                <a:latin typeface="Courier New"/>
              </a:rPr>
              <a:t>a demo from the graduate version of this course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A decade of Dr. Dobb's Journal, distant-read with Claude</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Claude-built 'Dr. Dobb's Distant Read' dashboard showing corpus statistics, a bar chart of words per volume, and a volume register table."/>
          <p:cNvPicPr>
            <a:picLocks noChangeAspect="1"/>
          </p:cNvPicPr>
          <p:nvPr/>
        </p:nvPicPr>
        <p:blipFill>
          <a:blip r:embed="rId2"/>
          <a:stretch>
            <a:fillRect/>
          </a:stretch>
        </p:blipFill>
        <p:spPr>
          <a:xfrm>
            <a:off x="2851508" y="1097280"/>
            <a:ext cx="6488679"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A decade of </a:t>
            </a:r>
            <a:r>
              <a:rPr sz="1800" b="0" i="1">
                <a:solidFill>
                  <a:srgbClr val="1B1035"/>
                </a:solidFill>
                <a:latin typeface="Verdana"/>
              </a:rPr>
              <a:t>Dr. Dobb's Journal</a:t>
            </a:r>
            <a:r>
              <a:rPr sz="1800" b="0" i="0">
                <a:solidFill>
                  <a:srgbClr val="1B1035"/>
                </a:solidFill>
                <a:latin typeface="Verdana"/>
              </a:rPr>
              <a:t>, distant-read with Claude </a:t>
            </a:r>
            <a:r>
              <a:rPr sz="1800" b="0" i="0">
                <a:solidFill>
                  <a:srgbClr val="1B1035"/>
                </a:solidFill>
                <a:latin typeface="Verdana"/>
                <a:hlinkClick r:id="rId3"/>
              </a:rPr>
              <a:t>source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A concordance (keyword in context), the same idea as Voyant's Contexts tool</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Concordance view titled 'Words in context' showing 183 matches for 'public domain,' a line chart of matches per 10,000 tokens, and a list of nearby words."/>
          <p:cNvPicPr>
            <a:picLocks noChangeAspect="1"/>
          </p:cNvPicPr>
          <p:nvPr/>
        </p:nvPicPr>
        <p:blipFill>
          <a:blip r:embed="rId2"/>
          <a:stretch>
            <a:fillRect/>
          </a:stretch>
        </p:blipFill>
        <p:spPr>
          <a:xfrm>
            <a:off x="2320954" y="1097280"/>
            <a:ext cx="7549787"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A concordance (keyword in context), the same idea as Voyant's Contexts tool </a:t>
            </a:r>
            <a:r>
              <a:rPr sz="1800" b="0" i="0">
                <a:solidFill>
                  <a:srgbClr val="1B1035"/>
                </a:solidFill>
                <a:latin typeface="Verdana"/>
                <a:hlinkClick r:id="rId3"/>
              </a:rPr>
              <a:t>source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Next week, Do: Distant Reading with Voyant and AI</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4400" b="0" i="0">
                <a:solidFill>
                  <a:srgbClr val="FFFFFF"/>
                </a:solidFill>
                <a:latin typeface="Arial Black"/>
              </a:rPr>
              <a:t>Next week, Do:</a:t>
            </a:r>
            <a:br/>
            <a:r>
              <a:rPr sz="4400" b="0" i="0">
                <a:solidFill>
                  <a:srgbClr val="FFFFFF"/>
                </a:solidFill>
                <a:latin typeface="Arial Black"/>
              </a:rPr>
              <a:t>Distant Reading with Voyant and AI</a:t>
            </a:r>
          </a:p>
          <a:p>
            <a:pPr algn="ctr">
              <a:spcBef>
                <a:spcPts val="1000"/>
              </a:spcBef>
            </a:pPr>
            <a:r>
              <a:rPr sz="2400" b="0" i="0">
                <a:solidFill>
                  <a:srgbClr val="FFFFFF"/>
                </a:solidFill>
                <a:latin typeface="Courier New"/>
              </a:rPr>
              <a:t>watch the video, then do the exercise and post by Thursday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Four steps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2E5BFF"/>
                </a:solidFill>
                <a:latin typeface="Arial Black"/>
              </a:rPr>
              <a:t>Four steps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0" i="0">
                <a:solidFill>
                  <a:srgbClr val="1B1035"/>
                </a:solidFill>
                <a:latin typeface="Verdana"/>
              </a:rPr>
              <a:t>Pick 2-3 related texts from </a:t>
            </a:r>
            <a:r>
              <a:rPr sz="2400" b="0" i="0">
                <a:solidFill>
                  <a:srgbClr val="1B1035"/>
                </a:solidFill>
                <a:latin typeface="Verdana"/>
                <a:hlinkClick r:id="rId2"/>
              </a:rPr>
              <a:t>Project Gutenberg</a:t>
            </a:r>
            <a:r>
              <a:rPr sz="2400" b="0" i="0">
                <a:solidFill>
                  <a:srgbClr val="1B1035"/>
                </a:solidFill>
                <a:latin typeface="Verdana"/>
              </a:rPr>
              <a:t> (Plain Text UTF-8)</a:t>
            </a:r>
          </a:p>
          <a:p>
            <a:pPr marL="411480" indent="-320040">
              <a:spcAft>
                <a:spcPts val="1200"/>
              </a:spcAft>
              <a:buChar char="■"/>
            </a:pPr>
            <a:r>
              <a:rPr sz="2400" b="0" i="0">
                <a:solidFill>
                  <a:srgbClr val="1B1035"/>
                </a:solidFill>
                <a:latin typeface="Verdana"/>
              </a:rPr>
              <a:t>Explore them in </a:t>
            </a:r>
            <a:r>
              <a:rPr sz="2400" b="0" i="0">
                <a:solidFill>
                  <a:srgbClr val="1B1035"/>
                </a:solidFill>
                <a:latin typeface="Verdana"/>
                <a:hlinkClick r:id="rId3"/>
              </a:rPr>
              <a:t>Voyant Tools</a:t>
            </a:r>
            <a:r>
              <a:rPr sz="2400" b="0" i="0">
                <a:solidFill>
                  <a:srgbClr val="1B1035"/>
                </a:solidFill>
                <a:latin typeface="Verdana"/>
              </a:rPr>
              <a:t>: Cirrus, Terms, Trends, Contexts</a:t>
            </a:r>
          </a:p>
          <a:p>
            <a:pPr marL="411480" indent="-320040">
              <a:spcAft>
                <a:spcPts val="1200"/>
              </a:spcAft>
              <a:buChar char="■"/>
            </a:pPr>
            <a:r>
              <a:rPr sz="2400" b="0" i="0">
                <a:solidFill>
                  <a:srgbClr val="1B1035"/>
                </a:solidFill>
                <a:latin typeface="Verdana"/>
              </a:rPr>
              <a:t>Ask an AI assistant the same questions</a:t>
            </a:r>
          </a:p>
          <a:p>
            <a:pPr marL="411480" indent="-320040">
              <a:spcAft>
                <a:spcPts val="1200"/>
              </a:spcAft>
              <a:buChar char="■"/>
            </a:pPr>
            <a:r>
              <a:rPr sz="2400" b="0" i="0">
                <a:solidFill>
                  <a:srgbClr val="1B1035"/>
                </a:solidFill>
                <a:latin typeface="Verdana"/>
              </a:rPr>
              <a:t>Check its counts and quotations against Voyant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Prompt: then search for those passages in Voyant's Contexts</a:t>
            </a:r>
          </a:p>
        </p:txBody>
      </p:sp>
      <p:grpSp>
        <p:nvGrpSpPr>
          <p:cNvPr id="3" name="Window prompt.exe">
            <a:extLst>
              <a:ext uri="{C183D7F6-B498-43B3-948B-1728B52AA6E4}">
                <adec:decorative xmlns:adec="http://schemas.microsoft.com/office/drawing/2017/decorative" val="1"/>
              </a:ext>
            </a:extLst>
          </p:cNvPr>
          <p:cNvGrpSpPr/>
          <p:nvPr/>
        </p:nvGrpSpPr>
        <p:grpSpPr>
          <a:xfrm>
            <a:off x="1097280" y="1097280"/>
            <a:ext cx="10106863" cy="4773168"/>
            <a:chOff x="1097280" y="1097280"/>
            <a:chExt cx="10106863" cy="4773168"/>
          </a:xfrm>
        </p:grpSpPr>
        <p:sp>
          <p:nvSpPr>
            <p:cNvPr id="4" name="Rectangle 3"/>
            <p:cNvSpPr/>
            <p:nvPr/>
          </p:nvSpPr>
          <p:spPr>
            <a:xfrm>
              <a:off x="1207008" y="1207008"/>
              <a:ext cx="9997135" cy="46634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097280"/>
              <a:ext cx="9997135" cy="466344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1097280"/>
              <a:ext cx="999713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2435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2435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2435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1097280"/>
              <a:ext cx="8625535" cy="502920"/>
            </a:xfrm>
            <a:prstGeom prst="rect">
              <a:avLst/>
            </a:prstGeom>
            <a:noFill/>
          </p:spPr>
          <p:txBody>
            <a:bodyPr wrap="none" anchor="ctr">
              <a:spAutoFit/>
            </a:bodyPr>
            <a:lstStyle/>
            <a:p>
              <a:r>
                <a:rPr sz="1600" b="1" i="0">
                  <a:solidFill>
                    <a:srgbClr val="1B1035"/>
                  </a:solidFill>
                  <a:latin typeface="Courier New"/>
                </a:rPr>
                <a:t>prompt.exe</a:t>
              </a:r>
            </a:p>
          </p:txBody>
        </p:sp>
      </p:grpSp>
      <p:sp>
        <p:nvSpPr>
          <p:cNvPr id="11" name="TextBox 10"/>
          <p:cNvSpPr txBox="1"/>
          <p:nvPr/>
        </p:nvSpPr>
        <p:spPr>
          <a:xfrm>
            <a:off x="1463040" y="1828800"/>
            <a:ext cx="9265615" cy="3703320"/>
          </a:xfrm>
          <a:prstGeom prst="rect">
            <a:avLst/>
          </a:prstGeom>
          <a:noFill/>
        </p:spPr>
        <p:txBody>
          <a:bodyPr wrap="square" anchor="ctr">
            <a:normAutofit/>
          </a:bodyPr>
          <a:lstStyle/>
          <a:p>
            <a:r>
              <a:rPr sz="2000" b="0" i="0">
                <a:solidFill>
                  <a:srgbClr val="FFB3CF"/>
                </a:solidFill>
                <a:latin typeface="Courier New"/>
              </a:rPr>
              <a:t>then search for those passages in Voyant's Contexts</a:t>
            </a:r>
          </a:p>
          <a:p>
            <a:pPr>
              <a:spcBef>
                <a:spcPts val="600"/>
              </a:spcBef>
            </a:pPr>
            <a:r>
              <a:rPr sz="2800" b="1" i="0">
                <a:solidFill>
                  <a:srgbClr val="FFD23F"/>
                </a:solidFill>
                <a:latin typeface="Courier New"/>
              </a:rPr>
              <a:t>&gt; </a:t>
            </a:r>
            <a:r>
              <a:rPr sz="2800" b="0" i="0">
                <a:solidFill>
                  <a:srgbClr val="7DFFB3"/>
                </a:solidFill>
                <a:latin typeface="Courier New"/>
              </a:rPr>
              <a:t>Find three passages where the word "[a word you explored in Voyant]" appears, and explain what it means in each.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Discussion question</a:t>
            </a:r>
          </a:p>
        </p:txBody>
      </p:sp>
      <p:grpSp>
        <p:nvGrpSpPr>
          <p:cNvPr id="3" name="Window discuss.txt">
            <a:extLst>
              <a:ext uri="{C183D7F6-B498-43B3-948B-1728B52AA6E4}">
                <adec:decorative xmlns:adec="http://schemas.microsoft.com/office/drawing/2017/decorative" val="1"/>
              </a:ext>
            </a:extLst>
          </p:cNvPr>
          <p:cNvGrpSpPr/>
          <p:nvPr/>
        </p:nvGrpSpPr>
        <p:grpSpPr>
          <a:xfrm>
            <a:off x="1097280" y="914400"/>
            <a:ext cx="10106863" cy="5138928"/>
            <a:chOff x="1097280" y="914400"/>
            <a:chExt cx="10106863" cy="5138928"/>
          </a:xfrm>
        </p:grpSpPr>
        <p:sp>
          <p:nvSpPr>
            <p:cNvPr id="4" name="Rectangle 3"/>
            <p:cNvSpPr/>
            <p:nvPr/>
          </p:nvSpPr>
          <p:spPr>
            <a:xfrm>
              <a:off x="1207008" y="1024128"/>
              <a:ext cx="999713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914400"/>
              <a:ext cx="999713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914400"/>
              <a:ext cx="999713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914400"/>
              <a:ext cx="8625535" cy="502920"/>
            </a:xfrm>
            <a:prstGeom prst="rect">
              <a:avLst/>
            </a:prstGeom>
            <a:noFill/>
          </p:spPr>
          <p:txBody>
            <a:bodyPr wrap="none" anchor="ctr">
              <a:spAutoFit/>
            </a:bodyPr>
            <a:lstStyle/>
            <a:p>
              <a:r>
                <a:rPr sz="1600" b="1" i="0">
                  <a:solidFill>
                    <a:srgbClr val="1B1035"/>
                  </a:solidFill>
                  <a:latin typeface="Courier New"/>
                </a:rPr>
                <a:t>discuss.txt</a:t>
              </a:r>
            </a:p>
          </p:txBody>
        </p:sp>
      </p:grpSp>
      <p:sp>
        <p:nvSpPr>
          <p:cNvPr id="11" name="TextBox 10"/>
          <p:cNvSpPr txBox="1"/>
          <p:nvPr/>
        </p:nvSpPr>
        <p:spPr>
          <a:xfrm>
            <a:off x="1463040" y="1645920"/>
            <a:ext cx="9265615" cy="4069080"/>
          </a:xfrm>
          <a:prstGeom prst="rect">
            <a:avLst/>
          </a:prstGeom>
          <a:noFill/>
        </p:spPr>
        <p:txBody>
          <a:bodyPr wrap="square" anchor="ctr">
            <a:normAutofit/>
          </a:bodyPr>
          <a:lstStyle/>
          <a:p>
            <a:r>
              <a:rPr sz="3200" b="0" i="0">
                <a:solidFill>
                  <a:srgbClr val="1B1035"/>
                </a:solidFill>
                <a:latin typeface="Arial Black"/>
              </a:rPr>
              <a:t>What pattern did you find that close reading alone would have missed?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Discussion question</a:t>
            </a:r>
          </a:p>
        </p:txBody>
      </p:sp>
      <p:grpSp>
        <p:nvGrpSpPr>
          <p:cNvPr id="3" name="Window discuss.txt">
            <a:extLst>
              <a:ext uri="{C183D7F6-B498-43B3-948B-1728B52AA6E4}">
                <adec:decorative xmlns:adec="http://schemas.microsoft.com/office/drawing/2017/decorative" val="1"/>
              </a:ext>
            </a:extLst>
          </p:cNvPr>
          <p:cNvGrpSpPr/>
          <p:nvPr/>
        </p:nvGrpSpPr>
        <p:grpSpPr>
          <a:xfrm>
            <a:off x="1097280" y="914400"/>
            <a:ext cx="10106863" cy="5138928"/>
            <a:chOff x="1097280" y="914400"/>
            <a:chExt cx="10106863" cy="5138928"/>
          </a:xfrm>
        </p:grpSpPr>
        <p:sp>
          <p:nvSpPr>
            <p:cNvPr id="4" name="Rectangle 3"/>
            <p:cNvSpPr/>
            <p:nvPr/>
          </p:nvSpPr>
          <p:spPr>
            <a:xfrm>
              <a:off x="1207008" y="1024128"/>
              <a:ext cx="999713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914400"/>
              <a:ext cx="999713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914400"/>
              <a:ext cx="999713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914400"/>
              <a:ext cx="8625535" cy="502920"/>
            </a:xfrm>
            <a:prstGeom prst="rect">
              <a:avLst/>
            </a:prstGeom>
            <a:noFill/>
          </p:spPr>
          <p:txBody>
            <a:bodyPr wrap="none" anchor="ctr">
              <a:spAutoFit/>
            </a:bodyPr>
            <a:lstStyle/>
            <a:p>
              <a:r>
                <a:rPr sz="1600" b="1" i="0">
                  <a:solidFill>
                    <a:srgbClr val="1B1035"/>
                  </a:solidFill>
                  <a:latin typeface="Courier New"/>
                </a:rPr>
                <a:t>discuss.txt</a:t>
              </a:r>
            </a:p>
          </p:txBody>
        </p:sp>
      </p:grpSp>
      <p:sp>
        <p:nvSpPr>
          <p:cNvPr id="11" name="TextBox 10"/>
          <p:cNvSpPr txBox="1"/>
          <p:nvPr/>
        </p:nvSpPr>
        <p:spPr>
          <a:xfrm>
            <a:off x="1463040" y="1645920"/>
            <a:ext cx="9265615" cy="4069080"/>
          </a:xfrm>
          <a:prstGeom prst="rect">
            <a:avLst/>
          </a:prstGeom>
          <a:noFill/>
        </p:spPr>
        <p:txBody>
          <a:bodyPr wrap="square" anchor="ctr">
            <a:normAutofit/>
          </a:bodyPr>
          <a:lstStyle/>
          <a:p>
            <a:r>
              <a:rPr sz="3200" b="0" i="0">
                <a:solidFill>
                  <a:srgbClr val="1B1035"/>
                </a:solidFill>
                <a:latin typeface="Arial Black"/>
              </a:rPr>
              <a:t>Why might a tool that generates text be worse at counting than a tool built only to count?</a:t>
            </a:r>
          </a:p>
          <a:p>
            <a:pPr>
              <a:spcBef>
                <a:spcPts val="1200"/>
              </a:spcBef>
            </a:pPr>
            <a:r>
              <a:rPr sz="2000" b="0" i="0">
                <a:solidFill>
                  <a:srgbClr val="4A3F66"/>
                </a:solidFill>
                <a:latin typeface="Verdana"/>
              </a:rPr>
              <a:t>Post: 3 screenshots (3 pts), a 250+ word reflection (4), one citation (1), two replies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Three: Reading at Scale</dc:title>
  <dc:subject/>
  <dc:creator>ENG 3861</dc:creator>
  <cp:keywords/>
  <dc:description>generated using python-pptx</dc:description>
  <cp:lastModifiedBy/>
  <cp:revision>1</cp:revision>
  <dcterms:created xsi:type="dcterms:W3CDTF">2027-01-01T00:00:00Z</dcterms:created>
  <dcterms:modified xsi:type="dcterms:W3CDTF">2027-01-01T00:00:00Z</dcterms:modified>
  <cp:category/>
</cp:coreProperties>
</file>